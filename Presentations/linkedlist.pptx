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60" r:id="rId3"/>
    <p:sldId id="261" r:id="rId4"/>
    <p:sldId id="257" r:id="rId5"/>
    <p:sldId id="259" r:id="rId6"/>
    <p:sldId id="262" r:id="rId7"/>
    <p:sldId id="263" r:id="rId8"/>
    <p:sldId id="264" r:id="rId9"/>
    <p:sldId id="265" r:id="rId10"/>
    <p:sldId id="266" r:id="rId11"/>
    <p:sldId id="267" r:id="rId12"/>
    <p:sldId id="268" r:id="rId13"/>
    <p:sldId id="269" r:id="rId14"/>
    <p:sldId id="270" r:id="rId15"/>
    <p:sldId id="277"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74"/>
  </p:normalViewPr>
  <p:slideViewPr>
    <p:cSldViewPr snapToGrid="0">
      <p:cViewPr varScale="1">
        <p:scale>
          <a:sx n="88" d="100"/>
          <a:sy n="88" d="100"/>
        </p:scale>
        <p:origin x="176"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2BBC9-DC6D-BC90-F298-F0826308E8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19671EEA-7EB8-BB58-DED6-E3937E026B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9AA7E40B-7FAF-660D-8F15-EC21093EAD40}"/>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5" name="Footer Placeholder 4">
            <a:extLst>
              <a:ext uri="{FF2B5EF4-FFF2-40B4-BE49-F238E27FC236}">
                <a16:creationId xmlns:a16="http://schemas.microsoft.com/office/drawing/2014/main" id="{932C1D33-37F5-595F-E0C2-DBC10EA34961}"/>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B68DDF0-21A9-DFF6-BE3D-7176A65E2281}"/>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1086364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DD083-123F-7A5A-E231-758265F87E20}"/>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83F18A49-74EB-885B-6ADA-14BBF0A8AE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157004FE-84FD-C1F3-FF30-92B47542200C}"/>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5" name="Footer Placeholder 4">
            <a:extLst>
              <a:ext uri="{FF2B5EF4-FFF2-40B4-BE49-F238E27FC236}">
                <a16:creationId xmlns:a16="http://schemas.microsoft.com/office/drawing/2014/main" id="{AF5D2F27-B5AA-6684-1B4D-8E8D7D7FA572}"/>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0CA2C57-C7AA-67C0-04AE-DCB8C7A1AC01}"/>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3467840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019B3-59E2-512C-A108-CE8BEFAD92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1C907568-BDB4-88B7-2C61-65C04F4911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8A5E68-25CB-7717-A576-B02CB80572C5}"/>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5" name="Footer Placeholder 4">
            <a:extLst>
              <a:ext uri="{FF2B5EF4-FFF2-40B4-BE49-F238E27FC236}">
                <a16:creationId xmlns:a16="http://schemas.microsoft.com/office/drawing/2014/main" id="{6D323636-08B3-5EA9-B46C-A60484B0A139}"/>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E049654D-6ED9-77E7-CBD8-7058676DB853}"/>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2641258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59CBB-4F15-9A78-CA5D-554B4B472F6B}"/>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84876E58-FA67-94E7-7C70-071E59B2DC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F9C64A55-C5DF-9C69-0225-ADD6C9E366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E8CF7DAE-04DD-F98E-6D53-46546277E0FA}"/>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6" name="Footer Placeholder 5">
            <a:extLst>
              <a:ext uri="{FF2B5EF4-FFF2-40B4-BE49-F238E27FC236}">
                <a16:creationId xmlns:a16="http://schemas.microsoft.com/office/drawing/2014/main" id="{A873A7E0-928B-9342-30E6-5D2B5E37443C}"/>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AAD26D6-480D-FA2B-81F2-42863EEFE81D}"/>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1404362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8DE58-3F51-0C56-3681-3ACEE050633E}"/>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4042BFB3-62C2-F204-0CE9-944DC4D454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29A40F-5AAE-72C9-8492-0BFC6A0F67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E0383249-3C80-F585-9C60-27EC5D7615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9727C8-3F6E-5280-DDA9-904B018817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49E658EE-62E8-AEC2-1C16-FFD571341F55}"/>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8" name="Footer Placeholder 7">
            <a:extLst>
              <a:ext uri="{FF2B5EF4-FFF2-40B4-BE49-F238E27FC236}">
                <a16:creationId xmlns:a16="http://schemas.microsoft.com/office/drawing/2014/main" id="{1B45E326-DDD8-BAC7-9544-72EA4D6E6601}"/>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A58B42F6-361A-FC35-6659-CE5041F6C946}"/>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3477862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71484-FE66-8EEB-6663-0B1CE526007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809EFA9E-3822-8144-F3A0-BB746416ABE1}"/>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4" name="Footer Placeholder 3">
            <a:extLst>
              <a:ext uri="{FF2B5EF4-FFF2-40B4-BE49-F238E27FC236}">
                <a16:creationId xmlns:a16="http://schemas.microsoft.com/office/drawing/2014/main" id="{87884967-A650-E1B0-39A0-64D07CD5FC0D}"/>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CCF1FD6A-CBD9-AD49-4736-5784ABC875E3}"/>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449933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21D015-974D-9F7E-3D71-B11EAAA6265E}"/>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3" name="Footer Placeholder 2">
            <a:extLst>
              <a:ext uri="{FF2B5EF4-FFF2-40B4-BE49-F238E27FC236}">
                <a16:creationId xmlns:a16="http://schemas.microsoft.com/office/drawing/2014/main" id="{1855CD0F-BEBF-1CE2-1D59-DD5E79E046C1}"/>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422F22B0-D2E1-AD45-3C27-8FC99A38BB04}"/>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3171923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88690-2D30-78DE-F20C-57FC66A7CE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F6C2CDF2-92E4-80D1-DC6C-1A8B64202E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B42D316A-6767-B6E9-4A7F-19B88E715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691CD2-8B49-44BA-5A8D-44DF194B8FB4}"/>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6" name="Footer Placeholder 5">
            <a:extLst>
              <a:ext uri="{FF2B5EF4-FFF2-40B4-BE49-F238E27FC236}">
                <a16:creationId xmlns:a16="http://schemas.microsoft.com/office/drawing/2014/main" id="{D2F83C17-6C20-1275-DC77-015AEF205CFF}"/>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5DCD5143-DD9B-3AFF-372D-736BC9DE24B7}"/>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2142681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A9A22-50F3-4549-26B7-53BCE95537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DEBEED0A-C3A6-8D84-6A0A-ADCDC74122D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155B9BF0-6531-7E2A-A8B5-998C644555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562FA7-D838-F45B-B81F-0086E903A15F}"/>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6" name="Footer Placeholder 5">
            <a:extLst>
              <a:ext uri="{FF2B5EF4-FFF2-40B4-BE49-F238E27FC236}">
                <a16:creationId xmlns:a16="http://schemas.microsoft.com/office/drawing/2014/main" id="{1A413AA3-2696-21EC-E42C-16ADEC72151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E9DF306B-B52E-FB2E-FB15-1AE5766603F1}"/>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913642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8B54E-AC45-995D-55DC-507C4A17E6C7}"/>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7F1D6187-9928-0F53-6B16-47DF4AE501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5E2CAA32-9216-1190-53AC-4282A2E7CE08}"/>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5" name="Footer Placeholder 4">
            <a:extLst>
              <a:ext uri="{FF2B5EF4-FFF2-40B4-BE49-F238E27FC236}">
                <a16:creationId xmlns:a16="http://schemas.microsoft.com/office/drawing/2014/main" id="{D4D9DDB8-7479-4A3D-9175-31106A1BA4F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09779409-34E9-CBAB-ADFA-55B01740F057}"/>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246222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C6B73-44CD-B55C-B5B4-7C6ACA048C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C7DAD39F-EE10-8321-0E73-DFCA0B04D5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80B74C9-D464-0FC9-9AD4-040396F5574D}"/>
              </a:ext>
            </a:extLst>
          </p:cNvPr>
          <p:cNvSpPr>
            <a:spLocks noGrp="1"/>
          </p:cNvSpPr>
          <p:nvPr>
            <p:ph type="dt" sz="half" idx="10"/>
          </p:nvPr>
        </p:nvSpPr>
        <p:spPr/>
        <p:txBody>
          <a:bodyPr/>
          <a:lstStyle/>
          <a:p>
            <a:fld id="{9335BA9F-0693-5143-A82E-DAE38165C208}" type="datetimeFigureOut">
              <a:rPr lang="en-CN" smtClean="0"/>
              <a:t>2026/10/8</a:t>
            </a:fld>
            <a:endParaRPr lang="en-CN"/>
          </a:p>
        </p:txBody>
      </p:sp>
      <p:sp>
        <p:nvSpPr>
          <p:cNvPr id="5" name="Footer Placeholder 4">
            <a:extLst>
              <a:ext uri="{FF2B5EF4-FFF2-40B4-BE49-F238E27FC236}">
                <a16:creationId xmlns:a16="http://schemas.microsoft.com/office/drawing/2014/main" id="{B5BD72F9-EB2E-A0D6-2F3D-07042B5BD8DF}"/>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0CCBF93-AC08-D801-72EE-2602BA6C7FCB}"/>
              </a:ext>
            </a:extLst>
          </p:cNvPr>
          <p:cNvSpPr>
            <a:spLocks noGrp="1"/>
          </p:cNvSpPr>
          <p:nvPr>
            <p:ph type="sldNum" sz="quarter" idx="12"/>
          </p:nvPr>
        </p:nvSpPr>
        <p:spPr/>
        <p:txBody>
          <a:bodyPr/>
          <a:lstStyle/>
          <a:p>
            <a:fld id="{8BE129A2-A06A-BE47-8FD3-C1E4B08BDD96}" type="slidenum">
              <a:rPr lang="en-CN" smtClean="0"/>
              <a:t>‹#›</a:t>
            </a:fld>
            <a:endParaRPr lang="en-CN"/>
          </a:p>
        </p:txBody>
      </p:sp>
    </p:spTree>
    <p:extLst>
      <p:ext uri="{BB962C8B-B14F-4D97-AF65-F5344CB8AC3E}">
        <p14:creationId xmlns:p14="http://schemas.microsoft.com/office/powerpoint/2010/main" val="23527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256CF7-2B89-322C-5AFE-E2FBBAD92C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931D43B5-DA3A-1349-2FE9-B0760D4A24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94ECC115-DEEE-E253-908B-A8C7FD2AF2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35BA9F-0693-5143-A82E-DAE38165C208}" type="datetimeFigureOut">
              <a:rPr lang="en-CN" smtClean="0"/>
              <a:t>2026/10/8</a:t>
            </a:fld>
            <a:endParaRPr lang="en-CN"/>
          </a:p>
        </p:txBody>
      </p:sp>
      <p:sp>
        <p:nvSpPr>
          <p:cNvPr id="5" name="Footer Placeholder 4">
            <a:extLst>
              <a:ext uri="{FF2B5EF4-FFF2-40B4-BE49-F238E27FC236}">
                <a16:creationId xmlns:a16="http://schemas.microsoft.com/office/drawing/2014/main" id="{16ED2DB6-0AC2-E635-06D6-3F04961892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
        <p:nvSpPr>
          <p:cNvPr id="6" name="Slide Number Placeholder 5">
            <a:extLst>
              <a:ext uri="{FF2B5EF4-FFF2-40B4-BE49-F238E27FC236}">
                <a16:creationId xmlns:a16="http://schemas.microsoft.com/office/drawing/2014/main" id="{8D6BDE56-EB51-F283-ED12-54E47E9659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E129A2-A06A-BE47-8FD3-C1E4B08BDD96}" type="slidenum">
              <a:rPr lang="en-CN" smtClean="0"/>
              <a:t>‹#›</a:t>
            </a:fld>
            <a:endParaRPr lang="en-CN"/>
          </a:p>
        </p:txBody>
      </p:sp>
    </p:spTree>
    <p:extLst>
      <p:ext uri="{BB962C8B-B14F-4D97-AF65-F5344CB8AC3E}">
        <p14:creationId xmlns:p14="http://schemas.microsoft.com/office/powerpoint/2010/main" val="2736578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s://www.geeksforgeeks.org/dsa/delete-a-linked-list-node-at-a-given-position/" TargetMode="External"/><Relationship Id="rId3" Type="http://schemas.openxmlformats.org/officeDocument/2006/relationships/hyperlink" Target="https://www.geeksforgeeks.org/dsa/insert-a-node-at-front-beginning-of-a-linked-list/" TargetMode="External"/><Relationship Id="rId7" Type="http://schemas.openxmlformats.org/officeDocument/2006/relationships/hyperlink" Target="https://www.geeksforgeeks.org/dsa/remove-last-node-of-the-linked-list/" TargetMode="External"/><Relationship Id="rId2" Type="http://schemas.openxmlformats.org/officeDocument/2006/relationships/hyperlink" Target="https://www.geeksforgeeks.org/dsa/traversal-of-singly-linked-list/" TargetMode="External"/><Relationship Id="rId1" Type="http://schemas.openxmlformats.org/officeDocument/2006/relationships/slideLayout" Target="../slideLayouts/slideLayout7.xml"/><Relationship Id="rId6" Type="http://schemas.openxmlformats.org/officeDocument/2006/relationships/hyperlink" Target="https://www.geeksforgeeks.org/dsa/remove-first-node-of-the-linked-list/" TargetMode="External"/><Relationship Id="rId11" Type="http://schemas.openxmlformats.org/officeDocument/2006/relationships/hyperlink" Target="https://www.geeksforgeeks.org/dsa/reverse-a-linked-list/" TargetMode="External"/><Relationship Id="rId5" Type="http://schemas.openxmlformats.org/officeDocument/2006/relationships/hyperlink" Target="https://www.geeksforgeeks.org/dsa/insert-a-node-at-a-specific-position-in-a-linked-list/" TargetMode="External"/><Relationship Id="rId10" Type="http://schemas.openxmlformats.org/officeDocument/2006/relationships/hyperlink" Target="https://www.geeksforgeeks.org/dsa/modify-contents-linked-list/" TargetMode="External"/><Relationship Id="rId4" Type="http://schemas.openxmlformats.org/officeDocument/2006/relationships/hyperlink" Target="https://www.geeksforgeeks.org/dsa/insert-node-at-the-end-of-a-linked-list/" TargetMode="External"/><Relationship Id="rId9" Type="http://schemas.openxmlformats.org/officeDocument/2006/relationships/hyperlink" Target="https://www.geeksforgeeks.org/dsa/search-an-element-in-a-linked-list-iterative-and-recursiv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80600-72E7-07D2-918F-AD21EBFF2961}"/>
              </a:ext>
            </a:extLst>
          </p:cNvPr>
          <p:cNvSpPr>
            <a:spLocks noGrp="1"/>
          </p:cNvSpPr>
          <p:nvPr>
            <p:ph type="ctrTitle"/>
          </p:nvPr>
        </p:nvSpPr>
        <p:spPr/>
        <p:txBody>
          <a:bodyPr/>
          <a:lstStyle/>
          <a:p>
            <a:r>
              <a:rPr lang="en-CN" dirty="0"/>
              <a:t>Linked List</a:t>
            </a:r>
          </a:p>
        </p:txBody>
      </p:sp>
      <p:sp>
        <p:nvSpPr>
          <p:cNvPr id="3" name="Subtitle 2">
            <a:extLst>
              <a:ext uri="{FF2B5EF4-FFF2-40B4-BE49-F238E27FC236}">
                <a16:creationId xmlns:a16="http://schemas.microsoft.com/office/drawing/2014/main" id="{5933589E-76EC-7DD4-86B0-1913606032E3}"/>
              </a:ext>
            </a:extLst>
          </p:cNvPr>
          <p:cNvSpPr>
            <a:spLocks noGrp="1"/>
          </p:cNvSpPr>
          <p:nvPr>
            <p:ph type="subTitle" idx="1"/>
          </p:nvPr>
        </p:nvSpPr>
        <p:spPr/>
        <p:txBody>
          <a:bodyPr/>
          <a:lstStyle/>
          <a:p>
            <a:r>
              <a:rPr lang="en-CN" dirty="0"/>
              <a:t>Linked List in Python</a:t>
            </a:r>
          </a:p>
        </p:txBody>
      </p:sp>
    </p:spTree>
    <p:extLst>
      <p:ext uri="{BB962C8B-B14F-4D97-AF65-F5344CB8AC3E}">
        <p14:creationId xmlns:p14="http://schemas.microsoft.com/office/powerpoint/2010/main" val="4078271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0A31F934-378A-CF4F-81F4-0D64720DEF4B}"/>
              </a:ext>
            </a:extLst>
          </p:cNvPr>
          <p:cNvPicPr>
            <a:picLocks noChangeAspect="1"/>
          </p:cNvPicPr>
          <p:nvPr/>
        </p:nvPicPr>
        <p:blipFill>
          <a:blip r:embed="rId2"/>
          <a:stretch>
            <a:fillRect/>
          </a:stretch>
        </p:blipFill>
        <p:spPr>
          <a:xfrm>
            <a:off x="703303" y="228600"/>
            <a:ext cx="10709194" cy="5141686"/>
          </a:xfrm>
          <a:prstGeom prst="rect">
            <a:avLst/>
          </a:prstGeom>
        </p:spPr>
      </p:pic>
    </p:spTree>
    <p:extLst>
      <p:ext uri="{BB962C8B-B14F-4D97-AF65-F5344CB8AC3E}">
        <p14:creationId xmlns:p14="http://schemas.microsoft.com/office/powerpoint/2010/main" val="281352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1F9FB558-CFE7-F568-9EB8-376034677EBC}"/>
              </a:ext>
            </a:extLst>
          </p:cNvPr>
          <p:cNvPicPr>
            <a:picLocks noChangeAspect="1"/>
          </p:cNvPicPr>
          <p:nvPr/>
        </p:nvPicPr>
        <p:blipFill>
          <a:blip r:embed="rId2"/>
          <a:stretch>
            <a:fillRect/>
          </a:stretch>
        </p:blipFill>
        <p:spPr>
          <a:xfrm>
            <a:off x="228600" y="489965"/>
            <a:ext cx="11658600" cy="4430269"/>
          </a:xfrm>
          <a:prstGeom prst="rect">
            <a:avLst/>
          </a:prstGeom>
        </p:spPr>
      </p:pic>
    </p:spTree>
    <p:extLst>
      <p:ext uri="{BB962C8B-B14F-4D97-AF65-F5344CB8AC3E}">
        <p14:creationId xmlns:p14="http://schemas.microsoft.com/office/powerpoint/2010/main" val="3848405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D99CCC40-790F-01E0-E71E-1089858E1BAA}"/>
              </a:ext>
            </a:extLst>
          </p:cNvPr>
          <p:cNvPicPr>
            <a:picLocks noChangeAspect="1"/>
          </p:cNvPicPr>
          <p:nvPr/>
        </p:nvPicPr>
        <p:blipFill>
          <a:blip r:embed="rId2"/>
          <a:stretch>
            <a:fillRect/>
          </a:stretch>
        </p:blipFill>
        <p:spPr>
          <a:xfrm>
            <a:off x="228600" y="1204055"/>
            <a:ext cx="11658600" cy="3614688"/>
          </a:xfrm>
          <a:prstGeom prst="rect">
            <a:avLst/>
          </a:prstGeom>
        </p:spPr>
      </p:pic>
    </p:spTree>
    <p:extLst>
      <p:ext uri="{BB962C8B-B14F-4D97-AF65-F5344CB8AC3E}">
        <p14:creationId xmlns:p14="http://schemas.microsoft.com/office/powerpoint/2010/main" val="2233256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269343C3-BFB1-4043-6279-000086BC9B7E}"/>
              </a:ext>
            </a:extLst>
          </p:cNvPr>
          <p:cNvPicPr>
            <a:picLocks noChangeAspect="1"/>
          </p:cNvPicPr>
          <p:nvPr/>
        </p:nvPicPr>
        <p:blipFill>
          <a:blip r:embed="rId2"/>
          <a:stretch>
            <a:fillRect/>
          </a:stretch>
        </p:blipFill>
        <p:spPr>
          <a:xfrm>
            <a:off x="228600" y="300514"/>
            <a:ext cx="11658600" cy="5084286"/>
          </a:xfrm>
          <a:prstGeom prst="rect">
            <a:avLst/>
          </a:prstGeom>
        </p:spPr>
      </p:pic>
    </p:spTree>
    <p:extLst>
      <p:ext uri="{BB962C8B-B14F-4D97-AF65-F5344CB8AC3E}">
        <p14:creationId xmlns:p14="http://schemas.microsoft.com/office/powerpoint/2010/main" val="95498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02BCAD-EE34-BF42-C2F5-59F37F4F14D2}"/>
              </a:ext>
            </a:extLst>
          </p:cNvPr>
          <p:cNvPicPr>
            <a:picLocks noChangeAspect="1"/>
          </p:cNvPicPr>
          <p:nvPr/>
        </p:nvPicPr>
        <p:blipFill>
          <a:blip r:embed="rId2"/>
          <a:stretch>
            <a:fillRect/>
          </a:stretch>
        </p:blipFill>
        <p:spPr>
          <a:xfrm>
            <a:off x="1016000" y="704091"/>
            <a:ext cx="10160000" cy="5449817"/>
          </a:xfrm>
          <a:prstGeom prst="rect">
            <a:avLst/>
          </a:prstGeom>
        </p:spPr>
      </p:pic>
    </p:spTree>
    <p:extLst>
      <p:ext uri="{BB962C8B-B14F-4D97-AF65-F5344CB8AC3E}">
        <p14:creationId xmlns:p14="http://schemas.microsoft.com/office/powerpoint/2010/main" val="882806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C828A4F-1F86-BA73-995A-E65A61384A8A}"/>
              </a:ext>
            </a:extLst>
          </p:cNvPr>
          <p:cNvPicPr>
            <a:picLocks noChangeAspect="1"/>
          </p:cNvPicPr>
          <p:nvPr/>
        </p:nvPicPr>
        <p:blipFill>
          <a:blip r:embed="rId2"/>
          <a:stretch>
            <a:fillRect/>
          </a:stretch>
        </p:blipFill>
        <p:spPr>
          <a:xfrm>
            <a:off x="764836" y="643467"/>
            <a:ext cx="10662328"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898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EB0381A-7C01-6662-E59F-7072697CAA5E}"/>
              </a:ext>
            </a:extLst>
          </p:cNvPr>
          <p:cNvPicPr>
            <a:picLocks noChangeAspect="1"/>
          </p:cNvPicPr>
          <p:nvPr/>
        </p:nvPicPr>
        <p:blipFill>
          <a:blip r:embed="rId2"/>
          <a:stretch>
            <a:fillRect/>
          </a:stretch>
        </p:blipFill>
        <p:spPr>
          <a:xfrm>
            <a:off x="643467" y="1220724"/>
            <a:ext cx="10905066" cy="4416551"/>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54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15BB424-D85E-B49E-DD65-57BB0D19881C}"/>
              </a:ext>
            </a:extLst>
          </p:cNvPr>
          <p:cNvPicPr>
            <a:picLocks noChangeAspect="1"/>
          </p:cNvPicPr>
          <p:nvPr/>
        </p:nvPicPr>
        <p:blipFill>
          <a:blip r:embed="rId2"/>
          <a:stretch>
            <a:fillRect/>
          </a:stretch>
        </p:blipFill>
        <p:spPr>
          <a:xfrm>
            <a:off x="1691996" y="643467"/>
            <a:ext cx="8808007"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4973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4D36B545-3ABB-4E05-5670-E2D27D66092F}"/>
              </a:ext>
            </a:extLst>
          </p:cNvPr>
          <p:cNvPicPr>
            <a:picLocks noChangeAspect="1"/>
          </p:cNvPicPr>
          <p:nvPr/>
        </p:nvPicPr>
        <p:blipFill>
          <a:blip r:embed="rId2"/>
          <a:stretch>
            <a:fillRect/>
          </a:stretch>
        </p:blipFill>
        <p:spPr>
          <a:xfrm>
            <a:off x="1492923" y="228600"/>
            <a:ext cx="9129954" cy="4953000"/>
          </a:xfrm>
          <a:prstGeom prst="rect">
            <a:avLst/>
          </a:prstGeom>
        </p:spPr>
      </p:pic>
    </p:spTree>
    <p:extLst>
      <p:ext uri="{BB962C8B-B14F-4D97-AF65-F5344CB8AC3E}">
        <p14:creationId xmlns:p14="http://schemas.microsoft.com/office/powerpoint/2010/main" val="3619973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02B26917-FACA-90D9-1EF7-DE15C5069521}"/>
              </a:ext>
            </a:extLst>
          </p:cNvPr>
          <p:cNvPicPr>
            <a:picLocks noChangeAspect="1"/>
          </p:cNvPicPr>
          <p:nvPr/>
        </p:nvPicPr>
        <p:blipFill>
          <a:blip r:embed="rId2"/>
          <a:stretch>
            <a:fillRect/>
          </a:stretch>
        </p:blipFill>
        <p:spPr>
          <a:xfrm>
            <a:off x="1981355" y="228600"/>
            <a:ext cx="8153089" cy="4953000"/>
          </a:xfrm>
          <a:prstGeom prst="rect">
            <a:avLst/>
          </a:prstGeom>
        </p:spPr>
      </p:pic>
    </p:spTree>
    <p:extLst>
      <p:ext uri="{BB962C8B-B14F-4D97-AF65-F5344CB8AC3E}">
        <p14:creationId xmlns:p14="http://schemas.microsoft.com/office/powerpoint/2010/main" val="3168041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283A14B0-322E-4A7A-3DF9-3CFD66DF3398}"/>
              </a:ext>
            </a:extLst>
          </p:cNvPr>
          <p:cNvPicPr>
            <a:picLocks noChangeAspect="1"/>
          </p:cNvPicPr>
          <p:nvPr/>
        </p:nvPicPr>
        <p:blipFill>
          <a:blip r:embed="rId2"/>
          <a:stretch>
            <a:fillRect/>
          </a:stretch>
        </p:blipFill>
        <p:spPr>
          <a:xfrm>
            <a:off x="2269766" y="504371"/>
            <a:ext cx="7649420" cy="4953000"/>
          </a:xfrm>
          <a:prstGeom prst="rect">
            <a:avLst/>
          </a:prstGeom>
        </p:spPr>
      </p:pic>
    </p:spTree>
    <p:extLst>
      <p:ext uri="{BB962C8B-B14F-4D97-AF65-F5344CB8AC3E}">
        <p14:creationId xmlns:p14="http://schemas.microsoft.com/office/powerpoint/2010/main" val="120294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700E95B6-9411-2FDB-BA46-918EB4C8B97C}"/>
              </a:ext>
            </a:extLst>
          </p:cNvPr>
          <p:cNvPicPr>
            <a:picLocks noChangeAspect="1"/>
          </p:cNvPicPr>
          <p:nvPr/>
        </p:nvPicPr>
        <p:blipFill>
          <a:blip r:embed="rId2"/>
          <a:stretch>
            <a:fillRect/>
          </a:stretch>
        </p:blipFill>
        <p:spPr>
          <a:xfrm>
            <a:off x="1741715" y="489858"/>
            <a:ext cx="8476342" cy="4953000"/>
          </a:xfrm>
          <a:prstGeom prst="rect">
            <a:avLst/>
          </a:prstGeom>
        </p:spPr>
      </p:pic>
    </p:spTree>
    <p:extLst>
      <p:ext uri="{BB962C8B-B14F-4D97-AF65-F5344CB8AC3E}">
        <p14:creationId xmlns:p14="http://schemas.microsoft.com/office/powerpoint/2010/main" val="3718697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ECB180A4-FDA0-6E04-965D-10B00DFBCD6C}"/>
              </a:ext>
            </a:extLst>
          </p:cNvPr>
          <p:cNvPicPr>
            <a:picLocks noChangeAspect="1"/>
          </p:cNvPicPr>
          <p:nvPr/>
        </p:nvPicPr>
        <p:blipFill>
          <a:blip r:embed="rId2"/>
          <a:stretch>
            <a:fillRect/>
          </a:stretch>
        </p:blipFill>
        <p:spPr>
          <a:xfrm>
            <a:off x="228600" y="1524668"/>
            <a:ext cx="11658600" cy="2360864"/>
          </a:xfrm>
          <a:prstGeom prst="rect">
            <a:avLst/>
          </a:prstGeom>
        </p:spPr>
      </p:pic>
      <p:pic>
        <p:nvPicPr>
          <p:cNvPr id="5" name="Picture 4">
            <a:extLst>
              <a:ext uri="{FF2B5EF4-FFF2-40B4-BE49-F238E27FC236}">
                <a16:creationId xmlns:a16="http://schemas.microsoft.com/office/drawing/2014/main" id="{F5AA679A-D357-8F18-2B68-536178AB1C9E}"/>
              </a:ext>
            </a:extLst>
          </p:cNvPr>
          <p:cNvPicPr>
            <a:picLocks noChangeAspect="1"/>
          </p:cNvPicPr>
          <p:nvPr/>
        </p:nvPicPr>
        <p:blipFill>
          <a:blip r:embed="rId3"/>
          <a:stretch>
            <a:fillRect/>
          </a:stretch>
        </p:blipFill>
        <p:spPr>
          <a:xfrm>
            <a:off x="3431721" y="4047266"/>
            <a:ext cx="5252357" cy="1661098"/>
          </a:xfrm>
          <a:prstGeom prst="rect">
            <a:avLst/>
          </a:prstGeom>
        </p:spPr>
      </p:pic>
    </p:spTree>
    <p:extLst>
      <p:ext uri="{BB962C8B-B14F-4D97-AF65-F5344CB8AC3E}">
        <p14:creationId xmlns:p14="http://schemas.microsoft.com/office/powerpoint/2010/main" val="94600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340701A-67DF-C768-64B1-C69006162EBC}"/>
              </a:ext>
            </a:extLst>
          </p:cNvPr>
          <p:cNvPicPr>
            <a:picLocks noChangeAspect="1"/>
          </p:cNvPicPr>
          <p:nvPr/>
        </p:nvPicPr>
        <p:blipFill>
          <a:blip r:embed="rId2"/>
          <a:stretch>
            <a:fillRect/>
          </a:stretch>
        </p:blipFill>
        <p:spPr>
          <a:xfrm>
            <a:off x="643467" y="963060"/>
            <a:ext cx="10905066" cy="4171187"/>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342D8DD-3EAF-B177-2CA5-9D7616815375}"/>
              </a:ext>
            </a:extLst>
          </p:cNvPr>
          <p:cNvPicPr>
            <a:picLocks noChangeAspect="1"/>
          </p:cNvPicPr>
          <p:nvPr/>
        </p:nvPicPr>
        <p:blipFill>
          <a:blip r:embed="rId3"/>
          <a:stretch>
            <a:fillRect/>
          </a:stretch>
        </p:blipFill>
        <p:spPr>
          <a:xfrm>
            <a:off x="6939643" y="5196902"/>
            <a:ext cx="5252357" cy="1661098"/>
          </a:xfrm>
          <a:prstGeom prst="rect">
            <a:avLst/>
          </a:prstGeom>
        </p:spPr>
      </p:pic>
    </p:spTree>
    <p:extLst>
      <p:ext uri="{BB962C8B-B14F-4D97-AF65-F5344CB8AC3E}">
        <p14:creationId xmlns:p14="http://schemas.microsoft.com/office/powerpoint/2010/main" val="2774309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24D346-5F5F-9767-16FD-850CD80194DA}"/>
              </a:ext>
            </a:extLst>
          </p:cNvPr>
          <p:cNvSpPr txBox="1"/>
          <p:nvPr/>
        </p:nvSpPr>
        <p:spPr>
          <a:xfrm>
            <a:off x="0" y="0"/>
            <a:ext cx="6096000" cy="352597"/>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CN" sz="1800" b="1" i="0" spc="12" dirty="0">
                <a:solidFill>
                  <a:schemeClr val="tx1"/>
                </a:solidFill>
                <a:effectLst/>
                <a:latin typeface="+mn-lt"/>
              </a:rPr>
              <a:t>Implementation of Simple 4 Nodes Linked List</a:t>
            </a:r>
            <a:endParaRPr lang="en-CN" sz="1500" b="1" i="0" spc="0" dirty="0">
              <a:solidFill>
                <a:srgbClr val="273239"/>
              </a:solidFill>
              <a:effectLst/>
              <a:latin typeface="Nunito" pitchFamily="2" charset="77"/>
            </a:endParaRPr>
          </a:p>
        </p:txBody>
      </p:sp>
      <p:sp>
        <p:nvSpPr>
          <p:cNvPr id="5" name="TextBox 4">
            <a:extLst>
              <a:ext uri="{FF2B5EF4-FFF2-40B4-BE49-F238E27FC236}">
                <a16:creationId xmlns:a16="http://schemas.microsoft.com/office/drawing/2014/main" id="{60C9D4F3-B914-9F9A-9AD7-167308BE9E54}"/>
              </a:ext>
            </a:extLst>
          </p:cNvPr>
          <p:cNvSpPr txBox="1"/>
          <p:nvPr/>
        </p:nvSpPr>
        <p:spPr>
          <a:xfrm>
            <a:off x="4997884" y="29431"/>
            <a:ext cx="6964471" cy="646331"/>
          </a:xfrm>
          <a:prstGeom prst="rect">
            <a:avLst/>
          </a:prstGeom>
          <a:noFill/>
        </p:spPr>
        <p:txBody>
          <a:bodyPr wrap="square">
            <a:spAutoFit/>
          </a:bodyPr>
          <a:lstStyle/>
          <a:p>
            <a:r>
              <a:rPr lang="en-CN" sz="1800" b="1" i="0" spc="10" dirty="0">
                <a:solidFill>
                  <a:schemeClr val="tx1"/>
                </a:solidFill>
                <a:effectLst/>
                <a:latin typeface="+mn-lt"/>
              </a:rPr>
              <a:t>Example:</a:t>
            </a:r>
            <a:r>
              <a:rPr lang="en-CN" sz="1800" b="0" i="0" spc="12" dirty="0">
                <a:solidFill>
                  <a:schemeClr val="tx1"/>
                </a:solidFill>
                <a:effectLst/>
                <a:latin typeface="+mn-lt"/>
              </a:rPr>
              <a:t> Below is a simple example to create a singly linked list with three nodes containing integer data.</a:t>
            </a:r>
            <a:endParaRPr lang="en-CN" dirty="0"/>
          </a:p>
        </p:txBody>
      </p:sp>
      <p:pic>
        <p:nvPicPr>
          <p:cNvPr id="7" name="Picture 6">
            <a:extLst>
              <a:ext uri="{FF2B5EF4-FFF2-40B4-BE49-F238E27FC236}">
                <a16:creationId xmlns:a16="http://schemas.microsoft.com/office/drawing/2014/main" id="{A76557EF-0F75-3FE3-B9D2-F9EE7D9A5901}"/>
              </a:ext>
            </a:extLst>
          </p:cNvPr>
          <p:cNvPicPr>
            <a:picLocks noChangeAspect="1"/>
          </p:cNvPicPr>
          <p:nvPr/>
        </p:nvPicPr>
        <p:blipFill>
          <a:blip r:embed="rId2"/>
          <a:stretch>
            <a:fillRect/>
          </a:stretch>
        </p:blipFill>
        <p:spPr>
          <a:xfrm>
            <a:off x="-39396" y="0"/>
            <a:ext cx="6045716" cy="6858000"/>
          </a:xfrm>
          <a:prstGeom prst="rect">
            <a:avLst/>
          </a:prstGeom>
        </p:spPr>
      </p:pic>
    </p:spTree>
    <p:extLst>
      <p:ext uri="{BB962C8B-B14F-4D97-AF65-F5344CB8AC3E}">
        <p14:creationId xmlns:p14="http://schemas.microsoft.com/office/powerpoint/2010/main" val="1653888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075DF32A-2A9D-45B9-03BD-DA7F8114C012}"/>
              </a:ext>
            </a:extLst>
          </p:cNvPr>
          <p:cNvPicPr>
            <a:picLocks noChangeAspect="1"/>
          </p:cNvPicPr>
          <p:nvPr/>
        </p:nvPicPr>
        <p:blipFill>
          <a:blip r:embed="rId2"/>
          <a:stretch>
            <a:fillRect/>
          </a:stretch>
        </p:blipFill>
        <p:spPr>
          <a:xfrm>
            <a:off x="228600" y="635700"/>
            <a:ext cx="11658600" cy="4138800"/>
          </a:xfrm>
          <a:prstGeom prst="rect">
            <a:avLst/>
          </a:prstGeom>
        </p:spPr>
      </p:pic>
    </p:spTree>
    <p:extLst>
      <p:ext uri="{BB962C8B-B14F-4D97-AF65-F5344CB8AC3E}">
        <p14:creationId xmlns:p14="http://schemas.microsoft.com/office/powerpoint/2010/main" val="371876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8697FB-3CEF-2514-5E5C-64BF25458FC9}"/>
              </a:ext>
            </a:extLst>
          </p:cNvPr>
          <p:cNvSpPr txBox="1"/>
          <p:nvPr/>
        </p:nvSpPr>
        <p:spPr>
          <a:xfrm>
            <a:off x="5154232" y="127290"/>
            <a:ext cx="6099716" cy="415563"/>
          </a:xfrm>
          <a:prstGeom prst="rect">
            <a:avLst/>
          </a:prstGeom>
          <a:noFill/>
        </p:spPr>
        <p:txBody>
          <a:bodyPr wrap="square">
            <a:spAutoFit/>
          </a:bodyPr>
          <a:lstStyle/>
          <a:p>
            <a:pPr marL="0" marR="0" indent="0" algn="l">
              <a:lnSpc>
                <a:spcPct val="100000"/>
              </a:lnSpc>
              <a:buNone/>
            </a:pPr>
            <a:r>
              <a:rPr lang="en-CN" sz="1800" b="1" i="0" dirty="0">
                <a:solidFill>
                  <a:schemeClr val="tx1"/>
                </a:solidFill>
                <a:effectLst/>
                <a:latin typeface="+mn-lt"/>
              </a:rPr>
              <a:t>Singly Linked List</a:t>
            </a:r>
            <a:endParaRPr lang="en-CN" sz="2100" b="1" i="0" dirty="0">
              <a:solidFill>
                <a:srgbClr val="273239"/>
              </a:solidFill>
              <a:effectLst/>
              <a:latin typeface="Source Sans 3"/>
            </a:endParaRPr>
          </a:p>
        </p:txBody>
      </p:sp>
      <p:sp>
        <p:nvSpPr>
          <p:cNvPr id="5" name="TextBox 4">
            <a:extLst>
              <a:ext uri="{FF2B5EF4-FFF2-40B4-BE49-F238E27FC236}">
                <a16:creationId xmlns:a16="http://schemas.microsoft.com/office/drawing/2014/main" id="{FC172D3B-896E-9B42-16EC-45EAF2ABFD9C}"/>
              </a:ext>
            </a:extLst>
          </p:cNvPr>
          <p:cNvSpPr txBox="1"/>
          <p:nvPr/>
        </p:nvSpPr>
        <p:spPr>
          <a:xfrm>
            <a:off x="244258" y="1003880"/>
            <a:ext cx="11743150" cy="923330"/>
          </a:xfrm>
          <a:prstGeom prst="rect">
            <a:avLst/>
          </a:prstGeom>
          <a:noFill/>
        </p:spPr>
        <p:txBody>
          <a:bodyPr wrap="square">
            <a:spAutoFit/>
          </a:bodyPr>
          <a:lstStyle/>
          <a:p>
            <a:r>
              <a:rPr lang="en-CN" sz="1800" b="0" i="0" spc="12" dirty="0">
                <a:solidFill>
                  <a:schemeClr val="tx1"/>
                </a:solidFill>
                <a:effectLst/>
                <a:latin typeface="+mn-lt"/>
              </a:rPr>
              <a:t>A </a:t>
            </a:r>
            <a:r>
              <a:rPr lang="en-CN" sz="1800" b="1" i="0" spc="10" dirty="0">
                <a:solidFill>
                  <a:schemeClr val="tx1"/>
                </a:solidFill>
                <a:effectLst/>
                <a:latin typeface="+mn-lt"/>
              </a:rPr>
              <a:t>singly linked list</a:t>
            </a:r>
            <a:r>
              <a:rPr lang="en-CN" sz="1800" b="0" i="0" spc="12" dirty="0">
                <a:solidFill>
                  <a:schemeClr val="tx1"/>
                </a:solidFill>
                <a:effectLst/>
                <a:latin typeface="+mn-lt"/>
              </a:rPr>
              <a:t> is a fundamental data structure, it consists of </a:t>
            </a:r>
            <a:r>
              <a:rPr lang="en-CN" sz="1800" b="1" i="0" spc="10" dirty="0">
                <a:solidFill>
                  <a:schemeClr val="tx1"/>
                </a:solidFill>
                <a:effectLst/>
                <a:latin typeface="+mn-lt"/>
              </a:rPr>
              <a:t>nodes </a:t>
            </a:r>
            <a:r>
              <a:rPr lang="en-CN" sz="1800" b="0" i="0" spc="12" dirty="0">
                <a:solidFill>
                  <a:schemeClr val="tx1"/>
                </a:solidFill>
                <a:effectLst/>
                <a:latin typeface="+mn-lt"/>
              </a:rPr>
              <a:t>where each node contains a </a:t>
            </a:r>
            <a:r>
              <a:rPr lang="en-CN" sz="1800" b="1" i="0" spc="10" dirty="0">
                <a:solidFill>
                  <a:schemeClr val="tx1"/>
                </a:solidFill>
                <a:effectLst/>
                <a:latin typeface="+mn-lt"/>
              </a:rPr>
              <a:t>data </a:t>
            </a:r>
            <a:r>
              <a:rPr lang="en-CN" sz="1800" b="0" i="0" spc="12" dirty="0">
                <a:solidFill>
                  <a:schemeClr val="tx1"/>
                </a:solidFill>
                <a:effectLst/>
                <a:latin typeface="+mn-lt"/>
              </a:rPr>
              <a:t>field and a </a:t>
            </a:r>
            <a:r>
              <a:rPr lang="en-CN" sz="1800" b="1" i="0" spc="10" dirty="0">
                <a:solidFill>
                  <a:schemeClr val="tx1"/>
                </a:solidFill>
                <a:effectLst/>
                <a:latin typeface="+mn-lt"/>
              </a:rPr>
              <a:t>reference </a:t>
            </a:r>
            <a:r>
              <a:rPr lang="en-CN" sz="1800" b="0" i="0" spc="12" dirty="0">
                <a:solidFill>
                  <a:schemeClr val="tx1"/>
                </a:solidFill>
                <a:effectLst/>
                <a:latin typeface="+mn-lt"/>
              </a:rPr>
              <a:t>to the next node in the linked list. The next of the last node is </a:t>
            </a:r>
            <a:r>
              <a:rPr lang="en-CN" sz="1800" b="1" i="0" spc="10" dirty="0">
                <a:solidFill>
                  <a:schemeClr val="tx1"/>
                </a:solidFill>
                <a:effectLst/>
                <a:latin typeface="+mn-lt"/>
              </a:rPr>
              <a:t>null</a:t>
            </a:r>
            <a:r>
              <a:rPr lang="en-CN" sz="1800" b="0" i="0" spc="12" dirty="0">
                <a:solidFill>
                  <a:schemeClr val="tx1"/>
                </a:solidFill>
                <a:effectLst/>
                <a:latin typeface="+mn-lt"/>
              </a:rPr>
              <a:t>, indicating the end of the list. Linked Lists support efficient insertion and deletion operations.</a:t>
            </a:r>
            <a:endParaRPr lang="en-CN" dirty="0"/>
          </a:p>
        </p:txBody>
      </p:sp>
      <p:pic>
        <p:nvPicPr>
          <p:cNvPr id="7" name="Picture 6">
            <a:extLst>
              <a:ext uri="{FF2B5EF4-FFF2-40B4-BE49-F238E27FC236}">
                <a16:creationId xmlns:a16="http://schemas.microsoft.com/office/drawing/2014/main" id="{00283D2A-8741-47FF-82FD-DE359FE30C49}"/>
              </a:ext>
            </a:extLst>
          </p:cNvPr>
          <p:cNvPicPr>
            <a:picLocks noChangeAspect="1"/>
          </p:cNvPicPr>
          <p:nvPr/>
        </p:nvPicPr>
        <p:blipFill>
          <a:blip r:embed="rId2"/>
          <a:stretch>
            <a:fillRect/>
          </a:stretch>
        </p:blipFill>
        <p:spPr>
          <a:xfrm>
            <a:off x="2229633" y="2243377"/>
            <a:ext cx="7772400" cy="994021"/>
          </a:xfrm>
          <a:prstGeom prst="rect">
            <a:avLst/>
          </a:prstGeom>
        </p:spPr>
      </p:pic>
    </p:spTree>
    <p:extLst>
      <p:ext uri="{BB962C8B-B14F-4D97-AF65-F5344CB8AC3E}">
        <p14:creationId xmlns:p14="http://schemas.microsoft.com/office/powerpoint/2010/main" val="2260158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868EAF-6CB2-F81C-F75A-20D5E6625828}"/>
              </a:ext>
            </a:extLst>
          </p:cNvPr>
          <p:cNvSpPr txBox="1"/>
          <p:nvPr/>
        </p:nvSpPr>
        <p:spPr>
          <a:xfrm>
            <a:off x="743211" y="275136"/>
            <a:ext cx="6096000" cy="352597"/>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CN" sz="1800" b="1" i="0" spc="12" dirty="0">
                <a:solidFill>
                  <a:schemeClr val="tx1"/>
                </a:solidFill>
                <a:effectLst/>
                <a:latin typeface="+mn-lt"/>
              </a:rPr>
              <a:t>Understanding Node Structure</a:t>
            </a:r>
            <a:endParaRPr lang="en-CN" sz="1500" b="1" i="0" spc="0" dirty="0">
              <a:solidFill>
                <a:srgbClr val="273239"/>
              </a:solidFill>
              <a:effectLst/>
              <a:latin typeface="Nunito" pitchFamily="2" charset="77"/>
            </a:endParaRPr>
          </a:p>
        </p:txBody>
      </p:sp>
      <p:sp>
        <p:nvSpPr>
          <p:cNvPr id="4" name="TextBox 3">
            <a:extLst>
              <a:ext uri="{FF2B5EF4-FFF2-40B4-BE49-F238E27FC236}">
                <a16:creationId xmlns:a16="http://schemas.microsoft.com/office/drawing/2014/main" id="{DF0CFD95-7A9C-1F93-8DDC-EC1715F585C7}"/>
              </a:ext>
            </a:extLst>
          </p:cNvPr>
          <p:cNvSpPr txBox="1"/>
          <p:nvPr/>
        </p:nvSpPr>
        <p:spPr>
          <a:xfrm>
            <a:off x="244256" y="800133"/>
            <a:ext cx="11755677" cy="646331"/>
          </a:xfrm>
          <a:prstGeom prst="rect">
            <a:avLst/>
          </a:prstGeom>
          <a:noFill/>
        </p:spPr>
        <p:txBody>
          <a:bodyPr wrap="square">
            <a:spAutoFit/>
          </a:bodyPr>
          <a:lstStyle/>
          <a:p>
            <a:pPr marL="0" marR="0" indent="0" algn="just" rtl="0" fontAlgn="base">
              <a:spcAft>
                <a:spcPts val="750"/>
              </a:spcAft>
              <a:buNone/>
            </a:pPr>
            <a:r>
              <a:rPr lang="en-CN" sz="1800" b="0" i="0" spc="12" dirty="0">
                <a:solidFill>
                  <a:schemeClr val="tx1"/>
                </a:solidFill>
                <a:effectLst/>
                <a:latin typeface="+mn-lt"/>
              </a:rPr>
              <a:t>In a singly linked list, each node consists of two parts: data and a pointer to the next node. This structure allows nodes to be dynamically linked together, forming a chain-like sequence.</a:t>
            </a:r>
            <a:endParaRPr lang="en-CN" sz="1800" b="0" i="0" spc="10" dirty="0">
              <a:solidFill>
                <a:schemeClr val="tx1"/>
              </a:solidFill>
              <a:effectLst/>
              <a:latin typeface="+mn-lt"/>
            </a:endParaRPr>
          </a:p>
        </p:txBody>
      </p:sp>
      <p:pic>
        <p:nvPicPr>
          <p:cNvPr id="6" name="Picture 5">
            <a:extLst>
              <a:ext uri="{FF2B5EF4-FFF2-40B4-BE49-F238E27FC236}">
                <a16:creationId xmlns:a16="http://schemas.microsoft.com/office/drawing/2014/main" id="{9A200FB3-9F45-2D1E-8D43-30923ABF2174}"/>
              </a:ext>
            </a:extLst>
          </p:cNvPr>
          <p:cNvPicPr>
            <a:picLocks noChangeAspect="1"/>
          </p:cNvPicPr>
          <p:nvPr/>
        </p:nvPicPr>
        <p:blipFill>
          <a:blip r:embed="rId2"/>
          <a:stretch>
            <a:fillRect/>
          </a:stretch>
        </p:blipFill>
        <p:spPr>
          <a:xfrm>
            <a:off x="431800" y="1618864"/>
            <a:ext cx="5664200" cy="1993900"/>
          </a:xfrm>
          <a:prstGeom prst="rect">
            <a:avLst/>
          </a:prstGeom>
        </p:spPr>
      </p:pic>
      <p:sp>
        <p:nvSpPr>
          <p:cNvPr id="8" name="TextBox 7">
            <a:extLst>
              <a:ext uri="{FF2B5EF4-FFF2-40B4-BE49-F238E27FC236}">
                <a16:creationId xmlns:a16="http://schemas.microsoft.com/office/drawing/2014/main" id="{8C3547DE-B92B-5E35-2DFA-03EB01C5C6B0}"/>
              </a:ext>
            </a:extLst>
          </p:cNvPr>
          <p:cNvSpPr txBox="1"/>
          <p:nvPr/>
        </p:nvSpPr>
        <p:spPr>
          <a:xfrm>
            <a:off x="244256" y="4088949"/>
            <a:ext cx="11530210" cy="646331"/>
          </a:xfrm>
          <a:prstGeom prst="rect">
            <a:avLst/>
          </a:prstGeom>
          <a:noFill/>
        </p:spPr>
        <p:txBody>
          <a:bodyPr wrap="square">
            <a:spAutoFit/>
          </a:bodyPr>
          <a:lstStyle/>
          <a:p>
            <a:r>
              <a:rPr lang="en-CN" sz="1800" b="0" i="0" spc="12" dirty="0">
                <a:solidFill>
                  <a:schemeClr val="tx1"/>
                </a:solidFill>
                <a:effectLst/>
                <a:latin typeface="+mn-lt"/>
              </a:rPr>
              <a:t>In this example, the Node class contains an integer data field (</a:t>
            </a:r>
            <a:r>
              <a:rPr lang="en-CN" sz="1800" b="1" i="0" spc="10" dirty="0">
                <a:solidFill>
                  <a:schemeClr val="tx1"/>
                </a:solidFill>
                <a:effectLst/>
                <a:latin typeface="+mn-lt"/>
              </a:rPr>
              <a:t>data</a:t>
            </a:r>
            <a:r>
              <a:rPr lang="en-CN" sz="1800" b="0" i="0" spc="12" dirty="0">
                <a:solidFill>
                  <a:schemeClr val="tx1"/>
                </a:solidFill>
                <a:effectLst/>
                <a:latin typeface="+mn-lt"/>
              </a:rPr>
              <a:t>) to store the information and a pointer to another Node (</a:t>
            </a:r>
            <a:r>
              <a:rPr lang="en-CN" sz="1800" b="1" i="0" spc="10" dirty="0">
                <a:solidFill>
                  <a:schemeClr val="tx1"/>
                </a:solidFill>
                <a:effectLst/>
                <a:latin typeface="+mn-lt"/>
              </a:rPr>
              <a:t>next</a:t>
            </a:r>
            <a:r>
              <a:rPr lang="en-CN" sz="1800" b="0" i="0" spc="12" dirty="0">
                <a:solidFill>
                  <a:schemeClr val="tx1"/>
                </a:solidFill>
                <a:effectLst/>
                <a:latin typeface="+mn-lt"/>
              </a:rPr>
              <a:t>) to establish the link to the next node in the list.</a:t>
            </a:r>
            <a:endParaRPr lang="en-CN" dirty="0"/>
          </a:p>
        </p:txBody>
      </p:sp>
    </p:spTree>
    <p:extLst>
      <p:ext uri="{BB962C8B-B14F-4D97-AF65-F5344CB8AC3E}">
        <p14:creationId xmlns:p14="http://schemas.microsoft.com/office/powerpoint/2010/main" val="1649420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8776CB-555C-C4D6-D605-D8AC96D9927B}"/>
              </a:ext>
            </a:extLst>
          </p:cNvPr>
          <p:cNvSpPr txBox="1"/>
          <p:nvPr/>
        </p:nvSpPr>
        <p:spPr>
          <a:xfrm>
            <a:off x="231731" y="252335"/>
            <a:ext cx="11118439" cy="369332"/>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CN" sz="1800" b="1" i="0" spc="12" dirty="0">
                <a:solidFill>
                  <a:schemeClr val="tx1"/>
                </a:solidFill>
                <a:effectLst/>
                <a:latin typeface="+mn-lt"/>
              </a:rPr>
              <a:t>Creating an Example Linked List of Size 3 to Understand Working</a:t>
            </a:r>
            <a:endParaRPr lang="en-CN" sz="1500" b="1" i="0" spc="0" dirty="0">
              <a:solidFill>
                <a:srgbClr val="273239"/>
              </a:solidFill>
              <a:effectLst/>
              <a:latin typeface="Nunito" pitchFamily="2" charset="77"/>
            </a:endParaRPr>
          </a:p>
        </p:txBody>
      </p:sp>
      <p:pic>
        <p:nvPicPr>
          <p:cNvPr id="5" name="Picture 4">
            <a:extLst>
              <a:ext uri="{FF2B5EF4-FFF2-40B4-BE49-F238E27FC236}">
                <a16:creationId xmlns:a16="http://schemas.microsoft.com/office/drawing/2014/main" id="{F549C413-7ED7-B3A0-96F3-C4E7EEDADEF4}"/>
              </a:ext>
            </a:extLst>
          </p:cNvPr>
          <p:cNvPicPr>
            <a:picLocks noChangeAspect="1"/>
          </p:cNvPicPr>
          <p:nvPr/>
        </p:nvPicPr>
        <p:blipFill>
          <a:blip r:embed="rId2"/>
          <a:stretch>
            <a:fillRect/>
          </a:stretch>
        </p:blipFill>
        <p:spPr>
          <a:xfrm>
            <a:off x="231731" y="921968"/>
            <a:ext cx="5041727" cy="4301385"/>
          </a:xfrm>
          <a:prstGeom prst="rect">
            <a:avLst/>
          </a:prstGeom>
        </p:spPr>
      </p:pic>
      <p:pic>
        <p:nvPicPr>
          <p:cNvPr id="6" name="Picture 5">
            <a:extLst>
              <a:ext uri="{FF2B5EF4-FFF2-40B4-BE49-F238E27FC236}">
                <a16:creationId xmlns:a16="http://schemas.microsoft.com/office/drawing/2014/main" id="{10A1AE38-6855-33B5-DD3E-D39EBB326633}"/>
              </a:ext>
            </a:extLst>
          </p:cNvPr>
          <p:cNvPicPr>
            <a:picLocks noChangeAspect="1"/>
          </p:cNvPicPr>
          <p:nvPr/>
        </p:nvPicPr>
        <p:blipFill>
          <a:blip r:embed="rId3"/>
          <a:stretch>
            <a:fillRect/>
          </a:stretch>
        </p:blipFill>
        <p:spPr>
          <a:xfrm>
            <a:off x="6096000" y="0"/>
            <a:ext cx="6204857" cy="6858000"/>
          </a:xfrm>
          <a:prstGeom prst="rect">
            <a:avLst/>
          </a:prstGeom>
        </p:spPr>
      </p:pic>
    </p:spTree>
    <p:extLst>
      <p:ext uri="{BB962C8B-B14F-4D97-AF65-F5344CB8AC3E}">
        <p14:creationId xmlns:p14="http://schemas.microsoft.com/office/powerpoint/2010/main" val="511956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185C53-DCA0-4034-6F8B-E82AEDE36C5B}"/>
              </a:ext>
            </a:extLst>
          </p:cNvPr>
          <p:cNvPicPr>
            <a:picLocks noChangeAspect="1"/>
          </p:cNvPicPr>
          <p:nvPr/>
        </p:nvPicPr>
        <p:blipFill>
          <a:blip r:embed="rId2"/>
          <a:stretch>
            <a:fillRect/>
          </a:stretch>
        </p:blipFill>
        <p:spPr>
          <a:xfrm>
            <a:off x="2993571" y="0"/>
            <a:ext cx="6204857" cy="6858000"/>
          </a:xfrm>
          <a:prstGeom prst="rect">
            <a:avLst/>
          </a:prstGeom>
        </p:spPr>
      </p:pic>
    </p:spTree>
    <p:extLst>
      <p:ext uri="{BB962C8B-B14F-4D97-AF65-F5344CB8AC3E}">
        <p14:creationId xmlns:p14="http://schemas.microsoft.com/office/powerpoint/2010/main" val="2654246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40E8BF-687D-F7CD-2CEE-65E8BC60C586}"/>
              </a:ext>
            </a:extLst>
          </p:cNvPr>
          <p:cNvSpPr txBox="1"/>
          <p:nvPr/>
        </p:nvSpPr>
        <p:spPr>
          <a:xfrm>
            <a:off x="3889332" y="111800"/>
            <a:ext cx="3864279" cy="369332"/>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CN" sz="1800" b="1" i="0" spc="12" dirty="0">
                <a:solidFill>
                  <a:schemeClr val="tx1"/>
                </a:solidFill>
                <a:effectLst/>
                <a:latin typeface="+mn-lt"/>
              </a:rPr>
              <a:t>Common Operation in Linked List</a:t>
            </a:r>
            <a:endParaRPr lang="en-CN" sz="1500" b="1" i="0" spc="0" dirty="0">
              <a:solidFill>
                <a:srgbClr val="273239"/>
              </a:solidFill>
              <a:effectLst/>
              <a:latin typeface="Nunito" pitchFamily="2" charset="77"/>
            </a:endParaRPr>
          </a:p>
        </p:txBody>
      </p:sp>
      <p:sp>
        <p:nvSpPr>
          <p:cNvPr id="5" name="TextBox 4">
            <a:extLst>
              <a:ext uri="{FF2B5EF4-FFF2-40B4-BE49-F238E27FC236}">
                <a16:creationId xmlns:a16="http://schemas.microsoft.com/office/drawing/2014/main" id="{065E7641-81C7-0032-23BC-7DED2742D830}"/>
              </a:ext>
            </a:extLst>
          </p:cNvPr>
          <p:cNvSpPr txBox="1"/>
          <p:nvPr/>
        </p:nvSpPr>
        <p:spPr>
          <a:xfrm>
            <a:off x="118998" y="676677"/>
            <a:ext cx="10628334" cy="369332"/>
          </a:xfrm>
          <a:prstGeom prst="rect">
            <a:avLst/>
          </a:prstGeom>
          <a:noFill/>
        </p:spPr>
        <p:txBody>
          <a:bodyPr wrap="square">
            <a:spAutoFit/>
          </a:bodyPr>
          <a:lstStyle/>
          <a:p>
            <a:r>
              <a:rPr lang="en-CN" sz="1800" b="0" i="0" spc="12" dirty="0">
                <a:solidFill>
                  <a:schemeClr val="tx1"/>
                </a:solidFill>
                <a:effectLst/>
                <a:latin typeface="+mn-lt"/>
              </a:rPr>
              <a:t>A linked list supports several operations. Here are the most common ones:</a:t>
            </a:r>
            <a:endParaRPr lang="en-CN" dirty="0"/>
          </a:p>
        </p:txBody>
      </p:sp>
      <p:sp>
        <p:nvSpPr>
          <p:cNvPr id="7" name="TextBox 6">
            <a:extLst>
              <a:ext uri="{FF2B5EF4-FFF2-40B4-BE49-F238E27FC236}">
                <a16:creationId xmlns:a16="http://schemas.microsoft.com/office/drawing/2014/main" id="{7D0050E0-EB78-7B39-FD17-51A25D54F2E6}"/>
              </a:ext>
            </a:extLst>
          </p:cNvPr>
          <p:cNvSpPr txBox="1"/>
          <p:nvPr/>
        </p:nvSpPr>
        <p:spPr>
          <a:xfrm>
            <a:off x="369517" y="1308473"/>
            <a:ext cx="9964455" cy="2908489"/>
          </a:xfrm>
          <a:prstGeom prst="rect">
            <a:avLst/>
          </a:prstGeom>
          <a:noFill/>
        </p:spPr>
        <p:txBody>
          <a:bodyPr wrap="square">
            <a:spAutoFit/>
          </a:bodyPr>
          <a:lstStyle/>
          <a:p>
            <a:pPr marL="342900" marR="0" lvl="0" indent="-342900" algn="l" fontAlgn="base">
              <a:spcAft>
                <a:spcPts val="1800"/>
              </a:spcAft>
              <a:buFont typeface="Arial" panose="020B0604020202020204" pitchFamily="34" charset="0"/>
              <a:buChar char="•"/>
            </a:pPr>
            <a:r>
              <a:rPr lang="en-CN" sz="1800" b="1" i="0" spc="10" dirty="0">
                <a:solidFill>
                  <a:schemeClr val="tx1"/>
                </a:solidFill>
                <a:effectLst/>
                <a:latin typeface="+mn-lt"/>
              </a:rPr>
              <a:t>Traversal :</a:t>
            </a:r>
            <a:r>
              <a:rPr lang="en-CN" sz="1800" b="0" i="0" spc="12" dirty="0">
                <a:solidFill>
                  <a:schemeClr val="tx1"/>
                </a:solidFill>
                <a:effectLst/>
                <a:latin typeface="+mn-lt"/>
              </a:rPr>
              <a:t> </a:t>
            </a:r>
            <a:r>
              <a:rPr lang="en-CN" sz="1800" b="0" i="0" u="sng" spc="12" dirty="0">
                <a:solidFill>
                  <a:schemeClr val="tx1"/>
                </a:solidFill>
                <a:effectLst/>
                <a:latin typeface="+mn-lt"/>
                <a:hlinkClick r:id="rId2"/>
              </a:rPr>
              <a:t>Traversing singly linked list</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1" i="0" spc="10" dirty="0">
                <a:solidFill>
                  <a:schemeClr val="tx1"/>
                </a:solidFill>
                <a:effectLst/>
                <a:latin typeface="+mn-lt"/>
              </a:rPr>
              <a:t>Insertion : </a:t>
            </a:r>
            <a:r>
              <a:rPr lang="en-CN" sz="1800" b="0" i="0" u="sng" spc="12" dirty="0">
                <a:solidFill>
                  <a:schemeClr val="tx1"/>
                </a:solidFill>
                <a:effectLst/>
                <a:latin typeface="+mn-lt"/>
                <a:hlinkClick r:id="rId3"/>
              </a:rPr>
              <a:t>At the beginning</a:t>
            </a:r>
            <a:r>
              <a:rPr lang="en-CN" sz="1800" b="0" i="0" spc="12" dirty="0">
                <a:solidFill>
                  <a:schemeClr val="tx1"/>
                </a:solidFill>
                <a:effectLst/>
                <a:latin typeface="+mn-lt"/>
              </a:rPr>
              <a:t>, </a:t>
            </a:r>
            <a:r>
              <a:rPr lang="en-CN" sz="1800" b="0" i="0" u="sng" spc="12" dirty="0">
                <a:solidFill>
                  <a:schemeClr val="tx1"/>
                </a:solidFill>
                <a:effectLst/>
                <a:latin typeface="+mn-lt"/>
                <a:hlinkClick r:id="rId4"/>
              </a:rPr>
              <a:t>At the end</a:t>
            </a:r>
            <a:r>
              <a:rPr lang="en-CN" sz="1800" b="0" i="0" spc="12" dirty="0">
                <a:solidFill>
                  <a:schemeClr val="tx1"/>
                </a:solidFill>
                <a:effectLst/>
                <a:latin typeface="+mn-lt"/>
              </a:rPr>
              <a:t> and </a:t>
            </a:r>
            <a:r>
              <a:rPr lang="en-CN" sz="1800" b="0" i="0" u="sng" spc="12" dirty="0">
                <a:solidFill>
                  <a:schemeClr val="tx1"/>
                </a:solidFill>
                <a:effectLst/>
                <a:latin typeface="+mn-lt"/>
                <a:hlinkClick r:id="rId5"/>
              </a:rPr>
              <a:t>At a specific position</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1" i="0" spc="10" dirty="0">
                <a:solidFill>
                  <a:schemeClr val="tx1"/>
                </a:solidFill>
                <a:effectLst/>
                <a:latin typeface="+mn-lt"/>
              </a:rPr>
              <a:t>Deletion : </a:t>
            </a:r>
            <a:r>
              <a:rPr lang="en-CN" sz="1800" b="0" i="0" u="sng" spc="12" dirty="0">
                <a:solidFill>
                  <a:schemeClr val="tx1"/>
                </a:solidFill>
                <a:effectLst/>
                <a:latin typeface="+mn-lt"/>
                <a:hlinkClick r:id="rId6"/>
              </a:rPr>
              <a:t>From beginning</a:t>
            </a:r>
            <a:r>
              <a:rPr lang="en-CN" sz="1800" b="0" i="0" spc="12" dirty="0">
                <a:solidFill>
                  <a:schemeClr val="tx1"/>
                </a:solidFill>
                <a:effectLst/>
                <a:latin typeface="+mn-lt"/>
              </a:rPr>
              <a:t>, </a:t>
            </a:r>
            <a:r>
              <a:rPr lang="en-CN" sz="1800" b="0" i="0" u="sng" spc="12" dirty="0">
                <a:solidFill>
                  <a:schemeClr val="tx1"/>
                </a:solidFill>
                <a:effectLst/>
                <a:latin typeface="+mn-lt"/>
                <a:hlinkClick r:id="rId7"/>
              </a:rPr>
              <a:t>From end</a:t>
            </a:r>
            <a:r>
              <a:rPr lang="en-CN" sz="1800" b="0" i="0" spc="12" dirty="0">
                <a:solidFill>
                  <a:schemeClr val="tx1"/>
                </a:solidFill>
                <a:effectLst/>
                <a:latin typeface="+mn-lt"/>
              </a:rPr>
              <a:t> and </a:t>
            </a:r>
            <a:r>
              <a:rPr lang="en-CN" sz="1800" b="0" i="0" u="sng" spc="12" dirty="0">
                <a:solidFill>
                  <a:schemeClr val="tx1"/>
                </a:solidFill>
                <a:effectLst/>
                <a:latin typeface="+mn-lt"/>
                <a:hlinkClick r:id="rId8"/>
              </a:rPr>
              <a:t>From a specific position</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1" i="0" spc="10" dirty="0">
                <a:solidFill>
                  <a:schemeClr val="tx1"/>
                </a:solidFill>
                <a:effectLst/>
                <a:latin typeface="+mn-lt"/>
              </a:rPr>
              <a:t>Searching : </a:t>
            </a:r>
            <a:r>
              <a:rPr lang="en-CN" sz="1800" b="0" i="0" u="sng" spc="12" dirty="0">
                <a:solidFill>
                  <a:schemeClr val="tx1"/>
                </a:solidFill>
                <a:effectLst/>
                <a:latin typeface="+mn-lt"/>
                <a:hlinkClick r:id="rId9"/>
              </a:rPr>
              <a:t>Find whether a given key exists in the list</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1" i="0" spc="10" dirty="0">
                <a:solidFill>
                  <a:schemeClr val="tx1"/>
                </a:solidFill>
                <a:effectLst/>
                <a:latin typeface="+mn-lt"/>
              </a:rPr>
              <a:t>Updating (Modification) : </a:t>
            </a:r>
            <a:r>
              <a:rPr lang="en-CN" sz="1800" b="0" i="0" u="sng" spc="12" dirty="0">
                <a:solidFill>
                  <a:schemeClr val="tx1"/>
                </a:solidFill>
                <a:effectLst/>
                <a:latin typeface="+mn-lt"/>
                <a:hlinkClick r:id="rId10"/>
              </a:rPr>
              <a:t>Modify contents of linked list</a:t>
            </a:r>
            <a:r>
              <a:rPr lang="en-CN" sz="1800" b="0" i="0" spc="12" dirty="0">
                <a:solidFill>
                  <a:schemeClr val="tx1"/>
                </a:solidFill>
                <a:effectLst/>
                <a:latin typeface="+mn-lt"/>
              </a:rPr>
              <a:t>.</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1" i="0" spc="10" dirty="0">
                <a:solidFill>
                  <a:schemeClr val="tx1"/>
                </a:solidFill>
                <a:effectLst/>
                <a:latin typeface="+mn-lt"/>
              </a:rPr>
              <a:t>Reversal : </a:t>
            </a:r>
            <a:r>
              <a:rPr lang="en-CN" sz="1800" b="0" i="0" u="sng" spc="12" dirty="0">
                <a:solidFill>
                  <a:schemeClr val="tx1"/>
                </a:solidFill>
                <a:effectLst/>
                <a:latin typeface="+mn-lt"/>
                <a:hlinkClick r:id="rId11"/>
              </a:rPr>
              <a:t>Reverse the linked list and make the last node as new head.</a:t>
            </a:r>
            <a:endParaRPr lang="en-CN" sz="1350" b="0" i="0" spc="10" dirty="0">
              <a:solidFill>
                <a:srgbClr val="273239"/>
              </a:solidFill>
              <a:effectLst/>
              <a:latin typeface="Nunito" pitchFamily="2" charset="77"/>
            </a:endParaRPr>
          </a:p>
        </p:txBody>
      </p:sp>
    </p:spTree>
    <p:extLst>
      <p:ext uri="{BB962C8B-B14F-4D97-AF65-F5344CB8AC3E}">
        <p14:creationId xmlns:p14="http://schemas.microsoft.com/office/powerpoint/2010/main" val="1301176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10A87D-5A3B-B89F-1A92-837E0EE5AFA0}"/>
              </a:ext>
            </a:extLst>
          </p:cNvPr>
          <p:cNvSpPr txBox="1"/>
          <p:nvPr/>
        </p:nvSpPr>
        <p:spPr>
          <a:xfrm>
            <a:off x="701457" y="255681"/>
            <a:ext cx="9908087" cy="692497"/>
          </a:xfrm>
          <a:prstGeom prst="rect">
            <a:avLst/>
          </a:prstGeom>
          <a:noFill/>
        </p:spPr>
        <p:txBody>
          <a:bodyPr wrap="square">
            <a:spAutoFit/>
          </a:bodyPr>
          <a:lstStyle/>
          <a:p>
            <a:r>
              <a:rPr lang="en-CN" sz="1800" b="1" i="0" dirty="0">
                <a:solidFill>
                  <a:schemeClr val="tx1"/>
                </a:solidFill>
                <a:effectLst/>
                <a:latin typeface="+mn-lt"/>
              </a:rPr>
              <a:t>Insert a Node at Front of a Linked List/I</a:t>
            </a:r>
            <a:r>
              <a:rPr lang="en-CN" b="1" dirty="0"/>
              <a:t>nsertion at Beginning in Linked List</a:t>
            </a:r>
          </a:p>
          <a:p>
            <a:pPr marL="0" marR="0" indent="0" algn="l">
              <a:lnSpc>
                <a:spcPct val="100000"/>
              </a:lnSpc>
              <a:buNone/>
            </a:pPr>
            <a:endParaRPr lang="en-CN" sz="2100" b="1" i="0" dirty="0">
              <a:solidFill>
                <a:srgbClr val="273239"/>
              </a:solidFill>
              <a:effectLst/>
              <a:latin typeface="Source Sans 3"/>
            </a:endParaRPr>
          </a:p>
        </p:txBody>
      </p:sp>
      <p:sp>
        <p:nvSpPr>
          <p:cNvPr id="5" name="TextBox 4">
            <a:extLst>
              <a:ext uri="{FF2B5EF4-FFF2-40B4-BE49-F238E27FC236}">
                <a16:creationId xmlns:a16="http://schemas.microsoft.com/office/drawing/2014/main" id="{0528168F-B689-9D1C-0386-2A629F7B4EDA}"/>
              </a:ext>
            </a:extLst>
          </p:cNvPr>
          <p:cNvSpPr txBox="1"/>
          <p:nvPr/>
        </p:nvSpPr>
        <p:spPr>
          <a:xfrm>
            <a:off x="544882" y="1188954"/>
            <a:ext cx="11192006" cy="1754326"/>
          </a:xfrm>
          <a:prstGeom prst="rect">
            <a:avLst/>
          </a:prstGeom>
          <a:noFill/>
        </p:spPr>
        <p:txBody>
          <a:bodyPr wrap="square">
            <a:spAutoFit/>
          </a:bodyPr>
          <a:lstStyle/>
          <a:p>
            <a:pPr marL="0" marR="0">
              <a:buNone/>
            </a:pPr>
            <a:r>
              <a:rPr lang="en-CN" sz="1800" dirty="0">
                <a:solidFill>
                  <a:schemeClr val="tx1"/>
                </a:solidFill>
                <a:effectLst/>
                <a:latin typeface="+mn-lt"/>
              </a:rPr>
              <a:t>Insertion at Beginning in Linked List</a:t>
            </a:r>
          </a:p>
          <a:p>
            <a:pPr marL="0" marR="0">
              <a:buNone/>
            </a:pPr>
            <a:r>
              <a:rPr lang="en-CN" sz="1800" dirty="0">
                <a:solidFill>
                  <a:schemeClr val="tx1"/>
                </a:solidFill>
                <a:effectLst/>
                <a:latin typeface="+mn-lt"/>
              </a:rPr>
              <a:t>This method inserts the node at the beginning of the linked list.</a:t>
            </a:r>
          </a:p>
          <a:p>
            <a:pPr marL="0" marR="0">
              <a:buNone/>
            </a:pPr>
            <a:r>
              <a:rPr lang="en-CN" sz="1800" dirty="0">
                <a:solidFill>
                  <a:schemeClr val="tx1"/>
                </a:solidFill>
                <a:effectLst/>
                <a:latin typeface="+mn-lt"/>
              </a:rPr>
              <a:t> In this method, we create a new_node with the given data and check if the head is an empty node or not if the head is empty then we make the new_node as head and return else </a:t>
            </a:r>
          </a:p>
          <a:p>
            <a:pPr marL="0" marR="0">
              <a:buNone/>
            </a:pPr>
            <a:endParaRPr lang="en-CN" dirty="0"/>
          </a:p>
          <a:p>
            <a:pPr marL="0" marR="0">
              <a:buNone/>
            </a:pPr>
            <a:r>
              <a:rPr lang="en-CN" sz="1800" dirty="0">
                <a:solidFill>
                  <a:schemeClr val="tx1"/>
                </a:solidFill>
                <a:effectLst/>
                <a:latin typeface="+mn-lt"/>
              </a:rPr>
              <a:t>we insert the head at the next new_node and make the head equal to new_node.</a:t>
            </a:r>
            <a:endParaRPr lang="en-CN" sz="975" dirty="0">
              <a:solidFill>
                <a:srgbClr val="000000"/>
              </a:solidFill>
              <a:effectLst/>
              <a:latin typeface="Helvetica" pitchFamily="2" charset="0"/>
            </a:endParaRPr>
          </a:p>
        </p:txBody>
      </p:sp>
    </p:spTree>
    <p:extLst>
      <p:ext uri="{BB962C8B-B14F-4D97-AF65-F5344CB8AC3E}">
        <p14:creationId xmlns:p14="http://schemas.microsoft.com/office/powerpoint/2010/main" val="1877618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52212E-7931-CDE2-7E58-E5AE47BDCDBB}"/>
              </a:ext>
            </a:extLst>
          </p:cNvPr>
          <p:cNvPicPr>
            <a:picLocks noChangeAspect="1"/>
          </p:cNvPicPr>
          <p:nvPr/>
        </p:nvPicPr>
        <p:blipFill>
          <a:blip r:embed="rId2"/>
          <a:stretch>
            <a:fillRect/>
          </a:stretch>
        </p:blipFill>
        <p:spPr>
          <a:xfrm>
            <a:off x="2348459" y="0"/>
            <a:ext cx="7495082" cy="6858000"/>
          </a:xfrm>
          <a:prstGeom prst="rect">
            <a:avLst/>
          </a:prstGeom>
        </p:spPr>
      </p:pic>
    </p:spTree>
    <p:extLst>
      <p:ext uri="{BB962C8B-B14F-4D97-AF65-F5344CB8AC3E}">
        <p14:creationId xmlns:p14="http://schemas.microsoft.com/office/powerpoint/2010/main" val="3552142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DB5F92-B3EA-C9B7-0F14-9F73472C377A}"/>
              </a:ext>
            </a:extLst>
          </p:cNvPr>
          <p:cNvSpPr txBox="1"/>
          <p:nvPr/>
        </p:nvSpPr>
        <p:spPr>
          <a:xfrm>
            <a:off x="179539" y="0"/>
            <a:ext cx="1498949" cy="1025922"/>
          </a:xfrm>
          <a:prstGeom prst="rect">
            <a:avLst/>
          </a:prstGeom>
          <a:noFill/>
        </p:spPr>
        <p:txBody>
          <a:bodyPr wrap="square">
            <a:spAutoFit/>
          </a:bodyPr>
          <a:lstStyle/>
          <a:p>
            <a:pPr marL="0" marR="0" indent="0" algn="l" rtl="0" fontAlgn="base">
              <a:spcAft>
                <a:spcPts val="750"/>
              </a:spcAft>
              <a:buNone/>
            </a:pPr>
            <a:r>
              <a:rPr lang="en-CN" sz="1800" b="1" i="0" spc="10" dirty="0">
                <a:solidFill>
                  <a:schemeClr val="tx1"/>
                </a:solidFill>
                <a:effectLst/>
                <a:latin typeface="+mn-lt"/>
              </a:rPr>
              <a:t>Approach:</a:t>
            </a:r>
            <a:endParaRPr lang="en-CN" sz="1800" b="0" i="0" spc="10" dirty="0">
              <a:solidFill>
                <a:schemeClr val="tx1"/>
              </a:solidFill>
              <a:effectLst/>
              <a:latin typeface="+mn-lt"/>
            </a:endParaRPr>
          </a:p>
          <a:p>
            <a:pPr>
              <a:buNone/>
            </a:pPr>
            <a:br>
              <a:rPr lang="en-CN" dirty="0"/>
            </a:br>
            <a:endParaRPr lang="en-CN" dirty="0"/>
          </a:p>
        </p:txBody>
      </p:sp>
      <p:pic>
        <p:nvPicPr>
          <p:cNvPr id="5" name="Picture 4">
            <a:extLst>
              <a:ext uri="{FF2B5EF4-FFF2-40B4-BE49-F238E27FC236}">
                <a16:creationId xmlns:a16="http://schemas.microsoft.com/office/drawing/2014/main" id="{8709D32F-81FF-0B66-6E2A-5D25BA0E1C8A}"/>
              </a:ext>
            </a:extLst>
          </p:cNvPr>
          <p:cNvPicPr>
            <a:picLocks noChangeAspect="1"/>
          </p:cNvPicPr>
          <p:nvPr/>
        </p:nvPicPr>
        <p:blipFill>
          <a:blip r:embed="rId2"/>
          <a:stretch>
            <a:fillRect/>
          </a:stretch>
        </p:blipFill>
        <p:spPr>
          <a:xfrm>
            <a:off x="330287" y="412925"/>
            <a:ext cx="4855488" cy="2518166"/>
          </a:xfrm>
          <a:prstGeom prst="rect">
            <a:avLst/>
          </a:prstGeom>
        </p:spPr>
      </p:pic>
      <p:pic>
        <p:nvPicPr>
          <p:cNvPr id="7" name="Picture 6">
            <a:extLst>
              <a:ext uri="{FF2B5EF4-FFF2-40B4-BE49-F238E27FC236}">
                <a16:creationId xmlns:a16="http://schemas.microsoft.com/office/drawing/2014/main" id="{26BB882A-83ED-1098-584A-CAB409D4F187}"/>
              </a:ext>
            </a:extLst>
          </p:cNvPr>
          <p:cNvPicPr>
            <a:picLocks noChangeAspect="1"/>
          </p:cNvPicPr>
          <p:nvPr/>
        </p:nvPicPr>
        <p:blipFill>
          <a:blip r:embed="rId3"/>
          <a:stretch>
            <a:fillRect/>
          </a:stretch>
        </p:blipFill>
        <p:spPr>
          <a:xfrm>
            <a:off x="5336523" y="412924"/>
            <a:ext cx="5720393" cy="2518165"/>
          </a:xfrm>
          <a:prstGeom prst="rect">
            <a:avLst/>
          </a:prstGeom>
        </p:spPr>
      </p:pic>
      <p:pic>
        <p:nvPicPr>
          <p:cNvPr id="9" name="Picture 8">
            <a:extLst>
              <a:ext uri="{FF2B5EF4-FFF2-40B4-BE49-F238E27FC236}">
                <a16:creationId xmlns:a16="http://schemas.microsoft.com/office/drawing/2014/main" id="{5C16B0AE-DD16-43B2-1E77-006BB5F3F3D7}"/>
              </a:ext>
            </a:extLst>
          </p:cNvPr>
          <p:cNvPicPr>
            <a:picLocks noChangeAspect="1"/>
          </p:cNvPicPr>
          <p:nvPr/>
        </p:nvPicPr>
        <p:blipFill>
          <a:blip r:embed="rId4"/>
          <a:stretch>
            <a:fillRect/>
          </a:stretch>
        </p:blipFill>
        <p:spPr>
          <a:xfrm>
            <a:off x="330288" y="3324158"/>
            <a:ext cx="4855488" cy="3120917"/>
          </a:xfrm>
          <a:prstGeom prst="rect">
            <a:avLst/>
          </a:prstGeom>
        </p:spPr>
      </p:pic>
      <p:pic>
        <p:nvPicPr>
          <p:cNvPr id="11" name="Picture 10">
            <a:extLst>
              <a:ext uri="{FF2B5EF4-FFF2-40B4-BE49-F238E27FC236}">
                <a16:creationId xmlns:a16="http://schemas.microsoft.com/office/drawing/2014/main" id="{930A4667-0838-3382-F67B-A3443D8CBED8}"/>
              </a:ext>
            </a:extLst>
          </p:cNvPr>
          <p:cNvPicPr>
            <a:picLocks noChangeAspect="1"/>
          </p:cNvPicPr>
          <p:nvPr/>
        </p:nvPicPr>
        <p:blipFill>
          <a:blip r:embed="rId5"/>
          <a:stretch>
            <a:fillRect/>
          </a:stretch>
        </p:blipFill>
        <p:spPr>
          <a:xfrm>
            <a:off x="5336523" y="3429000"/>
            <a:ext cx="5849219" cy="2901381"/>
          </a:xfrm>
          <a:prstGeom prst="rect">
            <a:avLst/>
          </a:prstGeom>
        </p:spPr>
      </p:pic>
    </p:spTree>
    <p:extLst>
      <p:ext uri="{BB962C8B-B14F-4D97-AF65-F5344CB8AC3E}">
        <p14:creationId xmlns:p14="http://schemas.microsoft.com/office/powerpoint/2010/main" val="755534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978F500D-BAF8-1344-AFD6-ED018B13AB0C}"/>
              </a:ext>
            </a:extLst>
          </p:cNvPr>
          <p:cNvPicPr>
            <a:picLocks noChangeAspect="1"/>
          </p:cNvPicPr>
          <p:nvPr/>
        </p:nvPicPr>
        <p:blipFill>
          <a:blip r:embed="rId2"/>
          <a:stretch>
            <a:fillRect/>
          </a:stretch>
        </p:blipFill>
        <p:spPr>
          <a:xfrm>
            <a:off x="228600" y="1174910"/>
            <a:ext cx="11658600" cy="3060380"/>
          </a:xfrm>
          <a:prstGeom prst="rect">
            <a:avLst/>
          </a:prstGeom>
        </p:spPr>
      </p:pic>
    </p:spTree>
    <p:extLst>
      <p:ext uri="{BB962C8B-B14F-4D97-AF65-F5344CB8AC3E}">
        <p14:creationId xmlns:p14="http://schemas.microsoft.com/office/powerpoint/2010/main" val="1850706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12741D-900C-AF52-3632-0EEC93A2B274}"/>
              </a:ext>
            </a:extLst>
          </p:cNvPr>
          <p:cNvPicPr>
            <a:picLocks noChangeAspect="1"/>
          </p:cNvPicPr>
          <p:nvPr/>
        </p:nvPicPr>
        <p:blipFill>
          <a:blip r:embed="rId2"/>
          <a:stretch>
            <a:fillRect/>
          </a:stretch>
        </p:blipFill>
        <p:spPr>
          <a:xfrm>
            <a:off x="2914265" y="0"/>
            <a:ext cx="4749278" cy="6858000"/>
          </a:xfrm>
          <a:prstGeom prst="rect">
            <a:avLst/>
          </a:prstGeom>
        </p:spPr>
      </p:pic>
    </p:spTree>
    <p:extLst>
      <p:ext uri="{BB962C8B-B14F-4D97-AF65-F5344CB8AC3E}">
        <p14:creationId xmlns:p14="http://schemas.microsoft.com/office/powerpoint/2010/main" val="4084067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2FCBE2-AFCD-DBD8-D07F-6D6A20796172}"/>
              </a:ext>
            </a:extLst>
          </p:cNvPr>
          <p:cNvSpPr txBox="1"/>
          <p:nvPr/>
        </p:nvSpPr>
        <p:spPr>
          <a:xfrm>
            <a:off x="256783" y="594187"/>
            <a:ext cx="11392421" cy="646331"/>
          </a:xfrm>
          <a:prstGeom prst="rect">
            <a:avLst/>
          </a:prstGeom>
          <a:noFill/>
        </p:spPr>
        <p:txBody>
          <a:bodyPr wrap="square">
            <a:spAutoFit/>
          </a:bodyPr>
          <a:lstStyle/>
          <a:p>
            <a:r>
              <a:rPr lang="en-CN" sz="1800" b="1" i="0" spc="10" dirty="0">
                <a:solidFill>
                  <a:schemeClr val="tx1"/>
                </a:solidFill>
                <a:effectLst/>
                <a:latin typeface="+mn-lt"/>
              </a:rPr>
              <a:t>Time Complexity:</a:t>
            </a:r>
            <a:r>
              <a:rPr lang="en-CN" sz="1800" b="0" i="0" spc="12" dirty="0">
                <a:solidFill>
                  <a:schemeClr val="tx1"/>
                </a:solidFill>
                <a:effectLst/>
                <a:latin typeface="+mn-lt"/>
              </a:rPr>
              <a:t> O(1), We have a pointer to the head and we can directly attach a node and update the head pointer. So, the Time complexity of inserting a node at the head position is O(1).</a:t>
            </a:r>
            <a:endParaRPr lang="en-CN" dirty="0"/>
          </a:p>
        </p:txBody>
      </p:sp>
    </p:spTree>
    <p:extLst>
      <p:ext uri="{BB962C8B-B14F-4D97-AF65-F5344CB8AC3E}">
        <p14:creationId xmlns:p14="http://schemas.microsoft.com/office/powerpoint/2010/main" val="895795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505B3E-131D-0C3D-7D9B-929790BD1D2C}"/>
              </a:ext>
            </a:extLst>
          </p:cNvPr>
          <p:cNvSpPr txBox="1"/>
          <p:nvPr/>
        </p:nvSpPr>
        <p:spPr>
          <a:xfrm>
            <a:off x="231732" y="218103"/>
            <a:ext cx="6100174" cy="415563"/>
          </a:xfrm>
          <a:prstGeom prst="rect">
            <a:avLst/>
          </a:prstGeom>
          <a:noFill/>
        </p:spPr>
        <p:txBody>
          <a:bodyPr wrap="square">
            <a:spAutoFit/>
          </a:bodyPr>
          <a:lstStyle/>
          <a:p>
            <a:pPr marL="0" marR="0" indent="0" algn="l">
              <a:lnSpc>
                <a:spcPct val="100000"/>
              </a:lnSpc>
              <a:buNone/>
            </a:pPr>
            <a:r>
              <a:rPr lang="en-CN" sz="1800" b="1" i="0" dirty="0">
                <a:solidFill>
                  <a:schemeClr val="tx1"/>
                </a:solidFill>
                <a:effectLst/>
                <a:latin typeface="+mn-lt"/>
              </a:rPr>
              <a:t>Insert Node at the End of a Linked List</a:t>
            </a:r>
            <a:endParaRPr lang="en-CN" sz="2100" b="1" i="0" dirty="0">
              <a:solidFill>
                <a:srgbClr val="273239"/>
              </a:solidFill>
              <a:effectLst/>
              <a:latin typeface="Source Sans 3"/>
            </a:endParaRPr>
          </a:p>
        </p:txBody>
      </p:sp>
      <p:pic>
        <p:nvPicPr>
          <p:cNvPr id="5" name="Picture 4">
            <a:extLst>
              <a:ext uri="{FF2B5EF4-FFF2-40B4-BE49-F238E27FC236}">
                <a16:creationId xmlns:a16="http://schemas.microsoft.com/office/drawing/2014/main" id="{2B271F60-D871-11D1-5BAD-FEFFD77F8670}"/>
              </a:ext>
            </a:extLst>
          </p:cNvPr>
          <p:cNvPicPr>
            <a:picLocks noChangeAspect="1"/>
          </p:cNvPicPr>
          <p:nvPr/>
        </p:nvPicPr>
        <p:blipFill>
          <a:blip r:embed="rId2"/>
          <a:stretch>
            <a:fillRect/>
          </a:stretch>
        </p:blipFill>
        <p:spPr>
          <a:xfrm>
            <a:off x="1776298" y="643024"/>
            <a:ext cx="7772400" cy="5571951"/>
          </a:xfrm>
          <a:prstGeom prst="rect">
            <a:avLst/>
          </a:prstGeom>
        </p:spPr>
      </p:pic>
    </p:spTree>
    <p:extLst>
      <p:ext uri="{BB962C8B-B14F-4D97-AF65-F5344CB8AC3E}">
        <p14:creationId xmlns:p14="http://schemas.microsoft.com/office/powerpoint/2010/main" val="3465761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8BE343-7851-F498-43B7-4F6959C570A0}"/>
              </a:ext>
            </a:extLst>
          </p:cNvPr>
          <p:cNvSpPr txBox="1"/>
          <p:nvPr/>
        </p:nvSpPr>
        <p:spPr>
          <a:xfrm>
            <a:off x="131524" y="113005"/>
            <a:ext cx="6100174" cy="300082"/>
          </a:xfrm>
          <a:prstGeom prst="rect">
            <a:avLst/>
          </a:prstGeom>
          <a:noFill/>
        </p:spPr>
        <p:txBody>
          <a:bodyPr wrap="square">
            <a:spAutoFit/>
          </a:bodyPr>
          <a:lstStyle/>
          <a:p>
            <a:r>
              <a:rPr lang="en-CN" sz="1800" b="1" i="0" spc="10" dirty="0">
                <a:solidFill>
                  <a:schemeClr val="tx1"/>
                </a:solidFill>
                <a:effectLst/>
                <a:latin typeface="+mn-lt"/>
              </a:rPr>
              <a:t>Approach:</a:t>
            </a:r>
            <a:r>
              <a:rPr lang="en-CN" sz="1800" b="0" i="0" spc="12" dirty="0">
                <a:solidFill>
                  <a:schemeClr val="tx1"/>
                </a:solidFill>
                <a:effectLst/>
                <a:latin typeface="+mn-lt"/>
              </a:rPr>
              <a:t> </a:t>
            </a:r>
            <a:endParaRPr lang="en-CN" dirty="0"/>
          </a:p>
        </p:txBody>
      </p:sp>
      <p:sp>
        <p:nvSpPr>
          <p:cNvPr id="5" name="TextBox 4">
            <a:extLst>
              <a:ext uri="{FF2B5EF4-FFF2-40B4-BE49-F238E27FC236}">
                <a16:creationId xmlns:a16="http://schemas.microsoft.com/office/drawing/2014/main" id="{4E8A7DD7-10E7-E89E-3806-E03F9C33BD56}"/>
              </a:ext>
            </a:extLst>
          </p:cNvPr>
          <p:cNvSpPr txBox="1"/>
          <p:nvPr/>
        </p:nvSpPr>
        <p:spPr>
          <a:xfrm>
            <a:off x="0" y="413087"/>
            <a:ext cx="11837096" cy="646331"/>
          </a:xfrm>
          <a:prstGeom prst="rect">
            <a:avLst/>
          </a:prstGeom>
          <a:noFill/>
        </p:spPr>
        <p:txBody>
          <a:bodyPr wrap="square">
            <a:spAutoFit/>
          </a:bodyPr>
          <a:lstStyle/>
          <a:p>
            <a:r>
              <a:rPr lang="en-CN" sz="1800" b="0" i="1" spc="12" dirty="0">
                <a:solidFill>
                  <a:schemeClr val="tx1"/>
                </a:solidFill>
                <a:effectLst/>
                <a:latin typeface="+mn-lt"/>
              </a:rPr>
              <a:t>Inserting at the end involves traversing the entire list until we reach the last node. We then set the </a:t>
            </a:r>
            <a:r>
              <a:rPr lang="en-CN" sz="1800" b="1" i="1" spc="10" dirty="0">
                <a:solidFill>
                  <a:schemeClr val="tx1"/>
                </a:solidFill>
                <a:effectLst/>
                <a:latin typeface="+mn-lt"/>
              </a:rPr>
              <a:t>last node's</a:t>
            </a:r>
            <a:r>
              <a:rPr lang="en-CN" sz="1800" b="0" i="1" spc="12" dirty="0">
                <a:solidFill>
                  <a:schemeClr val="tx1"/>
                </a:solidFill>
                <a:effectLst/>
                <a:latin typeface="+mn-lt"/>
              </a:rPr>
              <a:t> next reference to point to the</a:t>
            </a:r>
            <a:r>
              <a:rPr lang="en-CN" sz="1800" b="1" i="1" spc="10" dirty="0">
                <a:solidFill>
                  <a:schemeClr val="tx1"/>
                </a:solidFill>
                <a:effectLst/>
                <a:latin typeface="+mn-lt"/>
              </a:rPr>
              <a:t> new node</a:t>
            </a:r>
            <a:r>
              <a:rPr lang="en-CN" sz="1800" b="0" i="1" spc="12" dirty="0">
                <a:solidFill>
                  <a:schemeClr val="tx1"/>
                </a:solidFill>
                <a:effectLst/>
                <a:latin typeface="+mn-lt"/>
              </a:rPr>
              <a:t>, making the </a:t>
            </a:r>
            <a:r>
              <a:rPr lang="en-CN" sz="1800" b="1" i="1" spc="10" dirty="0">
                <a:solidFill>
                  <a:schemeClr val="tx1"/>
                </a:solidFill>
                <a:effectLst/>
                <a:latin typeface="+mn-lt"/>
              </a:rPr>
              <a:t>new node</a:t>
            </a:r>
            <a:r>
              <a:rPr lang="en-CN" sz="1800" b="0" i="1" spc="12" dirty="0">
                <a:solidFill>
                  <a:schemeClr val="tx1"/>
                </a:solidFill>
                <a:effectLst/>
                <a:latin typeface="+mn-lt"/>
              </a:rPr>
              <a:t> the last element in the list.</a:t>
            </a:r>
            <a:endParaRPr lang="en-CN" dirty="0"/>
          </a:p>
        </p:txBody>
      </p:sp>
      <p:pic>
        <p:nvPicPr>
          <p:cNvPr id="7" name="Picture 6">
            <a:extLst>
              <a:ext uri="{FF2B5EF4-FFF2-40B4-BE49-F238E27FC236}">
                <a16:creationId xmlns:a16="http://schemas.microsoft.com/office/drawing/2014/main" id="{67216859-2C64-EAE8-BF72-1BEAFC9B6FBC}"/>
              </a:ext>
            </a:extLst>
          </p:cNvPr>
          <p:cNvPicPr>
            <a:picLocks noChangeAspect="1"/>
          </p:cNvPicPr>
          <p:nvPr/>
        </p:nvPicPr>
        <p:blipFill>
          <a:blip r:embed="rId2"/>
          <a:stretch>
            <a:fillRect/>
          </a:stretch>
        </p:blipFill>
        <p:spPr>
          <a:xfrm>
            <a:off x="131524" y="1359500"/>
            <a:ext cx="6100174" cy="2360730"/>
          </a:xfrm>
          <a:prstGeom prst="rect">
            <a:avLst/>
          </a:prstGeom>
        </p:spPr>
      </p:pic>
      <p:pic>
        <p:nvPicPr>
          <p:cNvPr id="9" name="Picture 8">
            <a:extLst>
              <a:ext uri="{FF2B5EF4-FFF2-40B4-BE49-F238E27FC236}">
                <a16:creationId xmlns:a16="http://schemas.microsoft.com/office/drawing/2014/main" id="{F1769318-69C5-690A-B54C-64A2551BF56D}"/>
              </a:ext>
            </a:extLst>
          </p:cNvPr>
          <p:cNvPicPr>
            <a:picLocks noChangeAspect="1"/>
          </p:cNvPicPr>
          <p:nvPr/>
        </p:nvPicPr>
        <p:blipFill>
          <a:blip r:embed="rId3"/>
          <a:stretch>
            <a:fillRect/>
          </a:stretch>
        </p:blipFill>
        <p:spPr>
          <a:xfrm>
            <a:off x="6322797" y="1359500"/>
            <a:ext cx="5737679" cy="2360730"/>
          </a:xfrm>
          <a:prstGeom prst="rect">
            <a:avLst/>
          </a:prstGeom>
        </p:spPr>
      </p:pic>
      <p:pic>
        <p:nvPicPr>
          <p:cNvPr id="11" name="Picture 10">
            <a:extLst>
              <a:ext uri="{FF2B5EF4-FFF2-40B4-BE49-F238E27FC236}">
                <a16:creationId xmlns:a16="http://schemas.microsoft.com/office/drawing/2014/main" id="{86D741A1-0329-6831-E1DA-4CB4DA4142F9}"/>
              </a:ext>
            </a:extLst>
          </p:cNvPr>
          <p:cNvPicPr>
            <a:picLocks noChangeAspect="1"/>
          </p:cNvPicPr>
          <p:nvPr/>
        </p:nvPicPr>
        <p:blipFill>
          <a:blip r:embed="rId4"/>
          <a:stretch>
            <a:fillRect/>
          </a:stretch>
        </p:blipFill>
        <p:spPr>
          <a:xfrm>
            <a:off x="1926051" y="4020312"/>
            <a:ext cx="7772400" cy="2366949"/>
          </a:xfrm>
          <a:prstGeom prst="rect">
            <a:avLst/>
          </a:prstGeom>
        </p:spPr>
      </p:pic>
    </p:spTree>
    <p:extLst>
      <p:ext uri="{BB962C8B-B14F-4D97-AF65-F5344CB8AC3E}">
        <p14:creationId xmlns:p14="http://schemas.microsoft.com/office/powerpoint/2010/main" val="1378225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12F6A4-DEB9-D0CC-B3B2-03BF1AC7F5B2}"/>
              </a:ext>
            </a:extLst>
          </p:cNvPr>
          <p:cNvSpPr txBox="1"/>
          <p:nvPr/>
        </p:nvSpPr>
        <p:spPr>
          <a:xfrm>
            <a:off x="469726" y="663702"/>
            <a:ext cx="10340236" cy="3565079"/>
          </a:xfrm>
          <a:prstGeom prst="rect">
            <a:avLst/>
          </a:prstGeom>
          <a:noFill/>
        </p:spPr>
        <p:txBody>
          <a:bodyPr wrap="square">
            <a:spAutoFit/>
          </a:bodyPr>
          <a:lstStyle/>
          <a:p>
            <a:pPr marL="0" marR="0" indent="0" algn="l" rtl="0" fontAlgn="base">
              <a:spcAft>
                <a:spcPts val="750"/>
              </a:spcAft>
              <a:buNone/>
            </a:pPr>
            <a:r>
              <a:rPr lang="en-CN" sz="1800" b="0" i="0" spc="12" dirty="0">
                <a:solidFill>
                  <a:schemeClr val="tx1"/>
                </a:solidFill>
                <a:effectLst/>
                <a:latin typeface="+mn-lt"/>
              </a:rPr>
              <a:t>Following is the approach to add a new node at the end of the linked list:</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Create a new node and set its next pointer as NULL since it will be the last node.</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Store the head reference in a temporary variable</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If the Linked List is empty, make the new node as the head and return</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Else traverse till the last node</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Change the next pointer of the last node to point to the new node</a:t>
            </a:r>
            <a:endParaRPr lang="en-CN" sz="1800" b="0" i="0" spc="10" dirty="0">
              <a:solidFill>
                <a:schemeClr val="tx1"/>
              </a:solidFill>
              <a:effectLst/>
              <a:latin typeface="+mn-lt"/>
            </a:endParaRPr>
          </a:p>
          <a:p>
            <a:pPr>
              <a:buNone/>
            </a:pPr>
            <a:br>
              <a:rPr lang="en-CN" dirty="0"/>
            </a:br>
            <a:endParaRPr lang="en-CN" dirty="0"/>
          </a:p>
        </p:txBody>
      </p:sp>
    </p:spTree>
    <p:extLst>
      <p:ext uri="{BB962C8B-B14F-4D97-AF65-F5344CB8AC3E}">
        <p14:creationId xmlns:p14="http://schemas.microsoft.com/office/powerpoint/2010/main" val="715552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31BE98-94D7-0DDC-AF58-F3EA5DB1B729}"/>
              </a:ext>
            </a:extLst>
          </p:cNvPr>
          <p:cNvPicPr>
            <a:picLocks noChangeAspect="1"/>
          </p:cNvPicPr>
          <p:nvPr/>
        </p:nvPicPr>
        <p:blipFill>
          <a:blip r:embed="rId2"/>
          <a:stretch>
            <a:fillRect/>
          </a:stretch>
        </p:blipFill>
        <p:spPr>
          <a:xfrm>
            <a:off x="0" y="0"/>
            <a:ext cx="6610120" cy="6858000"/>
          </a:xfrm>
          <a:prstGeom prst="rect">
            <a:avLst/>
          </a:prstGeom>
        </p:spPr>
      </p:pic>
    </p:spTree>
    <p:extLst>
      <p:ext uri="{BB962C8B-B14F-4D97-AF65-F5344CB8AC3E}">
        <p14:creationId xmlns:p14="http://schemas.microsoft.com/office/powerpoint/2010/main" val="2792981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E0D205-D04D-CB90-D88B-1735ABE29033}"/>
              </a:ext>
            </a:extLst>
          </p:cNvPr>
          <p:cNvPicPr>
            <a:picLocks noChangeAspect="1"/>
          </p:cNvPicPr>
          <p:nvPr/>
        </p:nvPicPr>
        <p:blipFill>
          <a:blip r:embed="rId2"/>
          <a:stretch>
            <a:fillRect/>
          </a:stretch>
        </p:blipFill>
        <p:spPr>
          <a:xfrm>
            <a:off x="3460750" y="565150"/>
            <a:ext cx="5270500" cy="5727700"/>
          </a:xfrm>
          <a:prstGeom prst="rect">
            <a:avLst/>
          </a:prstGeom>
        </p:spPr>
      </p:pic>
    </p:spTree>
    <p:extLst>
      <p:ext uri="{BB962C8B-B14F-4D97-AF65-F5344CB8AC3E}">
        <p14:creationId xmlns:p14="http://schemas.microsoft.com/office/powerpoint/2010/main" val="3038625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E10F5-DF8F-EF36-11EB-B88F05CA0C59}"/>
              </a:ext>
            </a:extLst>
          </p:cNvPr>
          <p:cNvSpPr txBox="1"/>
          <p:nvPr/>
        </p:nvSpPr>
        <p:spPr>
          <a:xfrm>
            <a:off x="254695" y="883914"/>
            <a:ext cx="11194093" cy="1302921"/>
          </a:xfrm>
          <a:prstGeom prst="rect">
            <a:avLst/>
          </a:prstGeom>
          <a:noFill/>
        </p:spPr>
        <p:txBody>
          <a:bodyPr wrap="square">
            <a:spAutoFit/>
          </a:bodyPr>
          <a:lstStyle/>
          <a:p>
            <a:pPr marL="0" marR="0" indent="0" algn="l" rtl="0" fontAlgn="base">
              <a:spcBef>
                <a:spcPts val="750"/>
              </a:spcBef>
              <a:spcAft>
                <a:spcPts val="750"/>
              </a:spcAft>
              <a:buNone/>
            </a:pPr>
            <a:r>
              <a:rPr lang="en-CN" sz="1800" b="1" i="0" spc="10" dirty="0">
                <a:solidFill>
                  <a:schemeClr val="tx1"/>
                </a:solidFill>
                <a:effectLst/>
                <a:latin typeface="+mn-lt"/>
              </a:rPr>
              <a:t>Time Complexity:</a:t>
            </a:r>
            <a:r>
              <a:rPr lang="en-CN" sz="1800" b="0" i="0" spc="12" dirty="0">
                <a:solidFill>
                  <a:schemeClr val="tx1"/>
                </a:solidFill>
                <a:effectLst/>
                <a:latin typeface="+mn-lt"/>
              </a:rPr>
              <a:t> O(n) where n</a:t>
            </a:r>
            <a:r>
              <a:rPr lang="en-CN" sz="1800" b="1" i="0" spc="10" dirty="0">
                <a:solidFill>
                  <a:schemeClr val="tx1"/>
                </a:solidFill>
                <a:effectLst/>
                <a:latin typeface="+mn-lt"/>
              </a:rPr>
              <a:t> </a:t>
            </a:r>
            <a:r>
              <a:rPr lang="en-CN" sz="1800" b="0" i="0" spc="12" dirty="0">
                <a:solidFill>
                  <a:schemeClr val="tx1"/>
                </a:solidFill>
                <a:effectLst/>
                <a:latin typeface="+mn-lt"/>
              </a:rPr>
              <a:t>is the length of the linked list</a:t>
            </a:r>
            <a:br>
              <a:rPr lang="en-CN" sz="1800" b="0" i="0" spc="10" dirty="0">
                <a:solidFill>
                  <a:schemeClr val="tx1"/>
                </a:solidFill>
                <a:effectLst/>
                <a:latin typeface="+mn-lt"/>
              </a:rPr>
            </a:br>
            <a:r>
              <a:rPr lang="en-CN" sz="1800" b="1" i="0" spc="10" dirty="0">
                <a:solidFill>
                  <a:schemeClr val="tx1"/>
                </a:solidFill>
                <a:effectLst/>
                <a:latin typeface="+mn-lt"/>
              </a:rPr>
              <a:t>Auxiliary Space:</a:t>
            </a:r>
            <a:r>
              <a:rPr lang="en-CN" sz="1800" b="0" i="0" spc="12" dirty="0">
                <a:solidFill>
                  <a:schemeClr val="tx1"/>
                </a:solidFill>
                <a:effectLst/>
                <a:latin typeface="+mn-lt"/>
              </a:rPr>
              <a:t> O(1)</a:t>
            </a:r>
            <a:endParaRPr lang="en-CN" sz="1800" b="0" i="0" spc="10" dirty="0">
              <a:solidFill>
                <a:schemeClr val="tx1"/>
              </a:solidFill>
              <a:effectLst/>
              <a:latin typeface="+mn-lt"/>
            </a:endParaRPr>
          </a:p>
          <a:p>
            <a:pPr>
              <a:buNone/>
            </a:pPr>
            <a:br>
              <a:rPr lang="en-CN" dirty="0"/>
            </a:br>
            <a:endParaRPr lang="en-CN" dirty="0"/>
          </a:p>
        </p:txBody>
      </p:sp>
    </p:spTree>
    <p:extLst>
      <p:ext uri="{BB962C8B-B14F-4D97-AF65-F5344CB8AC3E}">
        <p14:creationId xmlns:p14="http://schemas.microsoft.com/office/powerpoint/2010/main" val="2860947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C56239-353F-F01C-67D2-B3C2B8CCEFCF}"/>
              </a:ext>
            </a:extLst>
          </p:cNvPr>
          <p:cNvSpPr txBox="1"/>
          <p:nvPr/>
        </p:nvSpPr>
        <p:spPr>
          <a:xfrm>
            <a:off x="4615841" y="0"/>
            <a:ext cx="3237978" cy="369332"/>
          </a:xfrm>
          <a:prstGeom prst="rect">
            <a:avLst/>
          </a:prstGeom>
          <a:noFill/>
        </p:spPr>
        <p:txBody>
          <a:bodyPr wrap="square">
            <a:spAutoFit/>
          </a:bodyPr>
          <a:lstStyle/>
          <a:p>
            <a:pPr marL="0" marR="0" indent="0" algn="l">
              <a:lnSpc>
                <a:spcPct val="100000"/>
              </a:lnSpc>
              <a:buNone/>
            </a:pPr>
            <a:r>
              <a:rPr lang="en-CN" sz="1800" b="1" i="0" dirty="0">
                <a:solidFill>
                  <a:schemeClr val="tx1"/>
                </a:solidFill>
                <a:effectLst/>
                <a:latin typeface="+mn-lt"/>
              </a:rPr>
              <a:t>Insert in a Singly Linked List</a:t>
            </a:r>
            <a:endParaRPr lang="en-CN" sz="2100" b="1" i="0" dirty="0">
              <a:solidFill>
                <a:srgbClr val="273239"/>
              </a:solidFill>
              <a:effectLst/>
              <a:latin typeface="Source Sans 3"/>
            </a:endParaRPr>
          </a:p>
        </p:txBody>
      </p:sp>
      <p:pic>
        <p:nvPicPr>
          <p:cNvPr id="5" name="Picture 4">
            <a:extLst>
              <a:ext uri="{FF2B5EF4-FFF2-40B4-BE49-F238E27FC236}">
                <a16:creationId xmlns:a16="http://schemas.microsoft.com/office/drawing/2014/main" id="{48814241-E886-8047-4928-87F880E372D8}"/>
              </a:ext>
            </a:extLst>
          </p:cNvPr>
          <p:cNvPicPr>
            <a:picLocks noChangeAspect="1"/>
          </p:cNvPicPr>
          <p:nvPr/>
        </p:nvPicPr>
        <p:blipFill>
          <a:blip r:embed="rId2"/>
          <a:stretch>
            <a:fillRect/>
          </a:stretch>
        </p:blipFill>
        <p:spPr>
          <a:xfrm>
            <a:off x="1966934" y="923881"/>
            <a:ext cx="7772400" cy="4814676"/>
          </a:xfrm>
          <a:prstGeom prst="rect">
            <a:avLst/>
          </a:prstGeom>
        </p:spPr>
      </p:pic>
    </p:spTree>
    <p:extLst>
      <p:ext uri="{BB962C8B-B14F-4D97-AF65-F5344CB8AC3E}">
        <p14:creationId xmlns:p14="http://schemas.microsoft.com/office/powerpoint/2010/main" val="331649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81331E-726A-F4A7-9B15-9B06318E9E10}"/>
              </a:ext>
            </a:extLst>
          </p:cNvPr>
          <p:cNvSpPr txBox="1"/>
          <p:nvPr/>
        </p:nvSpPr>
        <p:spPr>
          <a:xfrm>
            <a:off x="244258" y="297230"/>
            <a:ext cx="11793254" cy="646331"/>
          </a:xfrm>
          <a:prstGeom prst="rect">
            <a:avLst/>
          </a:prstGeom>
          <a:noFill/>
        </p:spPr>
        <p:txBody>
          <a:bodyPr wrap="square">
            <a:spAutoFit/>
          </a:bodyPr>
          <a:lstStyle/>
          <a:p>
            <a:r>
              <a:rPr lang="en-CN" sz="1800" b="0" i="1" spc="12" dirty="0">
                <a:solidFill>
                  <a:schemeClr val="tx1"/>
                </a:solidFill>
                <a:effectLst/>
                <a:latin typeface="+mn-lt"/>
              </a:rPr>
              <a:t>The idea is to create a new node, traverse to the node just before the given position, and update the links to insert the new node into the list.</a:t>
            </a:r>
            <a:endParaRPr lang="en-CN" dirty="0"/>
          </a:p>
        </p:txBody>
      </p:sp>
      <p:sp>
        <p:nvSpPr>
          <p:cNvPr id="5" name="TextBox 4">
            <a:extLst>
              <a:ext uri="{FF2B5EF4-FFF2-40B4-BE49-F238E27FC236}">
                <a16:creationId xmlns:a16="http://schemas.microsoft.com/office/drawing/2014/main" id="{A65582C3-207C-4FED-80CD-ED1B785C223C}"/>
              </a:ext>
            </a:extLst>
          </p:cNvPr>
          <p:cNvSpPr txBox="1"/>
          <p:nvPr/>
        </p:nvSpPr>
        <p:spPr>
          <a:xfrm>
            <a:off x="519829" y="1386652"/>
            <a:ext cx="10816225" cy="2400657"/>
          </a:xfrm>
          <a:prstGeom prst="rect">
            <a:avLst/>
          </a:prstGeom>
          <a:noFill/>
        </p:spPr>
        <p:txBody>
          <a:bodyPr wrap="square">
            <a:spAutoFit/>
          </a:bodyPr>
          <a:lstStyle/>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Initialize curr to head and create a new node with the given val.</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Traverse the linked list until curr reaches the node just before the given position.</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Set the new node's next link to curr's next node.</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Update curr's next link to the new node.</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Return the head of the modified linked list.</a:t>
            </a:r>
            <a:endParaRPr lang="en-CN" sz="1350" b="0" i="0" spc="10" dirty="0">
              <a:solidFill>
                <a:srgbClr val="273239"/>
              </a:solidFill>
              <a:effectLst/>
              <a:latin typeface="Nunito" pitchFamily="2" charset="77"/>
            </a:endParaRPr>
          </a:p>
        </p:txBody>
      </p:sp>
    </p:spTree>
    <p:extLst>
      <p:ext uri="{BB962C8B-B14F-4D97-AF65-F5344CB8AC3E}">
        <p14:creationId xmlns:p14="http://schemas.microsoft.com/office/powerpoint/2010/main" val="3045775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F79B0DD-2C63-4EE5-804F-B8E391FC1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37" y="0"/>
            <a:ext cx="12192000" cy="6858000"/>
          </a:xfrm>
          <a:prstGeom prst="rect">
            <a:avLst/>
          </a:prstGeom>
          <a:solidFill>
            <a:schemeClr val="bg1">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27DB8AB-CD55-4C8F-9043-52652B892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6"/>
            <a:ext cx="5364255" cy="2706794"/>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9D9D37A-1EA8-DB5F-37AE-93A7069CD585}"/>
              </a:ext>
            </a:extLst>
          </p:cNvPr>
          <p:cNvPicPr>
            <a:picLocks noChangeAspect="1"/>
          </p:cNvPicPr>
          <p:nvPr/>
        </p:nvPicPr>
        <p:blipFill>
          <a:blip r:embed="rId2"/>
          <a:stretch>
            <a:fillRect/>
          </a:stretch>
        </p:blipFill>
        <p:spPr>
          <a:xfrm>
            <a:off x="1179132" y="965200"/>
            <a:ext cx="4292287" cy="2060298"/>
          </a:xfrm>
          <a:prstGeom prst="rect">
            <a:avLst/>
          </a:prstGeom>
        </p:spPr>
      </p:pic>
      <p:sp>
        <p:nvSpPr>
          <p:cNvPr id="18" name="Rectangle 17">
            <a:extLst>
              <a:ext uri="{FF2B5EF4-FFF2-40B4-BE49-F238E27FC236}">
                <a16:creationId xmlns:a16="http://schemas.microsoft.com/office/drawing/2014/main" id="{53059C5A-91CB-4024-9B4E-20082E25C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8589" y="643466"/>
            <a:ext cx="5376806" cy="2706794"/>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A08A41D-C17C-04E2-C7AD-F146881B772C}"/>
              </a:ext>
            </a:extLst>
          </p:cNvPr>
          <p:cNvPicPr>
            <a:picLocks noChangeAspect="1"/>
          </p:cNvPicPr>
          <p:nvPr/>
        </p:nvPicPr>
        <p:blipFill>
          <a:blip r:embed="rId3"/>
          <a:stretch>
            <a:fillRect/>
          </a:stretch>
        </p:blipFill>
        <p:spPr>
          <a:xfrm>
            <a:off x="6664864" y="965200"/>
            <a:ext cx="4383614" cy="2060298"/>
          </a:xfrm>
          <a:prstGeom prst="rect">
            <a:avLst/>
          </a:prstGeom>
        </p:spPr>
      </p:pic>
      <p:sp>
        <p:nvSpPr>
          <p:cNvPr id="20" name="Rectangle 19">
            <a:extLst>
              <a:ext uri="{FF2B5EF4-FFF2-40B4-BE49-F238E27FC236}">
                <a16:creationId xmlns:a16="http://schemas.microsoft.com/office/drawing/2014/main" id="{184884BF-A898-4EFF-9504-E13EBE3FF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3514513"/>
            <a:ext cx="5364255" cy="2703406"/>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898D036-2018-8094-1BFE-A2F0B262ED69}"/>
              </a:ext>
            </a:extLst>
          </p:cNvPr>
          <p:cNvPicPr>
            <a:picLocks noChangeAspect="1"/>
          </p:cNvPicPr>
          <p:nvPr/>
        </p:nvPicPr>
        <p:blipFill>
          <a:blip r:embed="rId4"/>
          <a:stretch>
            <a:fillRect/>
          </a:stretch>
        </p:blipFill>
        <p:spPr>
          <a:xfrm>
            <a:off x="1068127" y="3836247"/>
            <a:ext cx="4528129" cy="2060298"/>
          </a:xfrm>
          <a:prstGeom prst="rect">
            <a:avLst/>
          </a:prstGeom>
        </p:spPr>
      </p:pic>
      <p:sp>
        <p:nvSpPr>
          <p:cNvPr id="22" name="Rectangle 21">
            <a:extLst>
              <a:ext uri="{FF2B5EF4-FFF2-40B4-BE49-F238E27FC236}">
                <a16:creationId xmlns:a16="http://schemas.microsoft.com/office/drawing/2014/main" id="{7B32D337-FDA6-4468-ADB1-7038E5FC0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8589" y="3514513"/>
            <a:ext cx="5376806" cy="2706794"/>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00385A0-9F07-1E15-C2E2-17BA0A6344F3}"/>
              </a:ext>
            </a:extLst>
          </p:cNvPr>
          <p:cNvPicPr>
            <a:picLocks noChangeAspect="1"/>
          </p:cNvPicPr>
          <p:nvPr/>
        </p:nvPicPr>
        <p:blipFill>
          <a:blip r:embed="rId5"/>
          <a:stretch>
            <a:fillRect/>
          </a:stretch>
        </p:blipFill>
        <p:spPr>
          <a:xfrm>
            <a:off x="6489680" y="4067537"/>
            <a:ext cx="4733982" cy="1597718"/>
          </a:xfrm>
          <a:prstGeom prst="rect">
            <a:avLst/>
          </a:prstGeom>
        </p:spPr>
      </p:pic>
    </p:spTree>
    <p:extLst>
      <p:ext uri="{BB962C8B-B14F-4D97-AF65-F5344CB8AC3E}">
        <p14:creationId xmlns:p14="http://schemas.microsoft.com/office/powerpoint/2010/main" val="16139033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7B7DEB-F664-D753-71F8-E1B29A47212B}"/>
              </a:ext>
            </a:extLst>
          </p:cNvPr>
          <p:cNvPicPr>
            <a:picLocks noChangeAspect="1"/>
          </p:cNvPicPr>
          <p:nvPr/>
        </p:nvPicPr>
        <p:blipFill>
          <a:blip r:embed="rId2"/>
          <a:stretch>
            <a:fillRect/>
          </a:stretch>
        </p:blipFill>
        <p:spPr>
          <a:xfrm>
            <a:off x="3318710" y="0"/>
            <a:ext cx="5554579" cy="6858000"/>
          </a:xfrm>
          <a:prstGeom prst="rect">
            <a:avLst/>
          </a:prstGeom>
        </p:spPr>
      </p:pic>
    </p:spTree>
    <p:extLst>
      <p:ext uri="{BB962C8B-B14F-4D97-AF65-F5344CB8AC3E}">
        <p14:creationId xmlns:p14="http://schemas.microsoft.com/office/powerpoint/2010/main" val="3111693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C02ABF-E33D-963B-B460-40F7E6427836}"/>
              </a:ext>
            </a:extLst>
          </p:cNvPr>
          <p:cNvPicPr>
            <a:picLocks noChangeAspect="1"/>
          </p:cNvPicPr>
          <p:nvPr/>
        </p:nvPicPr>
        <p:blipFill>
          <a:blip r:embed="rId2"/>
          <a:stretch>
            <a:fillRect/>
          </a:stretch>
        </p:blipFill>
        <p:spPr>
          <a:xfrm>
            <a:off x="3790950" y="863600"/>
            <a:ext cx="4610100" cy="5130800"/>
          </a:xfrm>
          <a:prstGeom prst="rect">
            <a:avLst/>
          </a:prstGeom>
        </p:spPr>
      </p:pic>
    </p:spTree>
    <p:extLst>
      <p:ext uri="{BB962C8B-B14F-4D97-AF65-F5344CB8AC3E}">
        <p14:creationId xmlns:p14="http://schemas.microsoft.com/office/powerpoint/2010/main" val="308707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6DE3E4-BAB1-6C4B-B309-162A07EC0466}"/>
              </a:ext>
            </a:extLst>
          </p:cNvPr>
          <p:cNvSpPr txBox="1"/>
          <p:nvPr/>
        </p:nvSpPr>
        <p:spPr>
          <a:xfrm>
            <a:off x="3148209" y="188327"/>
            <a:ext cx="7523966" cy="369332"/>
          </a:xfrm>
          <a:prstGeom prst="rect">
            <a:avLst/>
          </a:prstGeom>
          <a:noFill/>
        </p:spPr>
        <p:txBody>
          <a:bodyPr wrap="square">
            <a:spAutoFit/>
          </a:bodyPr>
          <a:lstStyle/>
          <a:p>
            <a:pPr marL="0" marR="0" indent="0" algn="l">
              <a:lnSpc>
                <a:spcPct val="100000"/>
              </a:lnSpc>
              <a:buNone/>
            </a:pPr>
            <a:r>
              <a:rPr lang="en-CN" sz="1800" b="1" i="0" dirty="0">
                <a:solidFill>
                  <a:schemeClr val="tx1"/>
                </a:solidFill>
                <a:effectLst/>
                <a:latin typeface="+mn-lt"/>
              </a:rPr>
              <a:t>Deletion at beginning (Removal of first node) in a Linked List</a:t>
            </a:r>
            <a:endParaRPr lang="en-CN" sz="2100" b="1" i="0" dirty="0">
              <a:solidFill>
                <a:srgbClr val="273239"/>
              </a:solidFill>
              <a:effectLst/>
              <a:latin typeface="Source Sans 3"/>
            </a:endParaRPr>
          </a:p>
        </p:txBody>
      </p:sp>
      <p:pic>
        <p:nvPicPr>
          <p:cNvPr id="5" name="Picture 4">
            <a:extLst>
              <a:ext uri="{FF2B5EF4-FFF2-40B4-BE49-F238E27FC236}">
                <a16:creationId xmlns:a16="http://schemas.microsoft.com/office/drawing/2014/main" id="{E2D04715-CE0C-A5EC-FB50-27F5F7C64723}"/>
              </a:ext>
            </a:extLst>
          </p:cNvPr>
          <p:cNvPicPr>
            <a:picLocks noChangeAspect="1"/>
          </p:cNvPicPr>
          <p:nvPr/>
        </p:nvPicPr>
        <p:blipFill>
          <a:blip r:embed="rId2"/>
          <a:stretch>
            <a:fillRect/>
          </a:stretch>
        </p:blipFill>
        <p:spPr>
          <a:xfrm>
            <a:off x="2079216" y="557659"/>
            <a:ext cx="7772400" cy="6067425"/>
          </a:xfrm>
          <a:prstGeom prst="rect">
            <a:avLst/>
          </a:prstGeom>
        </p:spPr>
      </p:pic>
    </p:spTree>
    <p:extLst>
      <p:ext uri="{BB962C8B-B14F-4D97-AF65-F5344CB8AC3E}">
        <p14:creationId xmlns:p14="http://schemas.microsoft.com/office/powerpoint/2010/main" val="4105548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69F906-AC79-EAE5-C41A-9F539022479A}"/>
              </a:ext>
            </a:extLst>
          </p:cNvPr>
          <p:cNvSpPr txBox="1"/>
          <p:nvPr/>
        </p:nvSpPr>
        <p:spPr>
          <a:xfrm>
            <a:off x="219205" y="443739"/>
            <a:ext cx="11004116" cy="1154162"/>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CN" sz="1800" b="1" i="0" spc="10" dirty="0">
                <a:solidFill>
                  <a:schemeClr val="tx1"/>
                </a:solidFill>
                <a:effectLst/>
                <a:latin typeface="+mn-lt"/>
              </a:rPr>
              <a:t>By Shifting head node to next node of head - O(1) Time and O(1) Space</a:t>
            </a:r>
            <a:endParaRPr lang="en-CN" sz="1800" b="1" i="0" spc="0" dirty="0">
              <a:solidFill>
                <a:schemeClr val="tx1"/>
              </a:solidFill>
              <a:effectLst/>
              <a:latin typeface="+mn-lt"/>
            </a:endParaRPr>
          </a:p>
          <a:p>
            <a:pPr>
              <a:buNone/>
            </a:pPr>
            <a:br>
              <a:rPr lang="en-CN" dirty="0"/>
            </a:br>
            <a:endParaRPr lang="en-CN" dirty="0"/>
          </a:p>
        </p:txBody>
      </p:sp>
      <p:sp>
        <p:nvSpPr>
          <p:cNvPr id="5" name="TextBox 4">
            <a:extLst>
              <a:ext uri="{FF2B5EF4-FFF2-40B4-BE49-F238E27FC236}">
                <a16:creationId xmlns:a16="http://schemas.microsoft.com/office/drawing/2014/main" id="{67AEF371-56DE-BB30-1996-6FDF85F60FFC}"/>
              </a:ext>
            </a:extLst>
          </p:cNvPr>
          <p:cNvSpPr txBox="1"/>
          <p:nvPr/>
        </p:nvSpPr>
        <p:spPr>
          <a:xfrm>
            <a:off x="93945" y="1020820"/>
            <a:ext cx="11878850" cy="646331"/>
          </a:xfrm>
          <a:prstGeom prst="rect">
            <a:avLst/>
          </a:prstGeom>
          <a:noFill/>
        </p:spPr>
        <p:txBody>
          <a:bodyPr wrap="square">
            <a:spAutoFit/>
          </a:bodyPr>
          <a:lstStyle/>
          <a:p>
            <a:r>
              <a:rPr lang="en-CN" sz="1800" b="0" i="1" spc="12" dirty="0">
                <a:solidFill>
                  <a:schemeClr val="tx1"/>
                </a:solidFill>
                <a:effectLst/>
                <a:latin typeface="+mn-lt"/>
              </a:rPr>
              <a:t>To remove the first node of a </a:t>
            </a:r>
            <a:r>
              <a:rPr lang="en-CN" sz="1800" b="1" i="1" spc="10" dirty="0">
                <a:solidFill>
                  <a:schemeClr val="tx1"/>
                </a:solidFill>
                <a:effectLst/>
                <a:latin typeface="+mn-lt"/>
              </a:rPr>
              <a:t>linked list</a:t>
            </a:r>
            <a:r>
              <a:rPr lang="en-CN" sz="1800" b="0" i="1" spc="12" dirty="0">
                <a:solidFill>
                  <a:schemeClr val="tx1"/>
                </a:solidFill>
                <a:effectLst/>
                <a:latin typeface="+mn-lt"/>
              </a:rPr>
              <a:t>, store the current </a:t>
            </a:r>
            <a:r>
              <a:rPr lang="en-CN" sz="1800" b="1" i="1" spc="10" dirty="0">
                <a:solidFill>
                  <a:schemeClr val="tx1"/>
                </a:solidFill>
                <a:effectLst/>
                <a:latin typeface="+mn-lt"/>
              </a:rPr>
              <a:t>head</a:t>
            </a:r>
            <a:r>
              <a:rPr lang="en-CN" sz="1800" b="0" i="1" spc="12" dirty="0">
                <a:solidFill>
                  <a:schemeClr val="tx1"/>
                </a:solidFill>
                <a:effectLst/>
                <a:latin typeface="+mn-lt"/>
              </a:rPr>
              <a:t> in a temporary variable </a:t>
            </a:r>
            <a:r>
              <a:rPr lang="en-CN" sz="1800" b="1" i="1" spc="10" dirty="0">
                <a:solidFill>
                  <a:schemeClr val="tx1"/>
                </a:solidFill>
                <a:effectLst/>
                <a:latin typeface="+mn-lt"/>
              </a:rPr>
              <a:t>(temp)</a:t>
            </a:r>
            <a:r>
              <a:rPr lang="en-CN" sz="1800" b="0" i="1" spc="12" dirty="0">
                <a:solidFill>
                  <a:schemeClr val="tx1"/>
                </a:solidFill>
                <a:effectLst/>
                <a:latin typeface="+mn-lt"/>
              </a:rPr>
              <a:t>, move the </a:t>
            </a:r>
            <a:r>
              <a:rPr lang="en-CN" sz="1800" b="1" i="1" spc="10" dirty="0">
                <a:solidFill>
                  <a:schemeClr val="tx1"/>
                </a:solidFill>
                <a:effectLst/>
                <a:latin typeface="+mn-lt"/>
              </a:rPr>
              <a:t>head </a:t>
            </a:r>
            <a:r>
              <a:rPr lang="en-CN" sz="1800" b="0" i="1" spc="12" dirty="0">
                <a:solidFill>
                  <a:schemeClr val="tx1"/>
                </a:solidFill>
                <a:effectLst/>
                <a:latin typeface="+mn-lt"/>
              </a:rPr>
              <a:t>pointer to the next node, </a:t>
            </a:r>
            <a:r>
              <a:rPr lang="en-CN" sz="1800" b="1" i="1" spc="10" dirty="0">
                <a:solidFill>
                  <a:schemeClr val="tx1"/>
                </a:solidFill>
                <a:effectLst/>
                <a:latin typeface="+mn-lt"/>
              </a:rPr>
              <a:t>delete</a:t>
            </a:r>
            <a:r>
              <a:rPr lang="en-CN" sz="1800" b="0" i="1" spc="12" dirty="0">
                <a:solidFill>
                  <a:schemeClr val="tx1"/>
                </a:solidFill>
                <a:effectLst/>
                <a:latin typeface="+mn-lt"/>
              </a:rPr>
              <a:t> the temporary </a:t>
            </a:r>
            <a:r>
              <a:rPr lang="en-CN" sz="1800" b="1" i="1" spc="10" dirty="0">
                <a:solidFill>
                  <a:schemeClr val="tx1"/>
                </a:solidFill>
                <a:effectLst/>
                <a:latin typeface="+mn-lt"/>
              </a:rPr>
              <a:t>head</a:t>
            </a:r>
            <a:r>
              <a:rPr lang="en-CN" sz="1800" b="0" i="1" spc="12" dirty="0">
                <a:solidFill>
                  <a:schemeClr val="tx1"/>
                </a:solidFill>
                <a:effectLst/>
                <a:latin typeface="+mn-lt"/>
              </a:rPr>
              <a:t> node and finally , return the new </a:t>
            </a:r>
            <a:r>
              <a:rPr lang="en-CN" sz="1800" b="1" i="1" spc="10" dirty="0">
                <a:solidFill>
                  <a:schemeClr val="tx1"/>
                </a:solidFill>
                <a:effectLst/>
                <a:latin typeface="+mn-lt"/>
              </a:rPr>
              <a:t>head</a:t>
            </a:r>
            <a:r>
              <a:rPr lang="en-CN" sz="1800" b="0" i="1" spc="12" dirty="0">
                <a:solidFill>
                  <a:schemeClr val="tx1"/>
                </a:solidFill>
                <a:effectLst/>
                <a:latin typeface="+mn-lt"/>
              </a:rPr>
              <a:t> of the linked list.</a:t>
            </a:r>
            <a:endParaRPr lang="en-CN" dirty="0"/>
          </a:p>
        </p:txBody>
      </p:sp>
      <p:pic>
        <p:nvPicPr>
          <p:cNvPr id="7" name="Picture 6">
            <a:extLst>
              <a:ext uri="{FF2B5EF4-FFF2-40B4-BE49-F238E27FC236}">
                <a16:creationId xmlns:a16="http://schemas.microsoft.com/office/drawing/2014/main" id="{964D7F4A-C56E-29B2-0FEC-DAE200630FE5}"/>
              </a:ext>
            </a:extLst>
          </p:cNvPr>
          <p:cNvPicPr>
            <a:picLocks noChangeAspect="1"/>
          </p:cNvPicPr>
          <p:nvPr/>
        </p:nvPicPr>
        <p:blipFill>
          <a:blip r:embed="rId2"/>
          <a:stretch>
            <a:fillRect/>
          </a:stretch>
        </p:blipFill>
        <p:spPr>
          <a:xfrm>
            <a:off x="219205" y="1826713"/>
            <a:ext cx="4891414" cy="1968674"/>
          </a:xfrm>
          <a:prstGeom prst="rect">
            <a:avLst/>
          </a:prstGeom>
        </p:spPr>
      </p:pic>
      <p:pic>
        <p:nvPicPr>
          <p:cNvPr id="9" name="Picture 8">
            <a:extLst>
              <a:ext uri="{FF2B5EF4-FFF2-40B4-BE49-F238E27FC236}">
                <a16:creationId xmlns:a16="http://schemas.microsoft.com/office/drawing/2014/main" id="{9102C407-9413-81FF-6F13-A47C36B9245D}"/>
              </a:ext>
            </a:extLst>
          </p:cNvPr>
          <p:cNvPicPr>
            <a:picLocks noChangeAspect="1"/>
          </p:cNvPicPr>
          <p:nvPr/>
        </p:nvPicPr>
        <p:blipFill>
          <a:blip r:embed="rId3"/>
          <a:stretch>
            <a:fillRect/>
          </a:stretch>
        </p:blipFill>
        <p:spPr>
          <a:xfrm>
            <a:off x="5721263" y="1667152"/>
            <a:ext cx="5887357" cy="2237192"/>
          </a:xfrm>
          <a:prstGeom prst="rect">
            <a:avLst/>
          </a:prstGeom>
        </p:spPr>
      </p:pic>
      <p:pic>
        <p:nvPicPr>
          <p:cNvPr id="11" name="Picture 10">
            <a:extLst>
              <a:ext uri="{FF2B5EF4-FFF2-40B4-BE49-F238E27FC236}">
                <a16:creationId xmlns:a16="http://schemas.microsoft.com/office/drawing/2014/main" id="{64F7CEF7-72A8-435C-281C-091B6FF28A4A}"/>
              </a:ext>
            </a:extLst>
          </p:cNvPr>
          <p:cNvPicPr>
            <a:picLocks noChangeAspect="1"/>
          </p:cNvPicPr>
          <p:nvPr/>
        </p:nvPicPr>
        <p:blipFill>
          <a:blip r:embed="rId4"/>
          <a:stretch>
            <a:fillRect/>
          </a:stretch>
        </p:blipFill>
        <p:spPr>
          <a:xfrm>
            <a:off x="2209800" y="4238171"/>
            <a:ext cx="7772400" cy="2444141"/>
          </a:xfrm>
          <a:prstGeom prst="rect">
            <a:avLst/>
          </a:prstGeom>
        </p:spPr>
      </p:pic>
    </p:spTree>
    <p:extLst>
      <p:ext uri="{BB962C8B-B14F-4D97-AF65-F5344CB8AC3E}">
        <p14:creationId xmlns:p14="http://schemas.microsoft.com/office/powerpoint/2010/main" val="26023905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E270B14-86B4-E522-F51C-2C683182CE8E}"/>
              </a:ext>
            </a:extLst>
          </p:cNvPr>
          <p:cNvPicPr>
            <a:picLocks noChangeAspect="1"/>
          </p:cNvPicPr>
          <p:nvPr/>
        </p:nvPicPr>
        <p:blipFill>
          <a:blip r:embed="rId2"/>
          <a:stretch>
            <a:fillRect/>
          </a:stretch>
        </p:blipFill>
        <p:spPr>
          <a:xfrm>
            <a:off x="3491528" y="643467"/>
            <a:ext cx="5208944"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15468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98D15-24E6-1397-7473-7E1ECA4C4CAE}"/>
              </a:ext>
            </a:extLst>
          </p:cNvPr>
          <p:cNvPicPr>
            <a:picLocks noChangeAspect="1"/>
          </p:cNvPicPr>
          <p:nvPr/>
        </p:nvPicPr>
        <p:blipFill>
          <a:blip r:embed="rId2"/>
          <a:stretch>
            <a:fillRect/>
          </a:stretch>
        </p:blipFill>
        <p:spPr>
          <a:xfrm>
            <a:off x="3491109" y="193712"/>
            <a:ext cx="5410200" cy="5588000"/>
          </a:xfrm>
          <a:prstGeom prst="rect">
            <a:avLst/>
          </a:prstGeom>
        </p:spPr>
      </p:pic>
      <p:sp>
        <p:nvSpPr>
          <p:cNvPr id="7" name="TextBox 6">
            <a:extLst>
              <a:ext uri="{FF2B5EF4-FFF2-40B4-BE49-F238E27FC236}">
                <a16:creationId xmlns:a16="http://schemas.microsoft.com/office/drawing/2014/main" id="{24FD40EC-C51F-2C3E-6667-F4E69668F2D8}"/>
              </a:ext>
            </a:extLst>
          </p:cNvPr>
          <p:cNvSpPr txBox="1"/>
          <p:nvPr/>
        </p:nvSpPr>
        <p:spPr>
          <a:xfrm>
            <a:off x="0" y="6017957"/>
            <a:ext cx="11937304" cy="646331"/>
          </a:xfrm>
          <a:prstGeom prst="rect">
            <a:avLst/>
          </a:prstGeom>
          <a:noFill/>
        </p:spPr>
        <p:txBody>
          <a:bodyPr wrap="square">
            <a:spAutoFit/>
          </a:bodyPr>
          <a:lstStyle/>
          <a:p>
            <a:r>
              <a:rPr lang="en-CN" sz="1800" b="1" i="0" spc="10" dirty="0">
                <a:solidFill>
                  <a:schemeClr val="tx1"/>
                </a:solidFill>
                <a:effectLst/>
                <a:latin typeface="+mn-lt"/>
              </a:rPr>
              <a:t>Time Complexity: </a:t>
            </a:r>
            <a:r>
              <a:rPr lang="en-CN" sz="1800" b="0" i="0" spc="12" dirty="0">
                <a:solidFill>
                  <a:schemeClr val="tx1"/>
                </a:solidFill>
                <a:effectLst/>
                <a:latin typeface="+mn-lt"/>
              </a:rPr>
              <a:t>O(1), because the operation to delete the head node is performed in constant time.</a:t>
            </a:r>
            <a:br>
              <a:rPr lang="en-CN" dirty="0"/>
            </a:br>
            <a:r>
              <a:rPr lang="en-CN" sz="1800" b="1" i="0" spc="10" dirty="0">
                <a:solidFill>
                  <a:schemeClr val="tx1"/>
                </a:solidFill>
                <a:effectLst/>
                <a:latin typeface="+mn-lt"/>
              </a:rPr>
              <a:t>Space Complexity:</a:t>
            </a:r>
            <a:r>
              <a:rPr lang="en-CN" sz="1800" b="0" i="0" spc="12" dirty="0">
                <a:solidFill>
                  <a:schemeClr val="tx1"/>
                </a:solidFill>
                <a:effectLst/>
                <a:latin typeface="+mn-lt"/>
              </a:rPr>
              <a:t> O(1)</a:t>
            </a:r>
            <a:endParaRPr lang="en-CN" dirty="0"/>
          </a:p>
        </p:txBody>
      </p:sp>
    </p:spTree>
    <p:extLst>
      <p:ext uri="{BB962C8B-B14F-4D97-AF65-F5344CB8AC3E}">
        <p14:creationId xmlns:p14="http://schemas.microsoft.com/office/powerpoint/2010/main" val="38582682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0ABD2F-43EF-6CF4-D03D-9E7A4E9B6EA7}"/>
              </a:ext>
            </a:extLst>
          </p:cNvPr>
          <p:cNvSpPr txBox="1"/>
          <p:nvPr/>
        </p:nvSpPr>
        <p:spPr>
          <a:xfrm>
            <a:off x="3488499" y="112674"/>
            <a:ext cx="6100174" cy="751681"/>
          </a:xfrm>
          <a:prstGeom prst="rect">
            <a:avLst/>
          </a:prstGeom>
          <a:noFill/>
        </p:spPr>
        <p:txBody>
          <a:bodyPr wrap="square">
            <a:spAutoFit/>
          </a:bodyPr>
          <a:lstStyle/>
          <a:p>
            <a:pPr marL="0" marR="0" indent="0" algn="l">
              <a:lnSpc>
                <a:spcPct val="100000"/>
              </a:lnSpc>
              <a:buNone/>
            </a:pPr>
            <a:r>
              <a:rPr lang="en-CN" sz="1800" b="1" i="0" dirty="0">
                <a:solidFill>
                  <a:schemeClr val="tx1"/>
                </a:solidFill>
                <a:effectLst/>
                <a:latin typeface="+mn-lt"/>
              </a:rPr>
              <a:t>Deletion at end (Removal of last node) in a Linked List</a:t>
            </a:r>
            <a:endParaRPr lang="en-CN" sz="2100" b="1" i="0" dirty="0">
              <a:solidFill>
                <a:srgbClr val="273239"/>
              </a:solidFill>
              <a:effectLst/>
              <a:latin typeface="Source Sans 3"/>
            </a:endParaRPr>
          </a:p>
        </p:txBody>
      </p:sp>
      <p:pic>
        <p:nvPicPr>
          <p:cNvPr id="7" name="Picture 6">
            <a:extLst>
              <a:ext uri="{FF2B5EF4-FFF2-40B4-BE49-F238E27FC236}">
                <a16:creationId xmlns:a16="http://schemas.microsoft.com/office/drawing/2014/main" id="{E6DB3E98-46BE-E5BB-7F0B-5C12E50E7DC2}"/>
              </a:ext>
            </a:extLst>
          </p:cNvPr>
          <p:cNvPicPr>
            <a:picLocks noChangeAspect="1"/>
          </p:cNvPicPr>
          <p:nvPr/>
        </p:nvPicPr>
        <p:blipFill>
          <a:blip r:embed="rId2"/>
          <a:stretch>
            <a:fillRect/>
          </a:stretch>
        </p:blipFill>
        <p:spPr>
          <a:xfrm>
            <a:off x="2374505" y="626302"/>
            <a:ext cx="7772400" cy="5843693"/>
          </a:xfrm>
          <a:prstGeom prst="rect">
            <a:avLst/>
          </a:prstGeom>
        </p:spPr>
      </p:pic>
    </p:spTree>
    <p:extLst>
      <p:ext uri="{BB962C8B-B14F-4D97-AF65-F5344CB8AC3E}">
        <p14:creationId xmlns:p14="http://schemas.microsoft.com/office/powerpoint/2010/main" val="270975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71304D-A991-16E0-CFB1-E0CD57993FE4}"/>
              </a:ext>
            </a:extLst>
          </p:cNvPr>
          <p:cNvSpPr txBox="1"/>
          <p:nvPr/>
        </p:nvSpPr>
        <p:spPr>
          <a:xfrm>
            <a:off x="156576" y="125531"/>
            <a:ext cx="2736936" cy="369332"/>
          </a:xfrm>
          <a:prstGeom prst="rect">
            <a:avLst/>
          </a:prstGeom>
          <a:noFill/>
        </p:spPr>
        <p:txBody>
          <a:bodyPr wrap="square">
            <a:spAutoFit/>
          </a:bodyPr>
          <a:lstStyle/>
          <a:p>
            <a:r>
              <a:rPr lang="en-CN" sz="1800" b="1" i="0" spc="10" dirty="0">
                <a:solidFill>
                  <a:schemeClr val="tx1"/>
                </a:solidFill>
                <a:effectLst/>
                <a:latin typeface="+mn-lt"/>
              </a:rPr>
              <a:t>Approach:</a:t>
            </a:r>
            <a:endParaRPr lang="en-CN" dirty="0"/>
          </a:p>
        </p:txBody>
      </p:sp>
      <p:sp>
        <p:nvSpPr>
          <p:cNvPr id="5" name="TextBox 4">
            <a:extLst>
              <a:ext uri="{FF2B5EF4-FFF2-40B4-BE49-F238E27FC236}">
                <a16:creationId xmlns:a16="http://schemas.microsoft.com/office/drawing/2014/main" id="{5CFB34F8-6916-2CD0-C376-8E41A7C1A9AD}"/>
              </a:ext>
            </a:extLst>
          </p:cNvPr>
          <p:cNvSpPr txBox="1"/>
          <p:nvPr/>
        </p:nvSpPr>
        <p:spPr>
          <a:xfrm>
            <a:off x="156576" y="803464"/>
            <a:ext cx="11680520" cy="923330"/>
          </a:xfrm>
          <a:prstGeom prst="rect">
            <a:avLst/>
          </a:prstGeom>
          <a:noFill/>
        </p:spPr>
        <p:txBody>
          <a:bodyPr wrap="square">
            <a:spAutoFit/>
          </a:bodyPr>
          <a:lstStyle/>
          <a:p>
            <a:r>
              <a:rPr lang="en-CN" sz="1800" b="0" i="1" spc="12" dirty="0">
                <a:solidFill>
                  <a:schemeClr val="tx1"/>
                </a:solidFill>
                <a:effectLst/>
                <a:latin typeface="+mn-lt"/>
              </a:rPr>
              <a:t>To perform the deletion operation at the end of linked list, we need to traverse the list to find the </a:t>
            </a:r>
            <a:r>
              <a:rPr lang="en-CN" sz="1800" b="1" i="1" spc="10" dirty="0">
                <a:solidFill>
                  <a:schemeClr val="tx1"/>
                </a:solidFill>
                <a:effectLst/>
                <a:latin typeface="+mn-lt"/>
              </a:rPr>
              <a:t>second last node</a:t>
            </a:r>
            <a:r>
              <a:rPr lang="en-CN" sz="1800" b="0" i="1" spc="12" dirty="0">
                <a:solidFill>
                  <a:schemeClr val="tx1"/>
                </a:solidFill>
                <a:effectLst/>
                <a:latin typeface="+mn-lt"/>
              </a:rPr>
              <a:t>, then set its next pointer to </a:t>
            </a:r>
            <a:r>
              <a:rPr lang="en-CN" sz="1800" b="1" i="1" spc="10" dirty="0">
                <a:solidFill>
                  <a:schemeClr val="tx1"/>
                </a:solidFill>
                <a:effectLst/>
                <a:latin typeface="+mn-lt"/>
              </a:rPr>
              <a:t>null</a:t>
            </a:r>
            <a:r>
              <a:rPr lang="en-CN" sz="1800" b="0" i="1" spc="12" dirty="0">
                <a:solidFill>
                  <a:schemeClr val="tx1"/>
                </a:solidFill>
                <a:effectLst/>
                <a:latin typeface="+mn-lt"/>
              </a:rPr>
              <a:t>. If the list is empty then there is no node to delete or has only one node then point </a:t>
            </a:r>
            <a:r>
              <a:rPr lang="en-CN" sz="1800" b="1" i="1" spc="10" dirty="0">
                <a:solidFill>
                  <a:schemeClr val="tx1"/>
                </a:solidFill>
                <a:effectLst/>
                <a:latin typeface="+mn-lt"/>
              </a:rPr>
              <a:t>head </a:t>
            </a:r>
            <a:r>
              <a:rPr lang="en-CN" sz="1800" b="0" i="1" spc="12" dirty="0">
                <a:solidFill>
                  <a:schemeClr val="tx1"/>
                </a:solidFill>
                <a:effectLst/>
                <a:latin typeface="+mn-lt"/>
              </a:rPr>
              <a:t>to </a:t>
            </a:r>
            <a:r>
              <a:rPr lang="en-CN" sz="1800" b="1" i="1" spc="10" dirty="0">
                <a:solidFill>
                  <a:schemeClr val="tx1"/>
                </a:solidFill>
                <a:effectLst/>
                <a:latin typeface="+mn-lt"/>
              </a:rPr>
              <a:t>null</a:t>
            </a:r>
            <a:r>
              <a:rPr lang="en-CN" sz="1800" b="0" i="1" spc="12" dirty="0">
                <a:solidFill>
                  <a:schemeClr val="tx1"/>
                </a:solidFill>
                <a:effectLst/>
                <a:latin typeface="+mn-lt"/>
              </a:rPr>
              <a:t>.</a:t>
            </a:r>
            <a:endParaRPr lang="en-CN" dirty="0"/>
          </a:p>
        </p:txBody>
      </p:sp>
      <p:pic>
        <p:nvPicPr>
          <p:cNvPr id="7" name="Picture 6">
            <a:extLst>
              <a:ext uri="{FF2B5EF4-FFF2-40B4-BE49-F238E27FC236}">
                <a16:creationId xmlns:a16="http://schemas.microsoft.com/office/drawing/2014/main" id="{F9EC18B8-075E-3D7D-6D11-F240A4DEB57C}"/>
              </a:ext>
            </a:extLst>
          </p:cNvPr>
          <p:cNvPicPr>
            <a:picLocks noChangeAspect="1"/>
          </p:cNvPicPr>
          <p:nvPr/>
        </p:nvPicPr>
        <p:blipFill>
          <a:blip r:embed="rId2"/>
          <a:stretch>
            <a:fillRect/>
          </a:stretch>
        </p:blipFill>
        <p:spPr>
          <a:xfrm>
            <a:off x="156576" y="1861768"/>
            <a:ext cx="5939424" cy="2583408"/>
          </a:xfrm>
          <a:prstGeom prst="rect">
            <a:avLst/>
          </a:prstGeom>
        </p:spPr>
      </p:pic>
      <p:pic>
        <p:nvPicPr>
          <p:cNvPr id="9" name="Picture 8">
            <a:extLst>
              <a:ext uri="{FF2B5EF4-FFF2-40B4-BE49-F238E27FC236}">
                <a16:creationId xmlns:a16="http://schemas.microsoft.com/office/drawing/2014/main" id="{EADEACE8-2EA5-8723-12FE-B85821A136F9}"/>
              </a:ext>
            </a:extLst>
          </p:cNvPr>
          <p:cNvPicPr>
            <a:picLocks noChangeAspect="1"/>
          </p:cNvPicPr>
          <p:nvPr/>
        </p:nvPicPr>
        <p:blipFill>
          <a:blip r:embed="rId3"/>
          <a:stretch>
            <a:fillRect/>
          </a:stretch>
        </p:blipFill>
        <p:spPr>
          <a:xfrm>
            <a:off x="6241143" y="1812651"/>
            <a:ext cx="5794281" cy="2681641"/>
          </a:xfrm>
          <a:prstGeom prst="rect">
            <a:avLst/>
          </a:prstGeom>
        </p:spPr>
      </p:pic>
      <p:pic>
        <p:nvPicPr>
          <p:cNvPr id="11" name="Picture 10">
            <a:extLst>
              <a:ext uri="{FF2B5EF4-FFF2-40B4-BE49-F238E27FC236}">
                <a16:creationId xmlns:a16="http://schemas.microsoft.com/office/drawing/2014/main" id="{57C5BF96-376D-A69E-130C-2FFFD59EF91D}"/>
              </a:ext>
            </a:extLst>
          </p:cNvPr>
          <p:cNvPicPr>
            <a:picLocks noChangeAspect="1"/>
          </p:cNvPicPr>
          <p:nvPr/>
        </p:nvPicPr>
        <p:blipFill>
          <a:blip r:embed="rId4"/>
          <a:stretch>
            <a:fillRect/>
          </a:stretch>
        </p:blipFill>
        <p:spPr>
          <a:xfrm>
            <a:off x="156576" y="4580150"/>
            <a:ext cx="5939424" cy="2048406"/>
          </a:xfrm>
          <a:prstGeom prst="rect">
            <a:avLst/>
          </a:prstGeom>
        </p:spPr>
      </p:pic>
      <p:pic>
        <p:nvPicPr>
          <p:cNvPr id="13" name="Picture 12">
            <a:extLst>
              <a:ext uri="{FF2B5EF4-FFF2-40B4-BE49-F238E27FC236}">
                <a16:creationId xmlns:a16="http://schemas.microsoft.com/office/drawing/2014/main" id="{7F1F020C-B96F-91C2-B648-14635806DE18}"/>
              </a:ext>
            </a:extLst>
          </p:cNvPr>
          <p:cNvPicPr>
            <a:picLocks noChangeAspect="1"/>
          </p:cNvPicPr>
          <p:nvPr/>
        </p:nvPicPr>
        <p:blipFill>
          <a:blip r:embed="rId5"/>
          <a:stretch>
            <a:fillRect/>
          </a:stretch>
        </p:blipFill>
        <p:spPr>
          <a:xfrm>
            <a:off x="6241143" y="4580149"/>
            <a:ext cx="5794281" cy="2277851"/>
          </a:xfrm>
          <a:prstGeom prst="rect">
            <a:avLst/>
          </a:prstGeom>
        </p:spPr>
      </p:pic>
    </p:spTree>
    <p:extLst>
      <p:ext uri="{BB962C8B-B14F-4D97-AF65-F5344CB8AC3E}">
        <p14:creationId xmlns:p14="http://schemas.microsoft.com/office/powerpoint/2010/main" val="3076335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BE24AE-9D51-8D09-8074-8B41014CCF40}"/>
              </a:ext>
            </a:extLst>
          </p:cNvPr>
          <p:cNvSpPr txBox="1"/>
          <p:nvPr/>
        </p:nvSpPr>
        <p:spPr>
          <a:xfrm>
            <a:off x="292274" y="175854"/>
            <a:ext cx="6096000" cy="2480166"/>
          </a:xfrm>
          <a:prstGeom prst="rect">
            <a:avLst/>
          </a:prstGeom>
          <a:noFill/>
        </p:spPr>
        <p:txBody>
          <a:bodyPr wrap="square">
            <a:spAutoFit/>
          </a:bodyPr>
          <a:lstStyle/>
          <a:p>
            <a:pPr marL="0" marR="0" indent="0" algn="l" rtl="0" fontAlgn="base">
              <a:spcAft>
                <a:spcPts val="750"/>
              </a:spcAft>
              <a:buNone/>
            </a:pPr>
            <a:r>
              <a:rPr lang="en-CN" sz="1800" b="1" i="0" spc="10" dirty="0">
                <a:solidFill>
                  <a:schemeClr val="tx1"/>
                </a:solidFill>
                <a:effectLst/>
                <a:latin typeface="+mn-lt"/>
              </a:rPr>
              <a:t>Step-by-step approach:</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Check if list is empty then return </a:t>
            </a:r>
            <a:r>
              <a:rPr lang="en-CN" sz="1800" b="1" i="0" spc="10" dirty="0">
                <a:solidFill>
                  <a:schemeClr val="tx1"/>
                </a:solidFill>
                <a:effectLst/>
                <a:latin typeface="+mn-lt"/>
              </a:rPr>
              <a:t>NULL</a:t>
            </a:r>
            <a:r>
              <a:rPr lang="en-CN" sz="1800" b="0" i="0" spc="12" dirty="0">
                <a:solidFill>
                  <a:schemeClr val="tx1"/>
                </a:solidFill>
                <a:effectLst/>
                <a:latin typeface="+mn-lt"/>
              </a:rPr>
              <a:t>.</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If the list has only one node then delete it and return </a:t>
            </a:r>
            <a:r>
              <a:rPr lang="en-CN" sz="1800" b="1" i="0" spc="10" dirty="0">
                <a:solidFill>
                  <a:schemeClr val="tx1"/>
                </a:solidFill>
                <a:effectLst/>
                <a:latin typeface="+mn-lt"/>
              </a:rPr>
              <a:t>NULL</a:t>
            </a:r>
            <a:r>
              <a:rPr lang="en-CN" sz="1800" b="0" i="0" spc="12" dirty="0">
                <a:solidFill>
                  <a:schemeClr val="tx1"/>
                </a:solidFill>
                <a:effectLst/>
                <a:latin typeface="+mn-lt"/>
              </a:rPr>
              <a:t>.</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Traverse the list to find the second last node.</a:t>
            </a:r>
            <a:br>
              <a:rPr lang="en-CN" sz="1800" b="0" i="0" spc="10" dirty="0">
                <a:solidFill>
                  <a:schemeClr val="tx1"/>
                </a:solidFill>
                <a:effectLst/>
                <a:latin typeface="+mn-lt"/>
              </a:rPr>
            </a:br>
            <a:r>
              <a:rPr lang="en-CN" sz="1800" b="0" i="0" spc="12" dirty="0">
                <a:solidFill>
                  <a:schemeClr val="tx1"/>
                </a:solidFill>
                <a:effectLst/>
                <a:latin typeface="+mn-lt"/>
              </a:rPr>
              <a:t>=&gt; Set the next pointer of </a:t>
            </a:r>
            <a:r>
              <a:rPr lang="en-CN" sz="1800" b="1" i="0" spc="10" dirty="0">
                <a:solidFill>
                  <a:schemeClr val="tx1"/>
                </a:solidFill>
                <a:effectLst/>
                <a:latin typeface="+mn-lt"/>
              </a:rPr>
              <a:t>second last </a:t>
            </a:r>
            <a:r>
              <a:rPr lang="en-CN" sz="1800" b="0" i="0" spc="12" dirty="0">
                <a:solidFill>
                  <a:schemeClr val="tx1"/>
                </a:solidFill>
                <a:effectLst/>
                <a:latin typeface="+mn-lt"/>
              </a:rPr>
              <a:t>node to </a:t>
            </a:r>
            <a:r>
              <a:rPr lang="en-CN" sz="1800" b="1" i="0" spc="10" dirty="0">
                <a:solidFill>
                  <a:schemeClr val="tx1"/>
                </a:solidFill>
                <a:effectLst/>
                <a:latin typeface="+mn-lt"/>
              </a:rPr>
              <a:t>NULL</a:t>
            </a:r>
            <a:r>
              <a:rPr lang="en-CN" sz="1800" b="0" i="0" spc="12" dirty="0">
                <a:solidFill>
                  <a:schemeClr val="tx1"/>
                </a:solidFill>
                <a:effectLst/>
                <a:latin typeface="+mn-lt"/>
              </a:rPr>
              <a:t>.</a:t>
            </a:r>
            <a:endParaRPr lang="en-CN" sz="1800" b="0" i="0" spc="10" dirty="0">
              <a:solidFill>
                <a:schemeClr val="tx1"/>
              </a:solidFill>
              <a:effectLst/>
              <a:latin typeface="+mn-lt"/>
            </a:endParaRPr>
          </a:p>
          <a:p>
            <a:pPr>
              <a:buNone/>
            </a:pPr>
            <a:br>
              <a:rPr lang="en-CN" dirty="0"/>
            </a:br>
            <a:endParaRPr lang="en-CN" dirty="0"/>
          </a:p>
        </p:txBody>
      </p:sp>
    </p:spTree>
    <p:extLst>
      <p:ext uri="{BB962C8B-B14F-4D97-AF65-F5344CB8AC3E}">
        <p14:creationId xmlns:p14="http://schemas.microsoft.com/office/powerpoint/2010/main" val="37841550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9F1977-BF3C-BCC3-F85B-E111079674A7}"/>
              </a:ext>
            </a:extLst>
          </p:cNvPr>
          <p:cNvPicPr>
            <a:picLocks noChangeAspect="1"/>
          </p:cNvPicPr>
          <p:nvPr/>
        </p:nvPicPr>
        <p:blipFill>
          <a:blip r:embed="rId2"/>
          <a:stretch>
            <a:fillRect/>
          </a:stretch>
        </p:blipFill>
        <p:spPr>
          <a:xfrm>
            <a:off x="3826358" y="0"/>
            <a:ext cx="4539284" cy="6858000"/>
          </a:xfrm>
          <a:prstGeom prst="rect">
            <a:avLst/>
          </a:prstGeom>
        </p:spPr>
      </p:pic>
    </p:spTree>
    <p:extLst>
      <p:ext uri="{BB962C8B-B14F-4D97-AF65-F5344CB8AC3E}">
        <p14:creationId xmlns:p14="http://schemas.microsoft.com/office/powerpoint/2010/main" val="373320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E261AD-E5CC-4382-27C1-91E8E923EB12}"/>
              </a:ext>
            </a:extLst>
          </p:cNvPr>
          <p:cNvPicPr>
            <a:picLocks noChangeAspect="1"/>
          </p:cNvPicPr>
          <p:nvPr/>
        </p:nvPicPr>
        <p:blipFill>
          <a:blip r:embed="rId2"/>
          <a:stretch>
            <a:fillRect/>
          </a:stretch>
        </p:blipFill>
        <p:spPr>
          <a:xfrm>
            <a:off x="3853542" y="607786"/>
            <a:ext cx="4775200" cy="5003800"/>
          </a:xfrm>
          <a:prstGeom prst="rect">
            <a:avLst/>
          </a:prstGeom>
        </p:spPr>
      </p:pic>
      <p:sp>
        <p:nvSpPr>
          <p:cNvPr id="5" name="TextBox 4">
            <a:extLst>
              <a:ext uri="{FF2B5EF4-FFF2-40B4-BE49-F238E27FC236}">
                <a16:creationId xmlns:a16="http://schemas.microsoft.com/office/drawing/2014/main" id="{1F9E36DC-4CD4-D520-DD62-629740C30489}"/>
              </a:ext>
            </a:extLst>
          </p:cNvPr>
          <p:cNvSpPr txBox="1"/>
          <p:nvPr/>
        </p:nvSpPr>
        <p:spPr>
          <a:xfrm>
            <a:off x="145141" y="5792986"/>
            <a:ext cx="11491537" cy="646331"/>
          </a:xfrm>
          <a:prstGeom prst="rect">
            <a:avLst/>
          </a:prstGeom>
          <a:noFill/>
        </p:spPr>
        <p:txBody>
          <a:bodyPr wrap="square">
            <a:spAutoFit/>
          </a:bodyPr>
          <a:lstStyle/>
          <a:p>
            <a:r>
              <a:rPr lang="en-CN" sz="1800" b="1" i="0" spc="10" dirty="0">
                <a:solidFill>
                  <a:schemeClr val="tx1"/>
                </a:solidFill>
                <a:effectLst/>
                <a:latin typeface="+mn-lt"/>
              </a:rPr>
              <a:t>Time Complexity: </a:t>
            </a:r>
            <a:r>
              <a:rPr lang="en-CN" sz="1800" b="0" i="0" spc="12" dirty="0">
                <a:solidFill>
                  <a:schemeClr val="tx1"/>
                </a:solidFill>
                <a:effectLst/>
                <a:latin typeface="+mn-lt"/>
              </a:rPr>
              <a:t>O(n), traversal of the linked list till its end, so the time complexity required is </a:t>
            </a:r>
            <a:r>
              <a:rPr lang="en-CN" sz="1800" b="0" i="1" spc="10" dirty="0">
                <a:solidFill>
                  <a:schemeClr val="tx1"/>
                </a:solidFill>
                <a:effectLst/>
                <a:latin typeface="+mn-lt"/>
              </a:rPr>
              <a:t>O(n)</a:t>
            </a:r>
            <a:r>
              <a:rPr lang="en-CN" sz="1800" b="0" i="0" spc="12" dirty="0">
                <a:solidFill>
                  <a:schemeClr val="tx1"/>
                </a:solidFill>
                <a:effectLst/>
                <a:latin typeface="+mn-lt"/>
              </a:rPr>
              <a:t>.</a:t>
            </a:r>
            <a:br>
              <a:rPr lang="en-CN" dirty="0"/>
            </a:br>
            <a:r>
              <a:rPr lang="en-CN" sz="1800" b="1" i="0" spc="10" dirty="0">
                <a:solidFill>
                  <a:schemeClr val="tx1"/>
                </a:solidFill>
                <a:effectLst/>
                <a:latin typeface="+mn-lt"/>
              </a:rPr>
              <a:t>Auxiliary Space: </a:t>
            </a:r>
            <a:r>
              <a:rPr lang="en-CN" sz="1800" b="0" i="0" spc="12" dirty="0">
                <a:solidFill>
                  <a:schemeClr val="tx1"/>
                </a:solidFill>
                <a:effectLst/>
                <a:latin typeface="+mn-lt"/>
              </a:rPr>
              <a:t>O(1)</a:t>
            </a:r>
            <a:endParaRPr lang="en-CN" dirty="0"/>
          </a:p>
        </p:txBody>
      </p:sp>
    </p:spTree>
    <p:extLst>
      <p:ext uri="{BB962C8B-B14F-4D97-AF65-F5344CB8AC3E}">
        <p14:creationId xmlns:p14="http://schemas.microsoft.com/office/powerpoint/2010/main" val="25359909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C9E9FE-6683-50EC-4031-2D6686436F64}"/>
              </a:ext>
            </a:extLst>
          </p:cNvPr>
          <p:cNvSpPr txBox="1"/>
          <p:nvPr/>
        </p:nvSpPr>
        <p:spPr>
          <a:xfrm>
            <a:off x="131524" y="193051"/>
            <a:ext cx="6100174" cy="415563"/>
          </a:xfrm>
          <a:prstGeom prst="rect">
            <a:avLst/>
          </a:prstGeom>
          <a:noFill/>
        </p:spPr>
        <p:txBody>
          <a:bodyPr wrap="square">
            <a:spAutoFit/>
          </a:bodyPr>
          <a:lstStyle/>
          <a:p>
            <a:pPr marL="0" marR="0" indent="0" algn="l">
              <a:lnSpc>
                <a:spcPct val="100000"/>
              </a:lnSpc>
              <a:buNone/>
            </a:pPr>
            <a:r>
              <a:rPr lang="en-CN" sz="1800" b="1" i="0" dirty="0">
                <a:solidFill>
                  <a:schemeClr val="tx1"/>
                </a:solidFill>
                <a:effectLst/>
                <a:latin typeface="+mn-lt"/>
              </a:rPr>
              <a:t>Delete Node by Position</a:t>
            </a:r>
            <a:endParaRPr lang="en-CN" sz="2100" b="1" i="0" dirty="0">
              <a:solidFill>
                <a:srgbClr val="273239"/>
              </a:solidFill>
              <a:effectLst/>
              <a:latin typeface="Source Sans 3"/>
            </a:endParaRPr>
          </a:p>
        </p:txBody>
      </p:sp>
      <p:pic>
        <p:nvPicPr>
          <p:cNvPr id="5" name="Picture 4">
            <a:extLst>
              <a:ext uri="{FF2B5EF4-FFF2-40B4-BE49-F238E27FC236}">
                <a16:creationId xmlns:a16="http://schemas.microsoft.com/office/drawing/2014/main" id="{EA1776BB-D321-77F2-AD47-52DEBE0A0070}"/>
              </a:ext>
            </a:extLst>
          </p:cNvPr>
          <p:cNvPicPr>
            <a:picLocks noChangeAspect="1"/>
          </p:cNvPicPr>
          <p:nvPr/>
        </p:nvPicPr>
        <p:blipFill>
          <a:blip r:embed="rId2"/>
          <a:stretch>
            <a:fillRect/>
          </a:stretch>
        </p:blipFill>
        <p:spPr>
          <a:xfrm>
            <a:off x="1615858" y="608614"/>
            <a:ext cx="8502040" cy="5929972"/>
          </a:xfrm>
          <a:prstGeom prst="rect">
            <a:avLst/>
          </a:prstGeom>
        </p:spPr>
      </p:pic>
    </p:spTree>
    <p:extLst>
      <p:ext uri="{BB962C8B-B14F-4D97-AF65-F5344CB8AC3E}">
        <p14:creationId xmlns:p14="http://schemas.microsoft.com/office/powerpoint/2010/main" val="40577745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CB1A15-FDCD-C128-49CF-E3FCBD6FD98F}"/>
              </a:ext>
            </a:extLst>
          </p:cNvPr>
          <p:cNvSpPr txBox="1"/>
          <p:nvPr/>
        </p:nvSpPr>
        <p:spPr>
          <a:xfrm>
            <a:off x="118998" y="318615"/>
            <a:ext cx="11617890" cy="646331"/>
          </a:xfrm>
          <a:prstGeom prst="rect">
            <a:avLst/>
          </a:prstGeom>
          <a:noFill/>
        </p:spPr>
        <p:txBody>
          <a:bodyPr wrap="square">
            <a:spAutoFit/>
          </a:bodyPr>
          <a:lstStyle/>
          <a:p>
            <a:r>
              <a:rPr lang="en-CN" sz="1800" b="0" i="1" spc="12" dirty="0">
                <a:solidFill>
                  <a:schemeClr val="tx1"/>
                </a:solidFill>
                <a:effectLst/>
                <a:latin typeface="+mn-lt"/>
              </a:rPr>
              <a:t>The idea is to traverse the linked list and store the address of every node in an array. This allows direct access to the node at position x. Then, update the links to remove the node and delete it.</a:t>
            </a:r>
            <a:endParaRPr lang="en-CN" dirty="0"/>
          </a:p>
        </p:txBody>
      </p:sp>
      <p:sp>
        <p:nvSpPr>
          <p:cNvPr id="5" name="TextBox 4">
            <a:extLst>
              <a:ext uri="{FF2B5EF4-FFF2-40B4-BE49-F238E27FC236}">
                <a16:creationId xmlns:a16="http://schemas.microsoft.com/office/drawing/2014/main" id="{E2D0E373-9EBC-5630-5351-B9E22FB27D59}"/>
              </a:ext>
            </a:extLst>
          </p:cNvPr>
          <p:cNvSpPr txBox="1"/>
          <p:nvPr/>
        </p:nvSpPr>
        <p:spPr>
          <a:xfrm>
            <a:off x="281836" y="1272385"/>
            <a:ext cx="6100174" cy="4119076"/>
          </a:xfrm>
          <a:prstGeom prst="rect">
            <a:avLst/>
          </a:prstGeom>
          <a:noFill/>
        </p:spPr>
        <p:txBody>
          <a:bodyPr wrap="square">
            <a:spAutoFit/>
          </a:bodyPr>
          <a:lstStyle/>
          <a:p>
            <a:pPr marL="0" marR="0" indent="0" algn="l" rtl="0" fontAlgn="base">
              <a:spcAft>
                <a:spcPts val="750"/>
              </a:spcAft>
              <a:buNone/>
            </a:pPr>
            <a:r>
              <a:rPr lang="en-CN" sz="1800" b="0" i="0" spc="12">
                <a:solidFill>
                  <a:schemeClr val="tx1"/>
                </a:solidFill>
                <a:effectLst/>
                <a:latin typeface="+mn-lt"/>
              </a:rPr>
              <a:t>Working of Approach:</a:t>
            </a:r>
            <a:endParaRPr lang="en-CN" sz="1800" b="0" i="0" spc="1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Traverse the linked list and store all node pointers in an array.</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If x == 1, delete the head node.</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Otherwise, access the previous and current nodes using the array.</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Update the previous node's next pointer.</a:t>
            </a:r>
            <a:endParaRPr lang="en-C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CN" sz="1800" b="0" i="0" spc="12" dirty="0">
                <a:solidFill>
                  <a:schemeClr val="tx1"/>
                </a:solidFill>
                <a:effectLst/>
                <a:latin typeface="+mn-lt"/>
              </a:rPr>
              <a:t>Delete the node and return the updated head.</a:t>
            </a:r>
            <a:endParaRPr lang="en-CN" sz="1800" b="0" i="0" spc="10" dirty="0">
              <a:solidFill>
                <a:schemeClr val="tx1"/>
              </a:solidFill>
              <a:effectLst/>
              <a:latin typeface="+mn-lt"/>
            </a:endParaRPr>
          </a:p>
          <a:p>
            <a:pPr>
              <a:buNone/>
            </a:pPr>
            <a:br>
              <a:rPr lang="en-CN" dirty="0"/>
            </a:br>
            <a:endParaRPr lang="en-CN" dirty="0"/>
          </a:p>
        </p:txBody>
      </p:sp>
    </p:spTree>
    <p:extLst>
      <p:ext uri="{BB962C8B-B14F-4D97-AF65-F5344CB8AC3E}">
        <p14:creationId xmlns:p14="http://schemas.microsoft.com/office/powerpoint/2010/main" val="2843346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E4C30A-307F-7ACE-2A14-E81DF9D07BA7}"/>
              </a:ext>
            </a:extLst>
          </p:cNvPr>
          <p:cNvPicPr>
            <a:picLocks noChangeAspect="1"/>
          </p:cNvPicPr>
          <p:nvPr/>
        </p:nvPicPr>
        <p:blipFill>
          <a:blip r:embed="rId2"/>
          <a:stretch>
            <a:fillRect/>
          </a:stretch>
        </p:blipFill>
        <p:spPr>
          <a:xfrm>
            <a:off x="3955208" y="0"/>
            <a:ext cx="4281583" cy="6858000"/>
          </a:xfrm>
          <a:prstGeom prst="rect">
            <a:avLst/>
          </a:prstGeom>
        </p:spPr>
      </p:pic>
    </p:spTree>
    <p:extLst>
      <p:ext uri="{BB962C8B-B14F-4D97-AF65-F5344CB8AC3E}">
        <p14:creationId xmlns:p14="http://schemas.microsoft.com/office/powerpoint/2010/main" val="7402441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0235E8-ADFD-3B6F-C07A-D021EF8A864A}"/>
              </a:ext>
            </a:extLst>
          </p:cNvPr>
          <p:cNvPicPr>
            <a:picLocks noChangeAspect="1"/>
          </p:cNvPicPr>
          <p:nvPr/>
        </p:nvPicPr>
        <p:blipFill>
          <a:blip r:embed="rId2"/>
          <a:stretch>
            <a:fillRect/>
          </a:stretch>
        </p:blipFill>
        <p:spPr>
          <a:xfrm>
            <a:off x="3657600" y="215900"/>
            <a:ext cx="4876800" cy="6426200"/>
          </a:xfrm>
          <a:prstGeom prst="rect">
            <a:avLst/>
          </a:prstGeom>
        </p:spPr>
      </p:pic>
    </p:spTree>
    <p:extLst>
      <p:ext uri="{BB962C8B-B14F-4D97-AF65-F5344CB8AC3E}">
        <p14:creationId xmlns:p14="http://schemas.microsoft.com/office/powerpoint/2010/main" val="4256953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580610-B087-7223-DE23-8EC096AF892A}"/>
              </a:ext>
            </a:extLst>
          </p:cNvPr>
          <p:cNvSpPr txBox="1"/>
          <p:nvPr/>
        </p:nvSpPr>
        <p:spPr>
          <a:xfrm>
            <a:off x="4062608" y="105866"/>
            <a:ext cx="3753633" cy="369332"/>
          </a:xfrm>
          <a:prstGeom prst="rect">
            <a:avLst/>
          </a:prstGeom>
          <a:noFill/>
        </p:spPr>
        <p:txBody>
          <a:bodyPr wrap="square">
            <a:spAutoFit/>
          </a:bodyPr>
          <a:lstStyle/>
          <a:p>
            <a:pPr marL="0" marR="0" indent="0" algn="l">
              <a:lnSpc>
                <a:spcPct val="100000"/>
              </a:lnSpc>
              <a:buNone/>
            </a:pPr>
            <a:r>
              <a:rPr lang="en-CN" sz="1800" b="1" i="0" dirty="0">
                <a:solidFill>
                  <a:schemeClr val="tx1"/>
                </a:solidFill>
                <a:effectLst/>
                <a:latin typeface="+mn-lt"/>
              </a:rPr>
              <a:t>Search an element in a Linked List</a:t>
            </a:r>
            <a:endParaRPr lang="en-CN" sz="2100" b="1" i="0" dirty="0">
              <a:solidFill>
                <a:srgbClr val="273239"/>
              </a:solidFill>
              <a:effectLst/>
              <a:latin typeface="Source Sans 3"/>
            </a:endParaRPr>
          </a:p>
        </p:txBody>
      </p:sp>
      <p:pic>
        <p:nvPicPr>
          <p:cNvPr id="5" name="Picture 4">
            <a:extLst>
              <a:ext uri="{FF2B5EF4-FFF2-40B4-BE49-F238E27FC236}">
                <a16:creationId xmlns:a16="http://schemas.microsoft.com/office/drawing/2014/main" id="{FCFEBF89-0EF6-D877-3511-6ED1186404B8}"/>
              </a:ext>
            </a:extLst>
          </p:cNvPr>
          <p:cNvPicPr>
            <a:picLocks noChangeAspect="1"/>
          </p:cNvPicPr>
          <p:nvPr/>
        </p:nvPicPr>
        <p:blipFill>
          <a:blip r:embed="rId2"/>
          <a:stretch>
            <a:fillRect/>
          </a:stretch>
        </p:blipFill>
        <p:spPr>
          <a:xfrm>
            <a:off x="2053224" y="876822"/>
            <a:ext cx="7772400" cy="5336416"/>
          </a:xfrm>
          <a:prstGeom prst="rect">
            <a:avLst/>
          </a:prstGeom>
        </p:spPr>
      </p:pic>
    </p:spTree>
    <p:extLst>
      <p:ext uri="{BB962C8B-B14F-4D97-AF65-F5344CB8AC3E}">
        <p14:creationId xmlns:p14="http://schemas.microsoft.com/office/powerpoint/2010/main" val="26820292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AE9406-1EE2-B642-A039-971F30F696CF}"/>
              </a:ext>
            </a:extLst>
          </p:cNvPr>
          <p:cNvSpPr txBox="1"/>
          <p:nvPr/>
        </p:nvSpPr>
        <p:spPr>
          <a:xfrm>
            <a:off x="194154" y="277371"/>
            <a:ext cx="11630416" cy="923330"/>
          </a:xfrm>
          <a:prstGeom prst="rect">
            <a:avLst/>
          </a:prstGeom>
          <a:noFill/>
        </p:spPr>
        <p:txBody>
          <a:bodyPr wrap="square">
            <a:spAutoFit/>
          </a:bodyPr>
          <a:lstStyle/>
          <a:p>
            <a:r>
              <a:rPr lang="en-CN" sz="1800" b="0" i="1" spc="12" dirty="0">
                <a:solidFill>
                  <a:schemeClr val="tx1"/>
                </a:solidFill>
                <a:effectLst/>
                <a:latin typeface="+mn-lt"/>
              </a:rPr>
              <a:t>The idea is to traverse the linked list starting from the head. At each node, check if its value matches the given key; if it does, return true. Otherwise, move to the next node and continue the process until the end of the list. If the key is not found after the traversal, return false.</a:t>
            </a:r>
            <a:endParaRPr lang="en-CN" dirty="0"/>
          </a:p>
        </p:txBody>
      </p:sp>
      <p:pic>
        <p:nvPicPr>
          <p:cNvPr id="5" name="Picture 4">
            <a:extLst>
              <a:ext uri="{FF2B5EF4-FFF2-40B4-BE49-F238E27FC236}">
                <a16:creationId xmlns:a16="http://schemas.microsoft.com/office/drawing/2014/main" id="{883530C4-E0E6-2863-74C1-98AF1839DB0D}"/>
              </a:ext>
            </a:extLst>
          </p:cNvPr>
          <p:cNvPicPr>
            <a:picLocks noChangeAspect="1"/>
          </p:cNvPicPr>
          <p:nvPr/>
        </p:nvPicPr>
        <p:blipFill>
          <a:blip r:embed="rId2"/>
          <a:stretch>
            <a:fillRect/>
          </a:stretch>
        </p:blipFill>
        <p:spPr>
          <a:xfrm>
            <a:off x="2901950" y="1200700"/>
            <a:ext cx="6388100" cy="5358849"/>
          </a:xfrm>
          <a:prstGeom prst="rect">
            <a:avLst/>
          </a:prstGeom>
        </p:spPr>
      </p:pic>
    </p:spTree>
    <p:extLst>
      <p:ext uri="{BB962C8B-B14F-4D97-AF65-F5344CB8AC3E}">
        <p14:creationId xmlns:p14="http://schemas.microsoft.com/office/powerpoint/2010/main" val="1032334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3022F584-CD15-AD78-BB9F-898A87C9AE58}"/>
              </a:ext>
            </a:extLst>
          </p:cNvPr>
          <p:cNvPicPr>
            <a:picLocks noChangeAspect="1"/>
          </p:cNvPicPr>
          <p:nvPr/>
        </p:nvPicPr>
        <p:blipFill>
          <a:blip r:embed="rId2"/>
          <a:stretch>
            <a:fillRect/>
          </a:stretch>
        </p:blipFill>
        <p:spPr>
          <a:xfrm>
            <a:off x="2688512" y="228600"/>
            <a:ext cx="6738776" cy="4953000"/>
          </a:xfrm>
          <a:prstGeom prst="rect">
            <a:avLst/>
          </a:prstGeom>
        </p:spPr>
      </p:pic>
    </p:spTree>
    <p:extLst>
      <p:ext uri="{BB962C8B-B14F-4D97-AF65-F5344CB8AC3E}">
        <p14:creationId xmlns:p14="http://schemas.microsoft.com/office/powerpoint/2010/main" val="2965298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3462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618</TotalTime>
  <Words>1114</Words>
  <Application>Microsoft Macintosh PowerPoint</Application>
  <PresentationFormat>Widescreen</PresentationFormat>
  <Paragraphs>71</Paragraphs>
  <Slides>56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Source Sans 3</vt:lpstr>
      <vt:lpstr>Aptos</vt:lpstr>
      <vt:lpstr>Aptos Display</vt:lpstr>
      <vt:lpstr>Arial</vt:lpstr>
      <vt:lpstr>Helvetica</vt:lpstr>
      <vt:lpstr>Nunito</vt:lpstr>
      <vt:lpstr>Office Theme</vt:lpstr>
      <vt:lpstr>Linked 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Doctor Sukhera</dc:creator>
  <cp:lastModifiedBy>Doctor Sukhera</cp:lastModifiedBy>
  <cp:revision>4</cp:revision>
  <dcterms:created xsi:type="dcterms:W3CDTF">2026-10-08T13:37:43Z</dcterms:created>
  <dcterms:modified xsi:type="dcterms:W3CDTF">2026-10-08T23:56:17Z</dcterms:modified>
</cp:coreProperties>
</file>