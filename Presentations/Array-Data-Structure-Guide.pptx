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4630400" cy="8229600"/>
  <p:notesSz cx="8229600" cy="14630400"/>
  <p:embeddedFontLst>
    <p:embeddedFont>
      <p:font typeface="DM Sans"/>
      <p:regular r:id="rId37"/>
    </p:embeddedFont>
    <p:embeddedFont>
      <p:font typeface="DM Sans"/>
      <p:regular r:id="rId38"/>
    </p:embeddedFont>
    <p:embeddedFont>
      <p:font typeface="DM Sans"/>
      <p:regular r:id="rId39"/>
    </p:embeddedFont>
    <p:embeddedFont>
      <p:font typeface="DM Sans"/>
      <p:regular r:id="rId40"/>
    </p:embeddedFont>
    <p:embeddedFont>
      <p:font typeface="Inter"/>
      <p:regular r:id="rId41"/>
    </p:embeddedFont>
    <p:embeddedFont>
      <p:font typeface="Inter"/>
      <p:regular r:id="rId42"/>
    </p:embeddedFont>
    <p:embeddedFont>
      <p:font typeface="Inter"/>
      <p:regular r:id="rId43"/>
    </p:embeddedFont>
    <p:embeddedFont>
      <p:font typeface="Inter"/>
      <p:regular r:id="rId4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font" Target="fonts/font6.fntdata"/><Relationship Id="rId43" Type="http://schemas.openxmlformats.org/officeDocument/2006/relationships/font" Target="fonts/font7.fntdata"/><Relationship Id="rId4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0.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4.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8.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9.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0.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6.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7.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28.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9.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2074902"/>
            <a:ext cx="7415927" cy="2129314"/>
          </a:xfrm>
          <a:prstGeom prst="rect">
            <a:avLst/>
          </a:prstGeom>
          <a:noFill/>
          <a:ln/>
        </p:spPr>
        <p:txBody>
          <a:bodyPr wrap="square" lIns="0" tIns="0" rIns="0" bIns="0" rtlCol="0" anchor="t"/>
          <a:lstStyle/>
          <a:p>
            <a:pPr indent="0" marL="0">
              <a:lnSpc>
                <a:spcPts val="8350"/>
              </a:lnSpc>
              <a:buNone/>
            </a:pPr>
            <a:r>
              <a:rPr lang="en-US" sz="6700" dirty="0">
                <a:solidFill>
                  <a:srgbClr val="161613"/>
                </a:solidFill>
                <a:latin typeface="DM Sans" pitchFamily="34" charset="0"/>
                <a:ea typeface="DM Sans" pitchFamily="34" charset="-122"/>
                <a:cs typeface="DM Sans" pitchFamily="34" charset="-120"/>
              </a:rPr>
              <a:t>Array Data Structure Guide</a:t>
            </a:r>
            <a:endParaRPr lang="en-US" sz="6700" dirty="0"/>
          </a:p>
        </p:txBody>
      </p:sp>
      <p:sp>
        <p:nvSpPr>
          <p:cNvPr id="4" name="Text 1"/>
          <p:cNvSpPr/>
          <p:nvPr/>
        </p:nvSpPr>
        <p:spPr>
          <a:xfrm>
            <a:off x="864037" y="4574500"/>
            <a:ext cx="7415927" cy="1580198"/>
          </a:xfrm>
          <a:prstGeom prst="rect">
            <a:avLst/>
          </a:prstGeom>
          <a:noFill/>
          <a:ln/>
        </p:spPr>
        <p:txBody>
          <a:bodyPr wrap="squar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Arrays are fundamental data structures that store elements in contiguous memory. They allow efficient access and are widely used in programming. This guide covers key concepts and operations for working with arrays.</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437" y="768191"/>
            <a:ext cx="6172200" cy="771525"/>
          </a:xfrm>
          <a:prstGeom prst="rect">
            <a:avLst/>
          </a:prstGeom>
          <a:noFill/>
          <a:ln/>
        </p:spPr>
        <p:txBody>
          <a:bodyPr wrap="non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What is an Array?</a:t>
            </a:r>
            <a:endParaRPr lang="en-US" sz="4850" dirty="0"/>
          </a:p>
        </p:txBody>
      </p:sp>
      <p:sp>
        <p:nvSpPr>
          <p:cNvPr id="4" name="Shape 1"/>
          <p:cNvSpPr/>
          <p:nvPr/>
        </p:nvSpPr>
        <p:spPr>
          <a:xfrm>
            <a:off x="6350437" y="1910001"/>
            <a:ext cx="7415927" cy="1817608"/>
          </a:xfrm>
          <a:prstGeom prst="roundRect">
            <a:avLst>
              <a:gd name="adj" fmla="val 2037"/>
            </a:avLst>
          </a:prstGeom>
          <a:solidFill>
            <a:srgbClr val="EDEBE3"/>
          </a:solidFill>
          <a:ln/>
        </p:spPr>
      </p:sp>
      <p:sp>
        <p:nvSpPr>
          <p:cNvPr id="5" name="Text 2"/>
          <p:cNvSpPr/>
          <p:nvPr/>
        </p:nvSpPr>
        <p:spPr>
          <a:xfrm>
            <a:off x="6597253" y="2156817"/>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Definition</a:t>
            </a:r>
            <a:endParaRPr lang="en-US" sz="2400" dirty="0"/>
          </a:p>
        </p:txBody>
      </p:sp>
      <p:sp>
        <p:nvSpPr>
          <p:cNvPr id="6" name="Text 3"/>
          <p:cNvSpPr/>
          <p:nvPr/>
        </p:nvSpPr>
        <p:spPr>
          <a:xfrm>
            <a:off x="6597253" y="2690693"/>
            <a:ext cx="6922294" cy="790099"/>
          </a:xfrm>
          <a:prstGeom prst="rect">
            <a:avLst/>
          </a:prstGeom>
          <a:noFill/>
          <a:ln/>
        </p:spPr>
        <p:txBody>
          <a:bodyPr wrap="squar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An array is a collection of items of the same data type stored at contiguous memory locations.</a:t>
            </a:r>
            <a:endParaRPr lang="en-US" sz="1900" dirty="0"/>
          </a:p>
        </p:txBody>
      </p:sp>
      <p:sp>
        <p:nvSpPr>
          <p:cNvPr id="7" name="Shape 4"/>
          <p:cNvSpPr/>
          <p:nvPr/>
        </p:nvSpPr>
        <p:spPr>
          <a:xfrm>
            <a:off x="6350437" y="3974425"/>
            <a:ext cx="7415927" cy="1422559"/>
          </a:xfrm>
          <a:prstGeom prst="roundRect">
            <a:avLst>
              <a:gd name="adj" fmla="val 2603"/>
            </a:avLst>
          </a:prstGeom>
          <a:solidFill>
            <a:srgbClr val="EDEBE3"/>
          </a:solidFill>
          <a:ln/>
        </p:spPr>
      </p:sp>
      <p:sp>
        <p:nvSpPr>
          <p:cNvPr id="8" name="Text 5"/>
          <p:cNvSpPr/>
          <p:nvPr/>
        </p:nvSpPr>
        <p:spPr>
          <a:xfrm>
            <a:off x="6597253" y="4221242"/>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Indexing</a:t>
            </a:r>
            <a:endParaRPr lang="en-US" sz="2400" dirty="0"/>
          </a:p>
        </p:txBody>
      </p:sp>
      <p:sp>
        <p:nvSpPr>
          <p:cNvPr id="9" name="Text 6"/>
          <p:cNvSpPr/>
          <p:nvPr/>
        </p:nvSpPr>
        <p:spPr>
          <a:xfrm>
            <a:off x="6597253" y="4755118"/>
            <a:ext cx="6922294"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Elements are identified by their index, starting from 0.</a:t>
            </a:r>
            <a:endParaRPr lang="en-US" sz="1900" dirty="0"/>
          </a:p>
        </p:txBody>
      </p:sp>
      <p:sp>
        <p:nvSpPr>
          <p:cNvPr id="10" name="Shape 7"/>
          <p:cNvSpPr/>
          <p:nvPr/>
        </p:nvSpPr>
        <p:spPr>
          <a:xfrm>
            <a:off x="6350437" y="5643801"/>
            <a:ext cx="7415927" cy="1817608"/>
          </a:xfrm>
          <a:prstGeom prst="roundRect">
            <a:avLst>
              <a:gd name="adj" fmla="val 2037"/>
            </a:avLst>
          </a:prstGeom>
          <a:solidFill>
            <a:srgbClr val="EDEBE3"/>
          </a:solidFill>
          <a:ln/>
        </p:spPr>
      </p:sp>
      <p:sp>
        <p:nvSpPr>
          <p:cNvPr id="11" name="Text 8"/>
          <p:cNvSpPr/>
          <p:nvPr/>
        </p:nvSpPr>
        <p:spPr>
          <a:xfrm>
            <a:off x="6597253" y="5890617"/>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Fixed Size</a:t>
            </a:r>
            <a:endParaRPr lang="en-US" sz="2400" dirty="0"/>
          </a:p>
        </p:txBody>
      </p:sp>
      <p:sp>
        <p:nvSpPr>
          <p:cNvPr id="12" name="Text 9"/>
          <p:cNvSpPr/>
          <p:nvPr/>
        </p:nvSpPr>
        <p:spPr>
          <a:xfrm>
            <a:off x="6597253" y="6424493"/>
            <a:ext cx="6922294" cy="790099"/>
          </a:xfrm>
          <a:prstGeom prst="rect">
            <a:avLst/>
          </a:prstGeom>
          <a:noFill/>
          <a:ln/>
        </p:spPr>
        <p:txBody>
          <a:bodyPr wrap="squar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Arrays have a fixed size that is determined when they are created.</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1289685"/>
            <a:ext cx="6172200" cy="771525"/>
          </a:xfrm>
          <a:prstGeom prst="rect">
            <a:avLst/>
          </a:prstGeom>
          <a:noFill/>
          <a:ln/>
        </p:spPr>
        <p:txBody>
          <a:bodyPr wrap="non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Basic Terminology</a:t>
            </a:r>
            <a:endParaRPr lang="en-US" sz="4850" dirty="0"/>
          </a:p>
        </p:txBody>
      </p:sp>
      <p:sp>
        <p:nvSpPr>
          <p:cNvPr id="4" name="Shape 1"/>
          <p:cNvSpPr/>
          <p:nvPr/>
        </p:nvSpPr>
        <p:spPr>
          <a:xfrm>
            <a:off x="864037" y="2709148"/>
            <a:ext cx="555427" cy="555427"/>
          </a:xfrm>
          <a:prstGeom prst="roundRect">
            <a:avLst>
              <a:gd name="adj" fmla="val 6668"/>
            </a:avLst>
          </a:prstGeom>
          <a:solidFill>
            <a:srgbClr val="EDEBE3"/>
          </a:solidFill>
          <a:ln/>
        </p:spPr>
      </p:sp>
      <p:sp>
        <p:nvSpPr>
          <p:cNvPr id="5" name="Text 2"/>
          <p:cNvSpPr/>
          <p:nvPr/>
        </p:nvSpPr>
        <p:spPr>
          <a:xfrm>
            <a:off x="1080968" y="2801660"/>
            <a:ext cx="121563" cy="370284"/>
          </a:xfrm>
          <a:prstGeom prst="rect">
            <a:avLst/>
          </a:prstGeom>
          <a:noFill/>
          <a:ln/>
        </p:spPr>
        <p:txBody>
          <a:bodyPr wrap="none" lIns="0" tIns="0" rIns="0" bIns="0" rtlCol="0" anchor="t"/>
          <a:lstStyle/>
          <a:p>
            <a:pPr algn="ctr" indent="0" marL="0">
              <a:lnSpc>
                <a:spcPts val="2900"/>
              </a:lnSpc>
              <a:buNone/>
            </a:pPr>
            <a:r>
              <a:rPr lang="en-US" sz="2900" dirty="0">
                <a:solidFill>
                  <a:srgbClr val="161613"/>
                </a:solidFill>
                <a:latin typeface="DM Sans" pitchFamily="34" charset="0"/>
                <a:ea typeface="DM Sans" pitchFamily="34" charset="-122"/>
                <a:cs typeface="DM Sans" pitchFamily="34" charset="-120"/>
              </a:rPr>
              <a:t>1</a:t>
            </a:r>
            <a:endParaRPr lang="en-US" sz="2900" dirty="0"/>
          </a:p>
        </p:txBody>
      </p:sp>
      <p:sp>
        <p:nvSpPr>
          <p:cNvPr id="6" name="Text 3"/>
          <p:cNvSpPr/>
          <p:nvPr/>
        </p:nvSpPr>
        <p:spPr>
          <a:xfrm>
            <a:off x="1666280" y="2709148"/>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Array Index</a:t>
            </a:r>
            <a:endParaRPr lang="en-US" sz="2400" dirty="0"/>
          </a:p>
        </p:txBody>
      </p:sp>
      <p:sp>
        <p:nvSpPr>
          <p:cNvPr id="7" name="Text 4"/>
          <p:cNvSpPr/>
          <p:nvPr/>
        </p:nvSpPr>
        <p:spPr>
          <a:xfrm>
            <a:off x="1666280" y="3243024"/>
            <a:ext cx="6613684"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The position of an element in the array, starting from 0.</a:t>
            </a:r>
            <a:endParaRPr lang="en-US" sz="1900" dirty="0"/>
          </a:p>
        </p:txBody>
      </p:sp>
      <p:sp>
        <p:nvSpPr>
          <p:cNvPr id="8" name="Shape 5"/>
          <p:cNvSpPr/>
          <p:nvPr/>
        </p:nvSpPr>
        <p:spPr>
          <a:xfrm>
            <a:off x="864037" y="4162544"/>
            <a:ext cx="555427" cy="555427"/>
          </a:xfrm>
          <a:prstGeom prst="roundRect">
            <a:avLst>
              <a:gd name="adj" fmla="val 6668"/>
            </a:avLst>
          </a:prstGeom>
          <a:solidFill>
            <a:srgbClr val="EDEBE3"/>
          </a:solidFill>
          <a:ln/>
        </p:spPr>
      </p:sp>
      <p:sp>
        <p:nvSpPr>
          <p:cNvPr id="9" name="Text 6"/>
          <p:cNvSpPr/>
          <p:nvPr/>
        </p:nvSpPr>
        <p:spPr>
          <a:xfrm>
            <a:off x="1034891" y="4255056"/>
            <a:ext cx="213717" cy="370284"/>
          </a:xfrm>
          <a:prstGeom prst="rect">
            <a:avLst/>
          </a:prstGeom>
          <a:noFill/>
          <a:ln/>
        </p:spPr>
        <p:txBody>
          <a:bodyPr wrap="none" lIns="0" tIns="0" rIns="0" bIns="0" rtlCol="0" anchor="t"/>
          <a:lstStyle/>
          <a:p>
            <a:pPr algn="ctr" indent="0" marL="0">
              <a:lnSpc>
                <a:spcPts val="2900"/>
              </a:lnSpc>
              <a:buNone/>
            </a:pPr>
            <a:r>
              <a:rPr lang="en-US" sz="2900" dirty="0">
                <a:solidFill>
                  <a:srgbClr val="161613"/>
                </a:solidFill>
                <a:latin typeface="DM Sans" pitchFamily="34" charset="0"/>
                <a:ea typeface="DM Sans" pitchFamily="34" charset="-122"/>
                <a:cs typeface="DM Sans" pitchFamily="34" charset="-120"/>
              </a:rPr>
              <a:t>2</a:t>
            </a:r>
            <a:endParaRPr lang="en-US" sz="2900" dirty="0"/>
          </a:p>
        </p:txBody>
      </p:sp>
      <p:sp>
        <p:nvSpPr>
          <p:cNvPr id="10" name="Text 7"/>
          <p:cNvSpPr/>
          <p:nvPr/>
        </p:nvSpPr>
        <p:spPr>
          <a:xfrm>
            <a:off x="1666280" y="4162544"/>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Array Element</a:t>
            </a:r>
            <a:endParaRPr lang="en-US" sz="2400" dirty="0"/>
          </a:p>
        </p:txBody>
      </p:sp>
      <p:sp>
        <p:nvSpPr>
          <p:cNvPr id="11" name="Text 8"/>
          <p:cNvSpPr/>
          <p:nvPr/>
        </p:nvSpPr>
        <p:spPr>
          <a:xfrm>
            <a:off x="1666280" y="4696420"/>
            <a:ext cx="6613684"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An individual item stored at a specific index in the array.</a:t>
            </a:r>
            <a:endParaRPr lang="en-US" sz="1900" dirty="0"/>
          </a:p>
        </p:txBody>
      </p:sp>
      <p:sp>
        <p:nvSpPr>
          <p:cNvPr id="12" name="Shape 9"/>
          <p:cNvSpPr/>
          <p:nvPr/>
        </p:nvSpPr>
        <p:spPr>
          <a:xfrm>
            <a:off x="864037" y="5615940"/>
            <a:ext cx="555427" cy="555427"/>
          </a:xfrm>
          <a:prstGeom prst="roundRect">
            <a:avLst>
              <a:gd name="adj" fmla="val 6668"/>
            </a:avLst>
          </a:prstGeom>
          <a:solidFill>
            <a:srgbClr val="EDEBE3"/>
          </a:solidFill>
          <a:ln/>
        </p:spPr>
      </p:sp>
      <p:sp>
        <p:nvSpPr>
          <p:cNvPr id="13" name="Text 10"/>
          <p:cNvSpPr/>
          <p:nvPr/>
        </p:nvSpPr>
        <p:spPr>
          <a:xfrm>
            <a:off x="1031677" y="5708452"/>
            <a:ext cx="220028" cy="370284"/>
          </a:xfrm>
          <a:prstGeom prst="rect">
            <a:avLst/>
          </a:prstGeom>
          <a:noFill/>
          <a:ln/>
        </p:spPr>
        <p:txBody>
          <a:bodyPr wrap="none" lIns="0" tIns="0" rIns="0" bIns="0" rtlCol="0" anchor="t"/>
          <a:lstStyle/>
          <a:p>
            <a:pPr algn="ctr" indent="0" marL="0">
              <a:lnSpc>
                <a:spcPts val="2900"/>
              </a:lnSpc>
              <a:buNone/>
            </a:pPr>
            <a:r>
              <a:rPr lang="en-US" sz="2900" dirty="0">
                <a:solidFill>
                  <a:srgbClr val="161613"/>
                </a:solidFill>
                <a:latin typeface="DM Sans" pitchFamily="34" charset="0"/>
                <a:ea typeface="DM Sans" pitchFamily="34" charset="-122"/>
                <a:cs typeface="DM Sans" pitchFamily="34" charset="-120"/>
              </a:rPr>
              <a:t>3</a:t>
            </a:r>
            <a:endParaRPr lang="en-US" sz="2900" dirty="0"/>
          </a:p>
        </p:txBody>
      </p:sp>
      <p:sp>
        <p:nvSpPr>
          <p:cNvPr id="14" name="Text 11"/>
          <p:cNvSpPr/>
          <p:nvPr/>
        </p:nvSpPr>
        <p:spPr>
          <a:xfrm>
            <a:off x="1666280" y="5615940"/>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Array Length</a:t>
            </a:r>
            <a:endParaRPr lang="en-US" sz="2400" dirty="0"/>
          </a:p>
        </p:txBody>
      </p:sp>
      <p:sp>
        <p:nvSpPr>
          <p:cNvPr id="15" name="Text 12"/>
          <p:cNvSpPr/>
          <p:nvPr/>
        </p:nvSpPr>
        <p:spPr>
          <a:xfrm>
            <a:off x="1666280" y="6149816"/>
            <a:ext cx="6613684" cy="790099"/>
          </a:xfrm>
          <a:prstGeom prst="rect">
            <a:avLst/>
          </a:prstGeom>
          <a:noFill/>
          <a:ln/>
        </p:spPr>
        <p:txBody>
          <a:bodyPr wrap="squar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The total number of elements that can be stored in the array.</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1505"/>
          </a:xfrm>
          <a:prstGeom prst="rect">
            <a:avLst/>
          </a:prstGeom>
        </p:spPr>
      </p:pic>
      <p:sp>
        <p:nvSpPr>
          <p:cNvPr id="3" name="Text 0"/>
          <p:cNvSpPr/>
          <p:nvPr/>
        </p:nvSpPr>
        <p:spPr>
          <a:xfrm>
            <a:off x="6328648" y="661749"/>
            <a:ext cx="6828949" cy="751999"/>
          </a:xfrm>
          <a:prstGeom prst="rect">
            <a:avLst/>
          </a:prstGeom>
          <a:noFill/>
          <a:ln/>
        </p:spPr>
        <p:txBody>
          <a:bodyPr wrap="none" lIns="0" tIns="0" rIns="0" bIns="0" rtlCol="0" anchor="t"/>
          <a:lstStyle/>
          <a:p>
            <a:pPr indent="0" marL="0">
              <a:lnSpc>
                <a:spcPts val="5900"/>
              </a:lnSpc>
              <a:buNone/>
            </a:pPr>
            <a:r>
              <a:rPr lang="en-US" sz="4700" dirty="0">
                <a:solidFill>
                  <a:srgbClr val="161613"/>
                </a:solidFill>
                <a:latin typeface="DM Sans" pitchFamily="34" charset="0"/>
                <a:ea typeface="DM Sans" pitchFamily="34" charset="-122"/>
                <a:cs typeface="DM Sans" pitchFamily="34" charset="-120"/>
              </a:rPr>
              <a:t>Memory Representation</a:t>
            </a:r>
            <a:endParaRPr lang="en-US" sz="4700" dirty="0"/>
          </a:p>
        </p:txBody>
      </p:sp>
      <p:sp>
        <p:nvSpPr>
          <p:cNvPr id="4" name="Shape 1"/>
          <p:cNvSpPr/>
          <p:nvPr/>
        </p:nvSpPr>
        <p:spPr>
          <a:xfrm>
            <a:off x="6674287" y="1774627"/>
            <a:ext cx="30480" cy="5795129"/>
          </a:xfrm>
          <a:prstGeom prst="roundRect">
            <a:avLst>
              <a:gd name="adj" fmla="val 118430"/>
            </a:avLst>
          </a:prstGeom>
          <a:solidFill>
            <a:srgbClr val="D3D1C9"/>
          </a:solidFill>
          <a:ln/>
        </p:spPr>
      </p:sp>
      <p:sp>
        <p:nvSpPr>
          <p:cNvPr id="5" name="Shape 2"/>
          <p:cNvSpPr/>
          <p:nvPr/>
        </p:nvSpPr>
        <p:spPr>
          <a:xfrm>
            <a:off x="6929735" y="2300645"/>
            <a:ext cx="842248" cy="30480"/>
          </a:xfrm>
          <a:prstGeom prst="roundRect">
            <a:avLst>
              <a:gd name="adj" fmla="val 118430"/>
            </a:avLst>
          </a:prstGeom>
          <a:solidFill>
            <a:srgbClr val="D3D1C9"/>
          </a:solidFill>
          <a:ln/>
        </p:spPr>
      </p:sp>
      <p:sp>
        <p:nvSpPr>
          <p:cNvPr id="6" name="Shape 3"/>
          <p:cNvSpPr/>
          <p:nvPr/>
        </p:nvSpPr>
        <p:spPr>
          <a:xfrm>
            <a:off x="6418838" y="2045256"/>
            <a:ext cx="541377" cy="541377"/>
          </a:xfrm>
          <a:prstGeom prst="roundRect">
            <a:avLst>
              <a:gd name="adj" fmla="val 6668"/>
            </a:avLst>
          </a:prstGeom>
          <a:solidFill>
            <a:srgbClr val="EDEBE3"/>
          </a:solidFill>
          <a:ln/>
        </p:spPr>
      </p:sp>
      <p:sp>
        <p:nvSpPr>
          <p:cNvPr id="7" name="Text 4"/>
          <p:cNvSpPr/>
          <p:nvPr/>
        </p:nvSpPr>
        <p:spPr>
          <a:xfrm>
            <a:off x="6630293" y="2135386"/>
            <a:ext cx="118467" cy="360998"/>
          </a:xfrm>
          <a:prstGeom prst="rect">
            <a:avLst/>
          </a:prstGeom>
          <a:noFill/>
          <a:ln/>
        </p:spPr>
        <p:txBody>
          <a:bodyPr wrap="none" lIns="0" tIns="0" rIns="0" bIns="0" rtlCol="0" anchor="t"/>
          <a:lstStyle/>
          <a:p>
            <a:pPr algn="ctr" indent="0" marL="0">
              <a:lnSpc>
                <a:spcPts val="2800"/>
              </a:lnSpc>
              <a:buNone/>
            </a:pPr>
            <a:r>
              <a:rPr lang="en-US" sz="2800" dirty="0">
                <a:solidFill>
                  <a:srgbClr val="161613"/>
                </a:solidFill>
                <a:latin typeface="DM Sans" pitchFamily="34" charset="0"/>
                <a:ea typeface="DM Sans" pitchFamily="34" charset="-122"/>
                <a:cs typeface="DM Sans" pitchFamily="34" charset="-120"/>
              </a:rPr>
              <a:t>1</a:t>
            </a:r>
            <a:endParaRPr lang="en-US" sz="2800" dirty="0"/>
          </a:p>
        </p:txBody>
      </p:sp>
      <p:sp>
        <p:nvSpPr>
          <p:cNvPr id="8" name="Text 5"/>
          <p:cNvSpPr/>
          <p:nvPr/>
        </p:nvSpPr>
        <p:spPr>
          <a:xfrm>
            <a:off x="8013025" y="2015252"/>
            <a:ext cx="3007995" cy="375880"/>
          </a:xfrm>
          <a:prstGeom prst="rect">
            <a:avLst/>
          </a:prstGeom>
          <a:noFill/>
          <a:ln/>
        </p:spPr>
        <p:txBody>
          <a:bodyPr wrap="none" lIns="0" tIns="0" rIns="0" bIns="0" rtlCol="0" anchor="t"/>
          <a:lstStyle/>
          <a:p>
            <a:pPr algn="l" indent="0" marL="0">
              <a:lnSpc>
                <a:spcPts val="2950"/>
              </a:lnSpc>
              <a:buNone/>
            </a:pPr>
            <a:r>
              <a:rPr lang="en-US" sz="2350" dirty="0">
                <a:solidFill>
                  <a:srgbClr val="161613"/>
                </a:solidFill>
                <a:latin typeface="DM Sans" pitchFamily="34" charset="0"/>
                <a:ea typeface="DM Sans" pitchFamily="34" charset="-122"/>
                <a:cs typeface="DM Sans" pitchFamily="34" charset="-120"/>
              </a:rPr>
              <a:t>Contiguous Storage</a:t>
            </a:r>
            <a:endParaRPr lang="en-US" sz="2350" dirty="0"/>
          </a:p>
        </p:txBody>
      </p:sp>
      <p:sp>
        <p:nvSpPr>
          <p:cNvPr id="9" name="Text 6"/>
          <p:cNvSpPr/>
          <p:nvPr/>
        </p:nvSpPr>
        <p:spPr>
          <a:xfrm>
            <a:off x="8013025" y="2535436"/>
            <a:ext cx="5775127" cy="769858"/>
          </a:xfrm>
          <a:prstGeom prst="rect">
            <a:avLst/>
          </a:prstGeom>
          <a:noFill/>
          <a:ln/>
        </p:spPr>
        <p:txBody>
          <a:bodyPr wrap="square" lIns="0" tIns="0" rIns="0" bIns="0" rtlCol="0" anchor="t"/>
          <a:lstStyle/>
          <a:p>
            <a:pPr algn="l" indent="0" marL="0">
              <a:lnSpc>
                <a:spcPts val="3000"/>
              </a:lnSpc>
              <a:buNone/>
            </a:pPr>
            <a:r>
              <a:rPr lang="en-US" sz="1850" dirty="0">
                <a:solidFill>
                  <a:srgbClr val="161613"/>
                </a:solidFill>
                <a:latin typeface="Inter" pitchFamily="34" charset="0"/>
                <a:ea typeface="Inter" pitchFamily="34" charset="-122"/>
                <a:cs typeface="Inter" pitchFamily="34" charset="-120"/>
              </a:rPr>
              <a:t>Array elements are stored in adjacent memory locations.</a:t>
            </a:r>
            <a:endParaRPr lang="en-US" sz="1850" dirty="0"/>
          </a:p>
        </p:txBody>
      </p:sp>
      <p:sp>
        <p:nvSpPr>
          <p:cNvPr id="10" name="Shape 7"/>
          <p:cNvSpPr/>
          <p:nvPr/>
        </p:nvSpPr>
        <p:spPr>
          <a:xfrm>
            <a:off x="6929735" y="4312563"/>
            <a:ext cx="842248" cy="30480"/>
          </a:xfrm>
          <a:prstGeom prst="roundRect">
            <a:avLst>
              <a:gd name="adj" fmla="val 118430"/>
            </a:avLst>
          </a:prstGeom>
          <a:solidFill>
            <a:srgbClr val="D3D1C9"/>
          </a:solidFill>
          <a:ln/>
        </p:spPr>
      </p:sp>
      <p:sp>
        <p:nvSpPr>
          <p:cNvPr id="11" name="Shape 8"/>
          <p:cNvSpPr/>
          <p:nvPr/>
        </p:nvSpPr>
        <p:spPr>
          <a:xfrm>
            <a:off x="6418838" y="4057174"/>
            <a:ext cx="541377" cy="541377"/>
          </a:xfrm>
          <a:prstGeom prst="roundRect">
            <a:avLst>
              <a:gd name="adj" fmla="val 6668"/>
            </a:avLst>
          </a:prstGeom>
          <a:solidFill>
            <a:srgbClr val="EDEBE3"/>
          </a:solidFill>
          <a:ln/>
        </p:spPr>
      </p:sp>
      <p:sp>
        <p:nvSpPr>
          <p:cNvPr id="12" name="Text 9"/>
          <p:cNvSpPr/>
          <p:nvPr/>
        </p:nvSpPr>
        <p:spPr>
          <a:xfrm>
            <a:off x="6585406" y="4147304"/>
            <a:ext cx="208240" cy="360998"/>
          </a:xfrm>
          <a:prstGeom prst="rect">
            <a:avLst/>
          </a:prstGeom>
          <a:noFill/>
          <a:ln/>
        </p:spPr>
        <p:txBody>
          <a:bodyPr wrap="none" lIns="0" tIns="0" rIns="0" bIns="0" rtlCol="0" anchor="t"/>
          <a:lstStyle/>
          <a:p>
            <a:pPr algn="ctr" indent="0" marL="0">
              <a:lnSpc>
                <a:spcPts val="2800"/>
              </a:lnSpc>
              <a:buNone/>
            </a:pPr>
            <a:r>
              <a:rPr lang="en-US" sz="2800" dirty="0">
                <a:solidFill>
                  <a:srgbClr val="161613"/>
                </a:solidFill>
                <a:latin typeface="DM Sans" pitchFamily="34" charset="0"/>
                <a:ea typeface="DM Sans" pitchFamily="34" charset="-122"/>
                <a:cs typeface="DM Sans" pitchFamily="34" charset="-120"/>
              </a:rPr>
              <a:t>2</a:t>
            </a:r>
            <a:endParaRPr lang="en-US" sz="2800" dirty="0"/>
          </a:p>
        </p:txBody>
      </p:sp>
      <p:sp>
        <p:nvSpPr>
          <p:cNvPr id="13" name="Text 10"/>
          <p:cNvSpPr/>
          <p:nvPr/>
        </p:nvSpPr>
        <p:spPr>
          <a:xfrm>
            <a:off x="8013025" y="4027170"/>
            <a:ext cx="3007995" cy="375880"/>
          </a:xfrm>
          <a:prstGeom prst="rect">
            <a:avLst/>
          </a:prstGeom>
          <a:noFill/>
          <a:ln/>
        </p:spPr>
        <p:txBody>
          <a:bodyPr wrap="none" lIns="0" tIns="0" rIns="0" bIns="0" rtlCol="0" anchor="t"/>
          <a:lstStyle/>
          <a:p>
            <a:pPr algn="l" indent="0" marL="0">
              <a:lnSpc>
                <a:spcPts val="2950"/>
              </a:lnSpc>
              <a:buNone/>
            </a:pPr>
            <a:r>
              <a:rPr lang="en-US" sz="2350" dirty="0">
                <a:solidFill>
                  <a:srgbClr val="161613"/>
                </a:solidFill>
                <a:latin typeface="DM Sans" pitchFamily="34" charset="0"/>
                <a:ea typeface="DM Sans" pitchFamily="34" charset="-122"/>
                <a:cs typeface="DM Sans" pitchFamily="34" charset="-120"/>
              </a:rPr>
              <a:t>Address Calculation</a:t>
            </a:r>
            <a:endParaRPr lang="en-US" sz="2350" dirty="0"/>
          </a:p>
        </p:txBody>
      </p:sp>
      <p:sp>
        <p:nvSpPr>
          <p:cNvPr id="14" name="Text 11"/>
          <p:cNvSpPr/>
          <p:nvPr/>
        </p:nvSpPr>
        <p:spPr>
          <a:xfrm>
            <a:off x="8013025" y="4547354"/>
            <a:ext cx="5775127" cy="769858"/>
          </a:xfrm>
          <a:prstGeom prst="rect">
            <a:avLst/>
          </a:prstGeom>
          <a:noFill/>
          <a:ln/>
        </p:spPr>
        <p:txBody>
          <a:bodyPr wrap="square" lIns="0" tIns="0" rIns="0" bIns="0" rtlCol="0" anchor="t"/>
          <a:lstStyle/>
          <a:p>
            <a:pPr algn="l" indent="0" marL="0">
              <a:lnSpc>
                <a:spcPts val="3000"/>
              </a:lnSpc>
              <a:buNone/>
            </a:pPr>
            <a:r>
              <a:rPr lang="en-US" sz="1850" dirty="0">
                <a:solidFill>
                  <a:srgbClr val="161613"/>
                </a:solidFill>
                <a:latin typeface="Inter" pitchFamily="34" charset="0"/>
                <a:ea typeface="Inter" pitchFamily="34" charset="-122"/>
                <a:cs typeface="Inter" pitchFamily="34" charset="-120"/>
              </a:rPr>
              <a:t>Element addresses can be calculated using the base address and index.</a:t>
            </a:r>
            <a:endParaRPr lang="en-US" sz="1850" dirty="0"/>
          </a:p>
        </p:txBody>
      </p:sp>
      <p:sp>
        <p:nvSpPr>
          <p:cNvPr id="15" name="Shape 12"/>
          <p:cNvSpPr/>
          <p:nvPr/>
        </p:nvSpPr>
        <p:spPr>
          <a:xfrm>
            <a:off x="6929735" y="6324481"/>
            <a:ext cx="842248" cy="30480"/>
          </a:xfrm>
          <a:prstGeom prst="roundRect">
            <a:avLst>
              <a:gd name="adj" fmla="val 118430"/>
            </a:avLst>
          </a:prstGeom>
          <a:solidFill>
            <a:srgbClr val="D3D1C9"/>
          </a:solidFill>
          <a:ln/>
        </p:spPr>
      </p:sp>
      <p:sp>
        <p:nvSpPr>
          <p:cNvPr id="16" name="Shape 13"/>
          <p:cNvSpPr/>
          <p:nvPr/>
        </p:nvSpPr>
        <p:spPr>
          <a:xfrm>
            <a:off x="6418838" y="6069092"/>
            <a:ext cx="541377" cy="541377"/>
          </a:xfrm>
          <a:prstGeom prst="roundRect">
            <a:avLst>
              <a:gd name="adj" fmla="val 6668"/>
            </a:avLst>
          </a:prstGeom>
          <a:solidFill>
            <a:srgbClr val="EDEBE3"/>
          </a:solidFill>
          <a:ln/>
        </p:spPr>
      </p:sp>
      <p:sp>
        <p:nvSpPr>
          <p:cNvPr id="17" name="Text 14"/>
          <p:cNvSpPr/>
          <p:nvPr/>
        </p:nvSpPr>
        <p:spPr>
          <a:xfrm>
            <a:off x="6582311" y="6159222"/>
            <a:ext cx="214432" cy="360998"/>
          </a:xfrm>
          <a:prstGeom prst="rect">
            <a:avLst/>
          </a:prstGeom>
          <a:noFill/>
          <a:ln/>
        </p:spPr>
        <p:txBody>
          <a:bodyPr wrap="none" lIns="0" tIns="0" rIns="0" bIns="0" rtlCol="0" anchor="t"/>
          <a:lstStyle/>
          <a:p>
            <a:pPr algn="ctr" indent="0" marL="0">
              <a:lnSpc>
                <a:spcPts val="2800"/>
              </a:lnSpc>
              <a:buNone/>
            </a:pPr>
            <a:r>
              <a:rPr lang="en-US" sz="2800" dirty="0">
                <a:solidFill>
                  <a:srgbClr val="161613"/>
                </a:solidFill>
                <a:latin typeface="DM Sans" pitchFamily="34" charset="0"/>
                <a:ea typeface="DM Sans" pitchFamily="34" charset="-122"/>
                <a:cs typeface="DM Sans" pitchFamily="34" charset="-120"/>
              </a:rPr>
              <a:t>3</a:t>
            </a:r>
            <a:endParaRPr lang="en-US" sz="2800" dirty="0"/>
          </a:p>
        </p:txBody>
      </p:sp>
      <p:sp>
        <p:nvSpPr>
          <p:cNvPr id="18" name="Text 15"/>
          <p:cNvSpPr/>
          <p:nvPr/>
        </p:nvSpPr>
        <p:spPr>
          <a:xfrm>
            <a:off x="8013025" y="6039088"/>
            <a:ext cx="3007995" cy="375880"/>
          </a:xfrm>
          <a:prstGeom prst="rect">
            <a:avLst/>
          </a:prstGeom>
          <a:noFill/>
          <a:ln/>
        </p:spPr>
        <p:txBody>
          <a:bodyPr wrap="none" lIns="0" tIns="0" rIns="0" bIns="0" rtlCol="0" anchor="t"/>
          <a:lstStyle/>
          <a:p>
            <a:pPr algn="l" indent="0" marL="0">
              <a:lnSpc>
                <a:spcPts val="2950"/>
              </a:lnSpc>
              <a:buNone/>
            </a:pPr>
            <a:r>
              <a:rPr lang="en-US" sz="2350" dirty="0">
                <a:solidFill>
                  <a:srgbClr val="161613"/>
                </a:solidFill>
                <a:latin typeface="DM Sans" pitchFamily="34" charset="0"/>
                <a:ea typeface="DM Sans" pitchFamily="34" charset="-122"/>
                <a:cs typeface="DM Sans" pitchFamily="34" charset="-120"/>
              </a:rPr>
              <a:t>Efficient Access</a:t>
            </a:r>
            <a:endParaRPr lang="en-US" sz="2350" dirty="0"/>
          </a:p>
        </p:txBody>
      </p:sp>
      <p:sp>
        <p:nvSpPr>
          <p:cNvPr id="19" name="Text 16"/>
          <p:cNvSpPr/>
          <p:nvPr/>
        </p:nvSpPr>
        <p:spPr>
          <a:xfrm>
            <a:off x="8013025" y="6559272"/>
            <a:ext cx="5775127" cy="769858"/>
          </a:xfrm>
          <a:prstGeom prst="rect">
            <a:avLst/>
          </a:prstGeom>
          <a:noFill/>
          <a:ln/>
        </p:spPr>
        <p:txBody>
          <a:bodyPr wrap="square" lIns="0" tIns="0" rIns="0" bIns="0" rtlCol="0" anchor="t"/>
          <a:lstStyle/>
          <a:p>
            <a:pPr algn="l" indent="0" marL="0">
              <a:lnSpc>
                <a:spcPts val="3000"/>
              </a:lnSpc>
              <a:buNone/>
            </a:pPr>
            <a:r>
              <a:rPr lang="en-US" sz="1850" dirty="0">
                <a:solidFill>
                  <a:srgbClr val="161613"/>
                </a:solidFill>
                <a:latin typeface="Inter" pitchFamily="34" charset="0"/>
                <a:ea typeface="Inter" pitchFamily="34" charset="-122"/>
                <a:cs typeface="Inter" pitchFamily="34" charset="-120"/>
              </a:rPr>
              <a:t>Allows for fast retrieval of elements using their index.</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4037" y="2795588"/>
            <a:ext cx="6172200" cy="771525"/>
          </a:xfrm>
          <a:prstGeom prst="rect">
            <a:avLst/>
          </a:prstGeom>
          <a:noFill/>
          <a:ln/>
        </p:spPr>
        <p:txBody>
          <a:bodyPr wrap="non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Array Declaration</a:t>
            </a:r>
            <a:endParaRPr lang="en-US" sz="4850" dirty="0"/>
          </a:p>
        </p:txBody>
      </p:sp>
      <p:sp>
        <p:nvSpPr>
          <p:cNvPr id="3" name="Text 1"/>
          <p:cNvSpPr/>
          <p:nvPr/>
        </p:nvSpPr>
        <p:spPr>
          <a:xfrm>
            <a:off x="864037" y="4184213"/>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C++</a:t>
            </a:r>
            <a:endParaRPr lang="en-US" sz="2400" dirty="0"/>
          </a:p>
        </p:txBody>
      </p:sp>
      <p:sp>
        <p:nvSpPr>
          <p:cNvPr id="4" name="Text 2"/>
          <p:cNvSpPr/>
          <p:nvPr/>
        </p:nvSpPr>
        <p:spPr>
          <a:xfrm>
            <a:off x="864037" y="4816793"/>
            <a:ext cx="3898821"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int arr[5];</a:t>
            </a:r>
            <a:endParaRPr lang="en-US" sz="1900" dirty="0"/>
          </a:p>
        </p:txBody>
      </p:sp>
      <p:sp>
        <p:nvSpPr>
          <p:cNvPr id="5" name="Text 3"/>
          <p:cNvSpPr/>
          <p:nvPr/>
        </p:nvSpPr>
        <p:spPr>
          <a:xfrm>
            <a:off x="5372695" y="4184213"/>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Java</a:t>
            </a:r>
            <a:endParaRPr lang="en-US" sz="2400" dirty="0"/>
          </a:p>
        </p:txBody>
      </p:sp>
      <p:sp>
        <p:nvSpPr>
          <p:cNvPr id="6" name="Text 4"/>
          <p:cNvSpPr/>
          <p:nvPr/>
        </p:nvSpPr>
        <p:spPr>
          <a:xfrm>
            <a:off x="5372695" y="4816793"/>
            <a:ext cx="3898821"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int[] arr;</a:t>
            </a:r>
            <a:endParaRPr lang="en-US" sz="1900" dirty="0"/>
          </a:p>
        </p:txBody>
      </p:sp>
      <p:sp>
        <p:nvSpPr>
          <p:cNvPr id="7" name="Text 5"/>
          <p:cNvSpPr/>
          <p:nvPr/>
        </p:nvSpPr>
        <p:spPr>
          <a:xfrm>
            <a:off x="9881354" y="4184213"/>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Python</a:t>
            </a:r>
            <a:endParaRPr lang="en-US" sz="2400" dirty="0"/>
          </a:p>
        </p:txBody>
      </p:sp>
      <p:sp>
        <p:nvSpPr>
          <p:cNvPr id="8" name="Text 6"/>
          <p:cNvSpPr/>
          <p:nvPr/>
        </p:nvSpPr>
        <p:spPr>
          <a:xfrm>
            <a:off x="9881354" y="4816793"/>
            <a:ext cx="3898821"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arr = []</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4037" y="2795588"/>
            <a:ext cx="6172200" cy="771525"/>
          </a:xfrm>
          <a:prstGeom prst="rect">
            <a:avLst/>
          </a:prstGeom>
          <a:noFill/>
          <a:ln/>
        </p:spPr>
        <p:txBody>
          <a:bodyPr wrap="non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Array Initialization</a:t>
            </a:r>
            <a:endParaRPr lang="en-US" sz="4850" dirty="0"/>
          </a:p>
        </p:txBody>
      </p:sp>
      <p:sp>
        <p:nvSpPr>
          <p:cNvPr id="3" name="Text 1"/>
          <p:cNvSpPr/>
          <p:nvPr/>
        </p:nvSpPr>
        <p:spPr>
          <a:xfrm>
            <a:off x="864037" y="4184213"/>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C++</a:t>
            </a:r>
            <a:endParaRPr lang="en-US" sz="2400" dirty="0"/>
          </a:p>
        </p:txBody>
      </p:sp>
      <p:sp>
        <p:nvSpPr>
          <p:cNvPr id="4" name="Text 2"/>
          <p:cNvSpPr/>
          <p:nvPr/>
        </p:nvSpPr>
        <p:spPr>
          <a:xfrm>
            <a:off x="864037" y="4816793"/>
            <a:ext cx="3898821"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int arr[] = {1, 2, 3, 4, 5};</a:t>
            </a:r>
            <a:endParaRPr lang="en-US" sz="1900" dirty="0"/>
          </a:p>
        </p:txBody>
      </p:sp>
      <p:sp>
        <p:nvSpPr>
          <p:cNvPr id="5" name="Text 3"/>
          <p:cNvSpPr/>
          <p:nvPr/>
        </p:nvSpPr>
        <p:spPr>
          <a:xfrm>
            <a:off x="5372695" y="4184213"/>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Java</a:t>
            </a:r>
            <a:endParaRPr lang="en-US" sz="2400" dirty="0"/>
          </a:p>
        </p:txBody>
      </p:sp>
      <p:sp>
        <p:nvSpPr>
          <p:cNvPr id="6" name="Text 4"/>
          <p:cNvSpPr/>
          <p:nvPr/>
        </p:nvSpPr>
        <p:spPr>
          <a:xfrm>
            <a:off x="5372695" y="4816793"/>
            <a:ext cx="3898821"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int[] arr = {1, 2, 3, 4, 5};</a:t>
            </a:r>
            <a:endParaRPr lang="en-US" sz="1900" dirty="0"/>
          </a:p>
        </p:txBody>
      </p:sp>
      <p:sp>
        <p:nvSpPr>
          <p:cNvPr id="7" name="Text 5"/>
          <p:cNvSpPr/>
          <p:nvPr/>
        </p:nvSpPr>
        <p:spPr>
          <a:xfrm>
            <a:off x="9881354" y="4184213"/>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Python</a:t>
            </a:r>
            <a:endParaRPr lang="en-US" sz="2400" dirty="0"/>
          </a:p>
        </p:txBody>
      </p:sp>
      <p:sp>
        <p:nvSpPr>
          <p:cNvPr id="8" name="Text 6"/>
          <p:cNvSpPr/>
          <p:nvPr/>
        </p:nvSpPr>
        <p:spPr>
          <a:xfrm>
            <a:off x="9881354" y="4816793"/>
            <a:ext cx="3898821"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arr = [1, 2, 3, 4, 5]</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2571" y="626031"/>
            <a:ext cx="5687616" cy="710922"/>
          </a:xfrm>
          <a:prstGeom prst="rect">
            <a:avLst/>
          </a:prstGeom>
          <a:noFill/>
          <a:ln/>
        </p:spPr>
        <p:txBody>
          <a:bodyPr wrap="none" lIns="0" tIns="0" rIns="0" bIns="0" rtlCol="0" anchor="t"/>
          <a:lstStyle/>
          <a:p>
            <a:pPr indent="0" marL="0">
              <a:lnSpc>
                <a:spcPts val="5550"/>
              </a:lnSpc>
              <a:buNone/>
            </a:pPr>
            <a:r>
              <a:rPr lang="en-US" sz="4450" dirty="0">
                <a:solidFill>
                  <a:srgbClr val="161613"/>
                </a:solidFill>
                <a:latin typeface="DM Sans" pitchFamily="34" charset="0"/>
                <a:ea typeface="DM Sans" pitchFamily="34" charset="-122"/>
                <a:cs typeface="DM Sans" pitchFamily="34" charset="-120"/>
              </a:rPr>
              <a:t>Importance of Arrays</a:t>
            </a:r>
            <a:endParaRPr lang="en-US" sz="4450" dirty="0"/>
          </a:p>
        </p:txBody>
      </p:sp>
      <p:sp>
        <p:nvSpPr>
          <p:cNvPr id="4" name="Shape 1"/>
          <p:cNvSpPr/>
          <p:nvPr/>
        </p:nvSpPr>
        <p:spPr>
          <a:xfrm>
            <a:off x="6282571" y="1678186"/>
            <a:ext cx="7551658" cy="1310759"/>
          </a:xfrm>
          <a:prstGeom prst="roundRect">
            <a:avLst>
              <a:gd name="adj" fmla="val 2604"/>
            </a:avLst>
          </a:prstGeom>
          <a:solidFill>
            <a:srgbClr val="EDEBE3"/>
          </a:solidFill>
          <a:ln/>
        </p:spPr>
      </p:sp>
      <p:sp>
        <p:nvSpPr>
          <p:cNvPr id="5" name="Text 2"/>
          <p:cNvSpPr/>
          <p:nvPr/>
        </p:nvSpPr>
        <p:spPr>
          <a:xfrm>
            <a:off x="6509980" y="1905595"/>
            <a:ext cx="2843808" cy="355521"/>
          </a:xfrm>
          <a:prstGeom prst="rect">
            <a:avLst/>
          </a:prstGeom>
          <a:noFill/>
          <a:ln/>
        </p:spPr>
        <p:txBody>
          <a:bodyPr wrap="none" lIns="0" tIns="0" rIns="0" bIns="0" rtlCol="0" anchor="t"/>
          <a:lstStyle/>
          <a:p>
            <a:pPr indent="0" marL="0">
              <a:lnSpc>
                <a:spcPts val="2750"/>
              </a:lnSpc>
              <a:buNone/>
            </a:pPr>
            <a:r>
              <a:rPr lang="en-US" sz="2200" dirty="0">
                <a:solidFill>
                  <a:srgbClr val="161613"/>
                </a:solidFill>
                <a:latin typeface="DM Sans" pitchFamily="34" charset="0"/>
                <a:ea typeface="DM Sans" pitchFamily="34" charset="-122"/>
                <a:cs typeface="DM Sans" pitchFamily="34" charset="-120"/>
              </a:rPr>
              <a:t>Efficient Storage</a:t>
            </a:r>
            <a:endParaRPr lang="en-US" sz="2200" dirty="0"/>
          </a:p>
        </p:txBody>
      </p:sp>
      <p:sp>
        <p:nvSpPr>
          <p:cNvPr id="6" name="Text 3"/>
          <p:cNvSpPr/>
          <p:nvPr/>
        </p:nvSpPr>
        <p:spPr>
          <a:xfrm>
            <a:off x="6509980" y="2397562"/>
            <a:ext cx="7096839" cy="363974"/>
          </a:xfrm>
          <a:prstGeom prst="rect">
            <a:avLst/>
          </a:prstGeom>
          <a:noFill/>
          <a:ln/>
        </p:spPr>
        <p:txBody>
          <a:bodyPr wrap="none" lIns="0" tIns="0" rIns="0" bIns="0" rtlCol="0" anchor="t"/>
          <a:lstStyle/>
          <a:p>
            <a:pPr indent="0" marL="0">
              <a:lnSpc>
                <a:spcPts val="2850"/>
              </a:lnSpc>
              <a:buNone/>
            </a:pPr>
            <a:r>
              <a:rPr lang="en-US" sz="1750" dirty="0">
                <a:solidFill>
                  <a:srgbClr val="161613"/>
                </a:solidFill>
                <a:latin typeface="Inter" pitchFamily="34" charset="0"/>
                <a:ea typeface="Inter" pitchFamily="34" charset="-122"/>
                <a:cs typeface="Inter" pitchFamily="34" charset="-120"/>
              </a:rPr>
              <a:t>Arrays store multiple elements of the same type efficiently.</a:t>
            </a:r>
            <a:endParaRPr lang="en-US" sz="1750" dirty="0"/>
          </a:p>
        </p:txBody>
      </p:sp>
      <p:sp>
        <p:nvSpPr>
          <p:cNvPr id="7" name="Shape 4"/>
          <p:cNvSpPr/>
          <p:nvPr/>
        </p:nvSpPr>
        <p:spPr>
          <a:xfrm>
            <a:off x="6282571" y="3216354"/>
            <a:ext cx="7551658" cy="1310759"/>
          </a:xfrm>
          <a:prstGeom prst="roundRect">
            <a:avLst>
              <a:gd name="adj" fmla="val 2604"/>
            </a:avLst>
          </a:prstGeom>
          <a:solidFill>
            <a:srgbClr val="EDEBE3"/>
          </a:solidFill>
          <a:ln/>
        </p:spPr>
      </p:sp>
      <p:sp>
        <p:nvSpPr>
          <p:cNvPr id="8" name="Text 5"/>
          <p:cNvSpPr/>
          <p:nvPr/>
        </p:nvSpPr>
        <p:spPr>
          <a:xfrm>
            <a:off x="6509980" y="3443764"/>
            <a:ext cx="2843808" cy="355521"/>
          </a:xfrm>
          <a:prstGeom prst="rect">
            <a:avLst/>
          </a:prstGeom>
          <a:noFill/>
          <a:ln/>
        </p:spPr>
        <p:txBody>
          <a:bodyPr wrap="none" lIns="0" tIns="0" rIns="0" bIns="0" rtlCol="0" anchor="t"/>
          <a:lstStyle/>
          <a:p>
            <a:pPr indent="0" marL="0">
              <a:lnSpc>
                <a:spcPts val="2750"/>
              </a:lnSpc>
              <a:buNone/>
            </a:pPr>
            <a:r>
              <a:rPr lang="en-US" sz="2200" dirty="0">
                <a:solidFill>
                  <a:srgbClr val="161613"/>
                </a:solidFill>
                <a:latin typeface="DM Sans" pitchFamily="34" charset="0"/>
                <a:ea typeface="DM Sans" pitchFamily="34" charset="-122"/>
                <a:cs typeface="DM Sans" pitchFamily="34" charset="-120"/>
              </a:rPr>
              <a:t>Fast Access</a:t>
            </a:r>
            <a:endParaRPr lang="en-US" sz="2200" dirty="0"/>
          </a:p>
        </p:txBody>
      </p:sp>
      <p:sp>
        <p:nvSpPr>
          <p:cNvPr id="9" name="Text 6"/>
          <p:cNvSpPr/>
          <p:nvPr/>
        </p:nvSpPr>
        <p:spPr>
          <a:xfrm>
            <a:off x="6509980" y="3935730"/>
            <a:ext cx="7096839" cy="363974"/>
          </a:xfrm>
          <a:prstGeom prst="rect">
            <a:avLst/>
          </a:prstGeom>
          <a:noFill/>
          <a:ln/>
        </p:spPr>
        <p:txBody>
          <a:bodyPr wrap="none" lIns="0" tIns="0" rIns="0" bIns="0" rtlCol="0" anchor="t"/>
          <a:lstStyle/>
          <a:p>
            <a:pPr indent="0" marL="0">
              <a:lnSpc>
                <a:spcPts val="2850"/>
              </a:lnSpc>
              <a:buNone/>
            </a:pPr>
            <a:r>
              <a:rPr lang="en-US" sz="1750" dirty="0">
                <a:solidFill>
                  <a:srgbClr val="161613"/>
                </a:solidFill>
                <a:latin typeface="Inter" pitchFamily="34" charset="0"/>
                <a:ea typeface="Inter" pitchFamily="34" charset="-122"/>
                <a:cs typeface="Inter" pitchFamily="34" charset="-120"/>
              </a:rPr>
              <a:t>Elements can be accessed quickly using their index.</a:t>
            </a:r>
            <a:endParaRPr lang="en-US" sz="1750" dirty="0"/>
          </a:p>
        </p:txBody>
      </p:sp>
      <p:sp>
        <p:nvSpPr>
          <p:cNvPr id="10" name="Shape 7"/>
          <p:cNvSpPr/>
          <p:nvPr/>
        </p:nvSpPr>
        <p:spPr>
          <a:xfrm>
            <a:off x="6282571" y="4754523"/>
            <a:ext cx="7551658" cy="1310759"/>
          </a:xfrm>
          <a:prstGeom prst="roundRect">
            <a:avLst>
              <a:gd name="adj" fmla="val 2604"/>
            </a:avLst>
          </a:prstGeom>
          <a:solidFill>
            <a:srgbClr val="EDEBE3"/>
          </a:solidFill>
          <a:ln/>
        </p:spPr>
      </p:sp>
      <p:sp>
        <p:nvSpPr>
          <p:cNvPr id="11" name="Text 8"/>
          <p:cNvSpPr/>
          <p:nvPr/>
        </p:nvSpPr>
        <p:spPr>
          <a:xfrm>
            <a:off x="6509980" y="4981932"/>
            <a:ext cx="2843808" cy="355521"/>
          </a:xfrm>
          <a:prstGeom prst="rect">
            <a:avLst/>
          </a:prstGeom>
          <a:noFill/>
          <a:ln/>
        </p:spPr>
        <p:txBody>
          <a:bodyPr wrap="none" lIns="0" tIns="0" rIns="0" bIns="0" rtlCol="0" anchor="t"/>
          <a:lstStyle/>
          <a:p>
            <a:pPr indent="0" marL="0">
              <a:lnSpc>
                <a:spcPts val="2750"/>
              </a:lnSpc>
              <a:buNone/>
            </a:pPr>
            <a:r>
              <a:rPr lang="en-US" sz="2200" dirty="0">
                <a:solidFill>
                  <a:srgbClr val="161613"/>
                </a:solidFill>
                <a:latin typeface="DM Sans" pitchFamily="34" charset="0"/>
                <a:ea typeface="DM Sans" pitchFamily="34" charset="-122"/>
                <a:cs typeface="DM Sans" pitchFamily="34" charset="-120"/>
              </a:rPr>
              <a:t>Simplicity</a:t>
            </a:r>
            <a:endParaRPr lang="en-US" sz="2200" dirty="0"/>
          </a:p>
        </p:txBody>
      </p:sp>
      <p:sp>
        <p:nvSpPr>
          <p:cNvPr id="12" name="Text 9"/>
          <p:cNvSpPr/>
          <p:nvPr/>
        </p:nvSpPr>
        <p:spPr>
          <a:xfrm>
            <a:off x="6509980" y="5473898"/>
            <a:ext cx="7096839" cy="363974"/>
          </a:xfrm>
          <a:prstGeom prst="rect">
            <a:avLst/>
          </a:prstGeom>
          <a:noFill/>
          <a:ln/>
        </p:spPr>
        <p:txBody>
          <a:bodyPr wrap="none" lIns="0" tIns="0" rIns="0" bIns="0" rtlCol="0" anchor="t"/>
          <a:lstStyle/>
          <a:p>
            <a:pPr indent="0" marL="0">
              <a:lnSpc>
                <a:spcPts val="2850"/>
              </a:lnSpc>
              <a:buNone/>
            </a:pPr>
            <a:r>
              <a:rPr lang="en-US" sz="1750" dirty="0">
                <a:solidFill>
                  <a:srgbClr val="161613"/>
                </a:solidFill>
                <a:latin typeface="Inter" pitchFamily="34" charset="0"/>
                <a:ea typeface="Inter" pitchFamily="34" charset="-122"/>
                <a:cs typeface="Inter" pitchFamily="34" charset="-120"/>
              </a:rPr>
              <a:t>Arrays are easy to understand and use in programming.</a:t>
            </a:r>
            <a:endParaRPr lang="en-US" sz="1750" dirty="0"/>
          </a:p>
        </p:txBody>
      </p:sp>
      <p:sp>
        <p:nvSpPr>
          <p:cNvPr id="13" name="Shape 10"/>
          <p:cNvSpPr/>
          <p:nvPr/>
        </p:nvSpPr>
        <p:spPr>
          <a:xfrm>
            <a:off x="6282571" y="6292691"/>
            <a:ext cx="7551658" cy="1310759"/>
          </a:xfrm>
          <a:prstGeom prst="roundRect">
            <a:avLst>
              <a:gd name="adj" fmla="val 2604"/>
            </a:avLst>
          </a:prstGeom>
          <a:solidFill>
            <a:srgbClr val="EDEBE3"/>
          </a:solidFill>
          <a:ln/>
        </p:spPr>
      </p:sp>
      <p:sp>
        <p:nvSpPr>
          <p:cNvPr id="14" name="Text 11"/>
          <p:cNvSpPr/>
          <p:nvPr/>
        </p:nvSpPr>
        <p:spPr>
          <a:xfrm>
            <a:off x="6509980" y="6520101"/>
            <a:ext cx="2843808" cy="355521"/>
          </a:xfrm>
          <a:prstGeom prst="rect">
            <a:avLst/>
          </a:prstGeom>
          <a:noFill/>
          <a:ln/>
        </p:spPr>
        <p:txBody>
          <a:bodyPr wrap="none" lIns="0" tIns="0" rIns="0" bIns="0" rtlCol="0" anchor="t"/>
          <a:lstStyle/>
          <a:p>
            <a:pPr indent="0" marL="0">
              <a:lnSpc>
                <a:spcPts val="2750"/>
              </a:lnSpc>
              <a:buNone/>
            </a:pPr>
            <a:r>
              <a:rPr lang="en-US" sz="2200" dirty="0">
                <a:solidFill>
                  <a:srgbClr val="161613"/>
                </a:solidFill>
                <a:latin typeface="DM Sans" pitchFamily="34" charset="0"/>
                <a:ea typeface="DM Sans" pitchFamily="34" charset="-122"/>
                <a:cs typeface="DM Sans" pitchFamily="34" charset="-120"/>
              </a:rPr>
              <a:t>Foundation</a:t>
            </a:r>
            <a:endParaRPr lang="en-US" sz="2200" dirty="0"/>
          </a:p>
        </p:txBody>
      </p:sp>
      <p:sp>
        <p:nvSpPr>
          <p:cNvPr id="15" name="Text 12"/>
          <p:cNvSpPr/>
          <p:nvPr/>
        </p:nvSpPr>
        <p:spPr>
          <a:xfrm>
            <a:off x="6509980" y="7012067"/>
            <a:ext cx="7096839" cy="363974"/>
          </a:xfrm>
          <a:prstGeom prst="rect">
            <a:avLst/>
          </a:prstGeom>
          <a:noFill/>
          <a:ln/>
        </p:spPr>
        <p:txBody>
          <a:bodyPr wrap="none" lIns="0" tIns="0" rIns="0" bIns="0" rtlCol="0" anchor="t"/>
          <a:lstStyle/>
          <a:p>
            <a:pPr indent="0" marL="0">
              <a:lnSpc>
                <a:spcPts val="2850"/>
              </a:lnSpc>
              <a:buNone/>
            </a:pPr>
            <a:r>
              <a:rPr lang="en-US" sz="1750" dirty="0">
                <a:solidFill>
                  <a:srgbClr val="161613"/>
                </a:solidFill>
                <a:latin typeface="Inter" pitchFamily="34" charset="0"/>
                <a:ea typeface="Inter" pitchFamily="34" charset="-122"/>
                <a:cs typeface="Inter" pitchFamily="34" charset="-120"/>
              </a:rPr>
              <a:t>Many other data structures are built using arrays.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4037" y="2598063"/>
            <a:ext cx="6172200" cy="771525"/>
          </a:xfrm>
          <a:prstGeom prst="rect">
            <a:avLst/>
          </a:prstGeom>
          <a:noFill/>
          <a:ln/>
        </p:spPr>
        <p:txBody>
          <a:bodyPr wrap="non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Types of Arrays: Size</a:t>
            </a:r>
            <a:endParaRPr lang="en-US" sz="4850" dirty="0"/>
          </a:p>
        </p:txBody>
      </p:sp>
      <p:sp>
        <p:nvSpPr>
          <p:cNvPr id="3" name="Text 1"/>
          <p:cNvSpPr/>
          <p:nvPr/>
        </p:nvSpPr>
        <p:spPr>
          <a:xfrm>
            <a:off x="864037" y="3986689"/>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Fixed-Size Arrays</a:t>
            </a:r>
            <a:endParaRPr lang="en-US" sz="2400" dirty="0"/>
          </a:p>
        </p:txBody>
      </p:sp>
      <p:sp>
        <p:nvSpPr>
          <p:cNvPr id="4" name="Text 2"/>
          <p:cNvSpPr/>
          <p:nvPr/>
        </p:nvSpPr>
        <p:spPr>
          <a:xfrm>
            <a:off x="864037" y="4619268"/>
            <a:ext cx="6150054" cy="790099"/>
          </a:xfrm>
          <a:prstGeom prst="rect">
            <a:avLst/>
          </a:prstGeom>
          <a:noFill/>
          <a:ln/>
        </p:spPr>
        <p:txBody>
          <a:bodyPr wrap="squar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Size is determined at creation and cannot be changed.</a:t>
            </a:r>
            <a:endParaRPr lang="en-US" sz="1900" dirty="0"/>
          </a:p>
        </p:txBody>
      </p:sp>
      <p:sp>
        <p:nvSpPr>
          <p:cNvPr id="5" name="Text 3"/>
          <p:cNvSpPr/>
          <p:nvPr/>
        </p:nvSpPr>
        <p:spPr>
          <a:xfrm>
            <a:off x="7623929" y="3986689"/>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Dynamic Arrays</a:t>
            </a:r>
            <a:endParaRPr lang="en-US" sz="2400" dirty="0"/>
          </a:p>
        </p:txBody>
      </p:sp>
      <p:sp>
        <p:nvSpPr>
          <p:cNvPr id="6" name="Text 4"/>
          <p:cNvSpPr/>
          <p:nvPr/>
        </p:nvSpPr>
        <p:spPr>
          <a:xfrm>
            <a:off x="7623929" y="4619268"/>
            <a:ext cx="6150054"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Size can be changed during program execution.</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4037" y="1413153"/>
            <a:ext cx="8188166" cy="771525"/>
          </a:xfrm>
          <a:prstGeom prst="rect">
            <a:avLst/>
          </a:prstGeom>
          <a:noFill/>
          <a:ln/>
        </p:spPr>
        <p:txBody>
          <a:bodyPr wrap="non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Types of Arrays: Dimensions</a:t>
            </a:r>
            <a:endParaRPr lang="en-US" sz="4850" dirty="0"/>
          </a:p>
        </p:txBody>
      </p:sp>
      <p:pic>
        <p:nvPicPr>
          <p:cNvPr id="3" name="Image 0" descr="preencoded.png">    </p:cNvPr>
          <p:cNvPicPr>
            <a:picLocks noChangeAspect="1"/>
          </p:cNvPicPr>
          <p:nvPr/>
        </p:nvPicPr>
        <p:blipFill>
          <a:blip r:embed="rId1"/>
          <a:stretch>
            <a:fillRect/>
          </a:stretch>
        </p:blipFill>
        <p:spPr>
          <a:xfrm>
            <a:off x="864037" y="2678430"/>
            <a:ext cx="4053840" cy="2505432"/>
          </a:xfrm>
          <a:prstGeom prst="rect">
            <a:avLst/>
          </a:prstGeom>
        </p:spPr>
      </p:pic>
      <p:sp>
        <p:nvSpPr>
          <p:cNvPr id="4" name="Text 1"/>
          <p:cNvSpPr/>
          <p:nvPr/>
        </p:nvSpPr>
        <p:spPr>
          <a:xfrm>
            <a:off x="864037" y="5492472"/>
            <a:ext cx="3414236" cy="385763"/>
          </a:xfrm>
          <a:prstGeom prst="rect">
            <a:avLst/>
          </a:prstGeom>
          <a:noFill/>
          <a:ln/>
        </p:spPr>
        <p:txBody>
          <a:bodyPr wrap="none" lIns="0" tIns="0" rIns="0" bIns="0" rtlCol="0" anchor="t"/>
          <a:lstStyle/>
          <a:p>
            <a:pPr algn="l" indent="0" marL="0">
              <a:lnSpc>
                <a:spcPts val="3000"/>
              </a:lnSpc>
              <a:buNone/>
            </a:pPr>
            <a:r>
              <a:rPr lang="en-US" sz="2400" dirty="0">
                <a:solidFill>
                  <a:srgbClr val="161613"/>
                </a:solidFill>
                <a:latin typeface="DM Sans" pitchFamily="34" charset="0"/>
                <a:ea typeface="DM Sans" pitchFamily="34" charset="-122"/>
                <a:cs typeface="DM Sans" pitchFamily="34" charset="-120"/>
              </a:rPr>
              <a:t>One-Dimensional Array</a:t>
            </a:r>
            <a:endParaRPr lang="en-US" sz="2400" dirty="0"/>
          </a:p>
        </p:txBody>
      </p:sp>
      <p:sp>
        <p:nvSpPr>
          <p:cNvPr id="5" name="Text 2"/>
          <p:cNvSpPr/>
          <p:nvPr/>
        </p:nvSpPr>
        <p:spPr>
          <a:xfrm>
            <a:off x="864037" y="6026348"/>
            <a:ext cx="4053840" cy="395049"/>
          </a:xfrm>
          <a:prstGeom prst="rect">
            <a:avLst/>
          </a:prstGeom>
          <a:noFill/>
          <a:ln/>
        </p:spPr>
        <p:txBody>
          <a:bodyPr wrap="none" lIns="0" tIns="0" rIns="0" bIns="0" rtlCol="0" anchor="t"/>
          <a:lstStyle/>
          <a:p>
            <a:pPr algn="l" indent="0" marL="0">
              <a:lnSpc>
                <a:spcPts val="3100"/>
              </a:lnSpc>
              <a:buNone/>
            </a:pPr>
            <a:r>
              <a:rPr lang="en-US" sz="1900" dirty="0">
                <a:solidFill>
                  <a:srgbClr val="161613"/>
                </a:solidFill>
                <a:latin typeface="Inter" pitchFamily="34" charset="0"/>
                <a:ea typeface="Inter" pitchFamily="34" charset="-122"/>
                <a:cs typeface="Inter" pitchFamily="34" charset="-120"/>
              </a:rPr>
              <a:t>Linear collection of elements.</a:t>
            </a:r>
            <a:endParaRPr lang="en-US" sz="1900" dirty="0"/>
          </a:p>
        </p:txBody>
      </p:sp>
      <p:pic>
        <p:nvPicPr>
          <p:cNvPr id="6" name="Image 1" descr="preencoded.png">    </p:cNvPr>
          <p:cNvPicPr>
            <a:picLocks noChangeAspect="1"/>
          </p:cNvPicPr>
          <p:nvPr/>
        </p:nvPicPr>
        <p:blipFill>
          <a:blip r:embed="rId2"/>
          <a:stretch>
            <a:fillRect/>
          </a:stretch>
        </p:blipFill>
        <p:spPr>
          <a:xfrm>
            <a:off x="5288161" y="2678430"/>
            <a:ext cx="4053959" cy="2505432"/>
          </a:xfrm>
          <a:prstGeom prst="rect">
            <a:avLst/>
          </a:prstGeom>
        </p:spPr>
      </p:pic>
      <p:sp>
        <p:nvSpPr>
          <p:cNvPr id="7" name="Text 3"/>
          <p:cNvSpPr/>
          <p:nvPr/>
        </p:nvSpPr>
        <p:spPr>
          <a:xfrm>
            <a:off x="5288161" y="5492472"/>
            <a:ext cx="3394710" cy="385763"/>
          </a:xfrm>
          <a:prstGeom prst="rect">
            <a:avLst/>
          </a:prstGeom>
          <a:noFill/>
          <a:ln/>
        </p:spPr>
        <p:txBody>
          <a:bodyPr wrap="none" lIns="0" tIns="0" rIns="0" bIns="0" rtlCol="0" anchor="t"/>
          <a:lstStyle/>
          <a:p>
            <a:pPr algn="l" indent="0" marL="0">
              <a:lnSpc>
                <a:spcPts val="3000"/>
              </a:lnSpc>
              <a:buNone/>
            </a:pPr>
            <a:r>
              <a:rPr lang="en-US" sz="2400" dirty="0">
                <a:solidFill>
                  <a:srgbClr val="161613"/>
                </a:solidFill>
                <a:latin typeface="DM Sans" pitchFamily="34" charset="0"/>
                <a:ea typeface="DM Sans" pitchFamily="34" charset="-122"/>
                <a:cs typeface="DM Sans" pitchFamily="34" charset="-120"/>
              </a:rPr>
              <a:t>Two-Dimensional Array</a:t>
            </a:r>
            <a:endParaRPr lang="en-US" sz="2400" dirty="0"/>
          </a:p>
        </p:txBody>
      </p:sp>
      <p:sp>
        <p:nvSpPr>
          <p:cNvPr id="8" name="Text 4"/>
          <p:cNvSpPr/>
          <p:nvPr/>
        </p:nvSpPr>
        <p:spPr>
          <a:xfrm>
            <a:off x="5288161" y="6026348"/>
            <a:ext cx="4053959" cy="790099"/>
          </a:xfrm>
          <a:prstGeom prst="rect">
            <a:avLst/>
          </a:prstGeom>
          <a:noFill/>
          <a:ln/>
        </p:spPr>
        <p:txBody>
          <a:bodyPr wrap="square" lIns="0" tIns="0" rIns="0" bIns="0" rtlCol="0" anchor="t"/>
          <a:lstStyle/>
          <a:p>
            <a:pPr algn="l" indent="0" marL="0">
              <a:lnSpc>
                <a:spcPts val="3100"/>
              </a:lnSpc>
              <a:buNone/>
            </a:pPr>
            <a:r>
              <a:rPr lang="en-US" sz="1900" dirty="0">
                <a:solidFill>
                  <a:srgbClr val="161613"/>
                </a:solidFill>
                <a:latin typeface="Inter" pitchFamily="34" charset="0"/>
                <a:ea typeface="Inter" pitchFamily="34" charset="-122"/>
                <a:cs typeface="Inter" pitchFamily="34" charset="-120"/>
              </a:rPr>
              <a:t>Table-like structure with rows and columns.</a:t>
            </a:r>
            <a:endParaRPr lang="en-US" sz="1900" dirty="0"/>
          </a:p>
        </p:txBody>
      </p:sp>
      <p:pic>
        <p:nvPicPr>
          <p:cNvPr id="9" name="Image 2" descr="preencoded.png">    </p:cNvPr>
          <p:cNvPicPr>
            <a:picLocks noChangeAspect="1"/>
          </p:cNvPicPr>
          <p:nvPr/>
        </p:nvPicPr>
        <p:blipFill>
          <a:blip r:embed="rId3"/>
          <a:stretch>
            <a:fillRect/>
          </a:stretch>
        </p:blipFill>
        <p:spPr>
          <a:xfrm>
            <a:off x="9712404" y="2678430"/>
            <a:ext cx="4053840" cy="2505432"/>
          </a:xfrm>
          <a:prstGeom prst="rect">
            <a:avLst/>
          </a:prstGeom>
        </p:spPr>
      </p:pic>
      <p:sp>
        <p:nvSpPr>
          <p:cNvPr id="10" name="Text 5"/>
          <p:cNvSpPr/>
          <p:nvPr/>
        </p:nvSpPr>
        <p:spPr>
          <a:xfrm>
            <a:off x="9712404" y="5492472"/>
            <a:ext cx="3642836" cy="385763"/>
          </a:xfrm>
          <a:prstGeom prst="rect">
            <a:avLst/>
          </a:prstGeom>
          <a:noFill/>
          <a:ln/>
        </p:spPr>
        <p:txBody>
          <a:bodyPr wrap="none" lIns="0" tIns="0" rIns="0" bIns="0" rtlCol="0" anchor="t"/>
          <a:lstStyle/>
          <a:p>
            <a:pPr algn="l" indent="0" marL="0">
              <a:lnSpc>
                <a:spcPts val="3000"/>
              </a:lnSpc>
              <a:buNone/>
            </a:pPr>
            <a:r>
              <a:rPr lang="en-US" sz="2400" dirty="0">
                <a:solidFill>
                  <a:srgbClr val="161613"/>
                </a:solidFill>
                <a:latin typeface="DM Sans" pitchFamily="34" charset="0"/>
                <a:ea typeface="DM Sans" pitchFamily="34" charset="-122"/>
                <a:cs typeface="DM Sans" pitchFamily="34" charset="-120"/>
              </a:rPr>
              <a:t>Three-Dimensional Array</a:t>
            </a:r>
            <a:endParaRPr lang="en-US" sz="2400" dirty="0"/>
          </a:p>
        </p:txBody>
      </p:sp>
      <p:sp>
        <p:nvSpPr>
          <p:cNvPr id="11" name="Text 6"/>
          <p:cNvSpPr/>
          <p:nvPr/>
        </p:nvSpPr>
        <p:spPr>
          <a:xfrm>
            <a:off x="9712404" y="6026348"/>
            <a:ext cx="4053840" cy="790099"/>
          </a:xfrm>
          <a:prstGeom prst="rect">
            <a:avLst/>
          </a:prstGeom>
          <a:noFill/>
          <a:ln/>
        </p:spPr>
        <p:txBody>
          <a:bodyPr wrap="square" lIns="0" tIns="0" rIns="0" bIns="0" rtlCol="0" anchor="t"/>
          <a:lstStyle/>
          <a:p>
            <a:pPr algn="l" indent="0" marL="0">
              <a:lnSpc>
                <a:spcPts val="3100"/>
              </a:lnSpc>
              <a:buNone/>
            </a:pPr>
            <a:r>
              <a:rPr lang="en-US" sz="1900" dirty="0">
                <a:solidFill>
                  <a:srgbClr val="161613"/>
                </a:solidFill>
                <a:latin typeface="Inter" pitchFamily="34" charset="0"/>
                <a:ea typeface="Inter" pitchFamily="34" charset="-122"/>
                <a:cs typeface="Inter" pitchFamily="34" charset="-120"/>
              </a:rPr>
              <a:t>Cube-like structure with multiple layers.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437" y="768191"/>
            <a:ext cx="7127081" cy="771525"/>
          </a:xfrm>
          <a:prstGeom prst="rect">
            <a:avLst/>
          </a:prstGeom>
          <a:noFill/>
          <a:ln/>
        </p:spPr>
        <p:txBody>
          <a:bodyPr wrap="non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One-Dimensional Arrays</a:t>
            </a:r>
            <a:endParaRPr lang="en-US" sz="4850" dirty="0"/>
          </a:p>
        </p:txBody>
      </p:sp>
      <p:sp>
        <p:nvSpPr>
          <p:cNvPr id="4" name="Shape 1"/>
          <p:cNvSpPr/>
          <p:nvPr/>
        </p:nvSpPr>
        <p:spPr>
          <a:xfrm>
            <a:off x="6705481" y="1910001"/>
            <a:ext cx="30480" cy="5551408"/>
          </a:xfrm>
          <a:prstGeom prst="roundRect">
            <a:avLst>
              <a:gd name="adj" fmla="val 121500"/>
            </a:avLst>
          </a:prstGeom>
          <a:solidFill>
            <a:srgbClr val="D3D1C9"/>
          </a:solidFill>
          <a:ln/>
        </p:spPr>
      </p:sp>
      <p:sp>
        <p:nvSpPr>
          <p:cNvPr id="5" name="Shape 2"/>
          <p:cNvSpPr/>
          <p:nvPr/>
        </p:nvSpPr>
        <p:spPr>
          <a:xfrm>
            <a:off x="6967954" y="2450068"/>
            <a:ext cx="864037" cy="30480"/>
          </a:xfrm>
          <a:prstGeom prst="roundRect">
            <a:avLst>
              <a:gd name="adj" fmla="val 121500"/>
            </a:avLst>
          </a:prstGeom>
          <a:solidFill>
            <a:srgbClr val="D3D1C9"/>
          </a:solidFill>
          <a:ln/>
        </p:spPr>
      </p:sp>
      <p:sp>
        <p:nvSpPr>
          <p:cNvPr id="6" name="Shape 3"/>
          <p:cNvSpPr/>
          <p:nvPr/>
        </p:nvSpPr>
        <p:spPr>
          <a:xfrm>
            <a:off x="6443008" y="2187654"/>
            <a:ext cx="555427" cy="555427"/>
          </a:xfrm>
          <a:prstGeom prst="roundRect">
            <a:avLst>
              <a:gd name="adj" fmla="val 6668"/>
            </a:avLst>
          </a:prstGeom>
          <a:solidFill>
            <a:srgbClr val="EDEBE3"/>
          </a:solidFill>
          <a:ln/>
        </p:spPr>
      </p:sp>
      <p:sp>
        <p:nvSpPr>
          <p:cNvPr id="7" name="Text 4"/>
          <p:cNvSpPr/>
          <p:nvPr/>
        </p:nvSpPr>
        <p:spPr>
          <a:xfrm>
            <a:off x="6659940" y="2280166"/>
            <a:ext cx="121563" cy="370284"/>
          </a:xfrm>
          <a:prstGeom prst="rect">
            <a:avLst/>
          </a:prstGeom>
          <a:noFill/>
          <a:ln/>
        </p:spPr>
        <p:txBody>
          <a:bodyPr wrap="none" lIns="0" tIns="0" rIns="0" bIns="0" rtlCol="0" anchor="t"/>
          <a:lstStyle/>
          <a:p>
            <a:pPr algn="ctr" indent="0" marL="0">
              <a:lnSpc>
                <a:spcPts val="2900"/>
              </a:lnSpc>
              <a:buNone/>
            </a:pPr>
            <a:r>
              <a:rPr lang="en-US" sz="2900" dirty="0">
                <a:solidFill>
                  <a:srgbClr val="161613"/>
                </a:solidFill>
                <a:latin typeface="DM Sans" pitchFamily="34" charset="0"/>
                <a:ea typeface="DM Sans" pitchFamily="34" charset="-122"/>
                <a:cs typeface="DM Sans" pitchFamily="34" charset="-120"/>
              </a:rPr>
              <a:t>1</a:t>
            </a:r>
            <a:endParaRPr lang="en-US" sz="2900" dirty="0"/>
          </a:p>
        </p:txBody>
      </p:sp>
      <p:sp>
        <p:nvSpPr>
          <p:cNvPr id="8" name="Text 5"/>
          <p:cNvSpPr/>
          <p:nvPr/>
        </p:nvSpPr>
        <p:spPr>
          <a:xfrm>
            <a:off x="8078510" y="2156817"/>
            <a:ext cx="3086100" cy="385763"/>
          </a:xfrm>
          <a:prstGeom prst="rect">
            <a:avLst/>
          </a:prstGeom>
          <a:noFill/>
          <a:ln/>
        </p:spPr>
        <p:txBody>
          <a:bodyPr wrap="none" lIns="0" tIns="0" rIns="0" bIns="0" rtlCol="0" anchor="t"/>
          <a:lstStyle/>
          <a:p>
            <a:pPr algn="l" indent="0" marL="0">
              <a:lnSpc>
                <a:spcPts val="3000"/>
              </a:lnSpc>
              <a:buNone/>
            </a:pPr>
            <a:r>
              <a:rPr lang="en-US" sz="2400" dirty="0">
                <a:solidFill>
                  <a:srgbClr val="161613"/>
                </a:solidFill>
                <a:latin typeface="DM Sans" pitchFamily="34" charset="0"/>
                <a:ea typeface="DM Sans" pitchFamily="34" charset="-122"/>
                <a:cs typeface="DM Sans" pitchFamily="34" charset="-120"/>
              </a:rPr>
              <a:t>Definition</a:t>
            </a:r>
            <a:endParaRPr lang="en-US" sz="2400" dirty="0"/>
          </a:p>
        </p:txBody>
      </p:sp>
      <p:sp>
        <p:nvSpPr>
          <p:cNvPr id="9" name="Text 6"/>
          <p:cNvSpPr/>
          <p:nvPr/>
        </p:nvSpPr>
        <p:spPr>
          <a:xfrm>
            <a:off x="8078510" y="2690693"/>
            <a:ext cx="5687854" cy="790099"/>
          </a:xfrm>
          <a:prstGeom prst="rect">
            <a:avLst/>
          </a:prstGeom>
          <a:noFill/>
          <a:ln/>
        </p:spPr>
        <p:txBody>
          <a:bodyPr wrap="square" lIns="0" tIns="0" rIns="0" bIns="0" rtlCol="0" anchor="t"/>
          <a:lstStyle/>
          <a:p>
            <a:pPr algn="l" indent="0" marL="0">
              <a:lnSpc>
                <a:spcPts val="3100"/>
              </a:lnSpc>
              <a:buNone/>
            </a:pPr>
            <a:r>
              <a:rPr lang="en-US" sz="1900" dirty="0">
                <a:solidFill>
                  <a:srgbClr val="161613"/>
                </a:solidFill>
                <a:latin typeface="Inter" pitchFamily="34" charset="0"/>
                <a:ea typeface="Inter" pitchFamily="34" charset="-122"/>
                <a:cs typeface="Inter" pitchFamily="34" charset="-120"/>
              </a:rPr>
              <a:t>Linear collection of elements accessed by a single index.</a:t>
            </a:r>
            <a:endParaRPr lang="en-US" sz="1900" dirty="0"/>
          </a:p>
        </p:txBody>
      </p:sp>
      <p:sp>
        <p:nvSpPr>
          <p:cNvPr id="10" name="Shape 7"/>
          <p:cNvSpPr/>
          <p:nvPr/>
        </p:nvSpPr>
        <p:spPr>
          <a:xfrm>
            <a:off x="6967954" y="4514493"/>
            <a:ext cx="864037" cy="30480"/>
          </a:xfrm>
          <a:prstGeom prst="roundRect">
            <a:avLst>
              <a:gd name="adj" fmla="val 121500"/>
            </a:avLst>
          </a:prstGeom>
          <a:solidFill>
            <a:srgbClr val="D3D1C9"/>
          </a:solidFill>
          <a:ln/>
        </p:spPr>
      </p:sp>
      <p:sp>
        <p:nvSpPr>
          <p:cNvPr id="11" name="Shape 8"/>
          <p:cNvSpPr/>
          <p:nvPr/>
        </p:nvSpPr>
        <p:spPr>
          <a:xfrm>
            <a:off x="6443008" y="4252079"/>
            <a:ext cx="555427" cy="555427"/>
          </a:xfrm>
          <a:prstGeom prst="roundRect">
            <a:avLst>
              <a:gd name="adj" fmla="val 6668"/>
            </a:avLst>
          </a:prstGeom>
          <a:solidFill>
            <a:srgbClr val="EDEBE3"/>
          </a:solidFill>
          <a:ln/>
        </p:spPr>
      </p:sp>
      <p:sp>
        <p:nvSpPr>
          <p:cNvPr id="12" name="Text 9"/>
          <p:cNvSpPr/>
          <p:nvPr/>
        </p:nvSpPr>
        <p:spPr>
          <a:xfrm>
            <a:off x="6613862" y="4344591"/>
            <a:ext cx="213717" cy="370284"/>
          </a:xfrm>
          <a:prstGeom prst="rect">
            <a:avLst/>
          </a:prstGeom>
          <a:noFill/>
          <a:ln/>
        </p:spPr>
        <p:txBody>
          <a:bodyPr wrap="none" lIns="0" tIns="0" rIns="0" bIns="0" rtlCol="0" anchor="t"/>
          <a:lstStyle/>
          <a:p>
            <a:pPr algn="ctr" indent="0" marL="0">
              <a:lnSpc>
                <a:spcPts val="2900"/>
              </a:lnSpc>
              <a:buNone/>
            </a:pPr>
            <a:r>
              <a:rPr lang="en-US" sz="2900" dirty="0">
                <a:solidFill>
                  <a:srgbClr val="161613"/>
                </a:solidFill>
                <a:latin typeface="DM Sans" pitchFamily="34" charset="0"/>
                <a:ea typeface="DM Sans" pitchFamily="34" charset="-122"/>
                <a:cs typeface="DM Sans" pitchFamily="34" charset="-120"/>
              </a:rPr>
              <a:t>2</a:t>
            </a:r>
            <a:endParaRPr lang="en-US" sz="2900" dirty="0"/>
          </a:p>
        </p:txBody>
      </p:sp>
      <p:sp>
        <p:nvSpPr>
          <p:cNvPr id="13" name="Text 10"/>
          <p:cNvSpPr/>
          <p:nvPr/>
        </p:nvSpPr>
        <p:spPr>
          <a:xfrm>
            <a:off x="8078510" y="4221242"/>
            <a:ext cx="3086100" cy="385763"/>
          </a:xfrm>
          <a:prstGeom prst="rect">
            <a:avLst/>
          </a:prstGeom>
          <a:noFill/>
          <a:ln/>
        </p:spPr>
        <p:txBody>
          <a:bodyPr wrap="none" lIns="0" tIns="0" rIns="0" bIns="0" rtlCol="0" anchor="t"/>
          <a:lstStyle/>
          <a:p>
            <a:pPr algn="l" indent="0" marL="0">
              <a:lnSpc>
                <a:spcPts val="3000"/>
              </a:lnSpc>
              <a:buNone/>
            </a:pPr>
            <a:r>
              <a:rPr lang="en-US" sz="2400" dirty="0">
                <a:solidFill>
                  <a:srgbClr val="161613"/>
                </a:solidFill>
                <a:latin typeface="DM Sans" pitchFamily="34" charset="0"/>
                <a:ea typeface="DM Sans" pitchFamily="34" charset="-122"/>
                <a:cs typeface="DM Sans" pitchFamily="34" charset="-120"/>
              </a:rPr>
              <a:t>Usage</a:t>
            </a:r>
            <a:endParaRPr lang="en-US" sz="2400" dirty="0"/>
          </a:p>
        </p:txBody>
      </p:sp>
      <p:sp>
        <p:nvSpPr>
          <p:cNvPr id="14" name="Text 11"/>
          <p:cNvSpPr/>
          <p:nvPr/>
        </p:nvSpPr>
        <p:spPr>
          <a:xfrm>
            <a:off x="8078510" y="4755118"/>
            <a:ext cx="5687854" cy="790099"/>
          </a:xfrm>
          <a:prstGeom prst="rect">
            <a:avLst/>
          </a:prstGeom>
          <a:noFill/>
          <a:ln/>
        </p:spPr>
        <p:txBody>
          <a:bodyPr wrap="square" lIns="0" tIns="0" rIns="0" bIns="0" rtlCol="0" anchor="t"/>
          <a:lstStyle/>
          <a:p>
            <a:pPr algn="l" indent="0" marL="0">
              <a:lnSpc>
                <a:spcPts val="3100"/>
              </a:lnSpc>
              <a:buNone/>
            </a:pPr>
            <a:r>
              <a:rPr lang="en-US" sz="1900" dirty="0">
                <a:solidFill>
                  <a:srgbClr val="161613"/>
                </a:solidFill>
                <a:latin typeface="Inter" pitchFamily="34" charset="0"/>
                <a:ea typeface="Inter" pitchFamily="34" charset="-122"/>
                <a:cs typeface="Inter" pitchFamily="34" charset="-120"/>
              </a:rPr>
              <a:t>Commonly used for lists, sequences, and vectors.</a:t>
            </a:r>
            <a:endParaRPr lang="en-US" sz="1900" dirty="0"/>
          </a:p>
        </p:txBody>
      </p:sp>
      <p:sp>
        <p:nvSpPr>
          <p:cNvPr id="15" name="Shape 12"/>
          <p:cNvSpPr/>
          <p:nvPr/>
        </p:nvSpPr>
        <p:spPr>
          <a:xfrm>
            <a:off x="6967954" y="6578918"/>
            <a:ext cx="864037" cy="30480"/>
          </a:xfrm>
          <a:prstGeom prst="roundRect">
            <a:avLst>
              <a:gd name="adj" fmla="val 121500"/>
            </a:avLst>
          </a:prstGeom>
          <a:solidFill>
            <a:srgbClr val="D3D1C9"/>
          </a:solidFill>
          <a:ln/>
        </p:spPr>
      </p:sp>
      <p:sp>
        <p:nvSpPr>
          <p:cNvPr id="16" name="Shape 13"/>
          <p:cNvSpPr/>
          <p:nvPr/>
        </p:nvSpPr>
        <p:spPr>
          <a:xfrm>
            <a:off x="6443008" y="6316504"/>
            <a:ext cx="555427" cy="555427"/>
          </a:xfrm>
          <a:prstGeom prst="roundRect">
            <a:avLst>
              <a:gd name="adj" fmla="val 6668"/>
            </a:avLst>
          </a:prstGeom>
          <a:solidFill>
            <a:srgbClr val="EDEBE3"/>
          </a:solidFill>
          <a:ln/>
        </p:spPr>
      </p:sp>
      <p:sp>
        <p:nvSpPr>
          <p:cNvPr id="17" name="Text 14"/>
          <p:cNvSpPr/>
          <p:nvPr/>
        </p:nvSpPr>
        <p:spPr>
          <a:xfrm>
            <a:off x="6610648" y="6409015"/>
            <a:ext cx="220028" cy="370284"/>
          </a:xfrm>
          <a:prstGeom prst="rect">
            <a:avLst/>
          </a:prstGeom>
          <a:noFill/>
          <a:ln/>
        </p:spPr>
        <p:txBody>
          <a:bodyPr wrap="none" lIns="0" tIns="0" rIns="0" bIns="0" rtlCol="0" anchor="t"/>
          <a:lstStyle/>
          <a:p>
            <a:pPr algn="ctr" indent="0" marL="0">
              <a:lnSpc>
                <a:spcPts val="2900"/>
              </a:lnSpc>
              <a:buNone/>
            </a:pPr>
            <a:r>
              <a:rPr lang="en-US" sz="2900" dirty="0">
                <a:solidFill>
                  <a:srgbClr val="161613"/>
                </a:solidFill>
                <a:latin typeface="DM Sans" pitchFamily="34" charset="0"/>
                <a:ea typeface="DM Sans" pitchFamily="34" charset="-122"/>
                <a:cs typeface="DM Sans" pitchFamily="34" charset="-120"/>
              </a:rPr>
              <a:t>3</a:t>
            </a:r>
            <a:endParaRPr lang="en-US" sz="2900" dirty="0"/>
          </a:p>
        </p:txBody>
      </p:sp>
      <p:sp>
        <p:nvSpPr>
          <p:cNvPr id="18" name="Text 15"/>
          <p:cNvSpPr/>
          <p:nvPr/>
        </p:nvSpPr>
        <p:spPr>
          <a:xfrm>
            <a:off x="8078510" y="6285667"/>
            <a:ext cx="3086100" cy="385763"/>
          </a:xfrm>
          <a:prstGeom prst="rect">
            <a:avLst/>
          </a:prstGeom>
          <a:noFill/>
          <a:ln/>
        </p:spPr>
        <p:txBody>
          <a:bodyPr wrap="none" lIns="0" tIns="0" rIns="0" bIns="0" rtlCol="0" anchor="t"/>
          <a:lstStyle/>
          <a:p>
            <a:pPr algn="l" indent="0" marL="0">
              <a:lnSpc>
                <a:spcPts val="3000"/>
              </a:lnSpc>
              <a:buNone/>
            </a:pPr>
            <a:r>
              <a:rPr lang="en-US" sz="2400" dirty="0">
                <a:solidFill>
                  <a:srgbClr val="161613"/>
                </a:solidFill>
                <a:latin typeface="DM Sans" pitchFamily="34" charset="0"/>
                <a:ea typeface="DM Sans" pitchFamily="34" charset="-122"/>
                <a:cs typeface="DM Sans" pitchFamily="34" charset="-120"/>
              </a:rPr>
              <a:t>Access</a:t>
            </a:r>
            <a:endParaRPr lang="en-US" sz="2400" dirty="0"/>
          </a:p>
        </p:txBody>
      </p:sp>
      <p:sp>
        <p:nvSpPr>
          <p:cNvPr id="19" name="Text 16"/>
          <p:cNvSpPr/>
          <p:nvPr/>
        </p:nvSpPr>
        <p:spPr>
          <a:xfrm>
            <a:off x="8078510" y="6819543"/>
            <a:ext cx="5687854" cy="395049"/>
          </a:xfrm>
          <a:prstGeom prst="rect">
            <a:avLst/>
          </a:prstGeom>
          <a:noFill/>
          <a:ln/>
        </p:spPr>
        <p:txBody>
          <a:bodyPr wrap="none" lIns="0" tIns="0" rIns="0" bIns="0" rtlCol="0" anchor="t"/>
          <a:lstStyle/>
          <a:p>
            <a:pPr algn="l" indent="0" marL="0">
              <a:lnSpc>
                <a:spcPts val="3100"/>
              </a:lnSpc>
              <a:buNone/>
            </a:pPr>
            <a:r>
              <a:rPr lang="en-US" sz="1900" dirty="0">
                <a:solidFill>
                  <a:srgbClr val="161613"/>
                </a:solidFill>
                <a:latin typeface="Inter" pitchFamily="34" charset="0"/>
                <a:ea typeface="Inter" pitchFamily="34" charset="-122"/>
                <a:cs typeface="Inter" pitchFamily="34" charset="-120"/>
              </a:rPr>
              <a:t>Elements accessed using arr[i] notation.</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1163241"/>
            <a:ext cx="7088267" cy="771525"/>
          </a:xfrm>
          <a:prstGeom prst="rect">
            <a:avLst/>
          </a:prstGeom>
          <a:noFill/>
          <a:ln/>
        </p:spPr>
        <p:txBody>
          <a:bodyPr wrap="non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Two-Dimensional Arrays</a:t>
            </a:r>
            <a:endParaRPr lang="en-US" sz="4850" dirty="0"/>
          </a:p>
        </p:txBody>
      </p:sp>
      <p:sp>
        <p:nvSpPr>
          <p:cNvPr id="4" name="Shape 1"/>
          <p:cNvSpPr/>
          <p:nvPr/>
        </p:nvSpPr>
        <p:spPr>
          <a:xfrm>
            <a:off x="1219081" y="2305050"/>
            <a:ext cx="30480" cy="4761309"/>
          </a:xfrm>
          <a:prstGeom prst="roundRect">
            <a:avLst>
              <a:gd name="adj" fmla="val 121500"/>
            </a:avLst>
          </a:prstGeom>
          <a:solidFill>
            <a:srgbClr val="D3D1C9"/>
          </a:solidFill>
          <a:ln/>
        </p:spPr>
      </p:sp>
      <p:sp>
        <p:nvSpPr>
          <p:cNvPr id="5" name="Shape 2"/>
          <p:cNvSpPr/>
          <p:nvPr/>
        </p:nvSpPr>
        <p:spPr>
          <a:xfrm>
            <a:off x="1481554" y="2845118"/>
            <a:ext cx="864037" cy="30480"/>
          </a:xfrm>
          <a:prstGeom prst="roundRect">
            <a:avLst>
              <a:gd name="adj" fmla="val 121500"/>
            </a:avLst>
          </a:prstGeom>
          <a:solidFill>
            <a:srgbClr val="D3D1C9"/>
          </a:solidFill>
          <a:ln/>
        </p:spPr>
      </p:sp>
      <p:sp>
        <p:nvSpPr>
          <p:cNvPr id="6" name="Shape 3"/>
          <p:cNvSpPr/>
          <p:nvPr/>
        </p:nvSpPr>
        <p:spPr>
          <a:xfrm>
            <a:off x="956608" y="2582704"/>
            <a:ext cx="555427" cy="555427"/>
          </a:xfrm>
          <a:prstGeom prst="roundRect">
            <a:avLst>
              <a:gd name="adj" fmla="val 6668"/>
            </a:avLst>
          </a:prstGeom>
          <a:solidFill>
            <a:srgbClr val="EDEBE3"/>
          </a:solidFill>
          <a:ln/>
        </p:spPr>
      </p:sp>
      <p:sp>
        <p:nvSpPr>
          <p:cNvPr id="7" name="Text 4"/>
          <p:cNvSpPr/>
          <p:nvPr/>
        </p:nvSpPr>
        <p:spPr>
          <a:xfrm>
            <a:off x="1173540" y="2675215"/>
            <a:ext cx="121563" cy="370284"/>
          </a:xfrm>
          <a:prstGeom prst="rect">
            <a:avLst/>
          </a:prstGeom>
          <a:noFill/>
          <a:ln/>
        </p:spPr>
        <p:txBody>
          <a:bodyPr wrap="none" lIns="0" tIns="0" rIns="0" bIns="0" rtlCol="0" anchor="t"/>
          <a:lstStyle/>
          <a:p>
            <a:pPr algn="ctr" indent="0" marL="0">
              <a:lnSpc>
                <a:spcPts val="2900"/>
              </a:lnSpc>
              <a:buNone/>
            </a:pPr>
            <a:r>
              <a:rPr lang="en-US" sz="2900" dirty="0">
                <a:solidFill>
                  <a:srgbClr val="161613"/>
                </a:solidFill>
                <a:latin typeface="DM Sans" pitchFamily="34" charset="0"/>
                <a:ea typeface="DM Sans" pitchFamily="34" charset="-122"/>
                <a:cs typeface="DM Sans" pitchFamily="34" charset="-120"/>
              </a:rPr>
              <a:t>1</a:t>
            </a:r>
            <a:endParaRPr lang="en-US" sz="2900" dirty="0"/>
          </a:p>
        </p:txBody>
      </p:sp>
      <p:sp>
        <p:nvSpPr>
          <p:cNvPr id="8" name="Text 5"/>
          <p:cNvSpPr/>
          <p:nvPr/>
        </p:nvSpPr>
        <p:spPr>
          <a:xfrm>
            <a:off x="2592110" y="2551867"/>
            <a:ext cx="3086100" cy="385763"/>
          </a:xfrm>
          <a:prstGeom prst="rect">
            <a:avLst/>
          </a:prstGeom>
          <a:noFill/>
          <a:ln/>
        </p:spPr>
        <p:txBody>
          <a:bodyPr wrap="none" lIns="0" tIns="0" rIns="0" bIns="0" rtlCol="0" anchor="t"/>
          <a:lstStyle/>
          <a:p>
            <a:pPr algn="l" indent="0" marL="0">
              <a:lnSpc>
                <a:spcPts val="3000"/>
              </a:lnSpc>
              <a:buNone/>
            </a:pPr>
            <a:r>
              <a:rPr lang="en-US" sz="2400" dirty="0">
                <a:solidFill>
                  <a:srgbClr val="161613"/>
                </a:solidFill>
                <a:latin typeface="DM Sans" pitchFamily="34" charset="0"/>
                <a:ea typeface="DM Sans" pitchFamily="34" charset="-122"/>
                <a:cs typeface="DM Sans" pitchFamily="34" charset="-120"/>
              </a:rPr>
              <a:t>Definition</a:t>
            </a:r>
            <a:endParaRPr lang="en-US" sz="2400" dirty="0"/>
          </a:p>
        </p:txBody>
      </p:sp>
      <p:sp>
        <p:nvSpPr>
          <p:cNvPr id="9" name="Text 6"/>
          <p:cNvSpPr/>
          <p:nvPr/>
        </p:nvSpPr>
        <p:spPr>
          <a:xfrm>
            <a:off x="2592110" y="3085743"/>
            <a:ext cx="5687854" cy="395049"/>
          </a:xfrm>
          <a:prstGeom prst="rect">
            <a:avLst/>
          </a:prstGeom>
          <a:noFill/>
          <a:ln/>
        </p:spPr>
        <p:txBody>
          <a:bodyPr wrap="none" lIns="0" tIns="0" rIns="0" bIns="0" rtlCol="0" anchor="t"/>
          <a:lstStyle/>
          <a:p>
            <a:pPr algn="l" indent="0" marL="0">
              <a:lnSpc>
                <a:spcPts val="3100"/>
              </a:lnSpc>
              <a:buNone/>
            </a:pPr>
            <a:r>
              <a:rPr lang="en-US" sz="1900" dirty="0">
                <a:solidFill>
                  <a:srgbClr val="161613"/>
                </a:solidFill>
                <a:latin typeface="Inter" pitchFamily="34" charset="0"/>
                <a:ea typeface="Inter" pitchFamily="34" charset="-122"/>
                <a:cs typeface="Inter" pitchFamily="34" charset="-120"/>
              </a:rPr>
              <a:t>Array of arrays, forming a table-like structure.</a:t>
            </a:r>
            <a:endParaRPr lang="en-US" sz="1900" dirty="0"/>
          </a:p>
        </p:txBody>
      </p:sp>
      <p:sp>
        <p:nvSpPr>
          <p:cNvPr id="10" name="Shape 7"/>
          <p:cNvSpPr/>
          <p:nvPr/>
        </p:nvSpPr>
        <p:spPr>
          <a:xfrm>
            <a:off x="1481554" y="4514493"/>
            <a:ext cx="864037" cy="30480"/>
          </a:xfrm>
          <a:prstGeom prst="roundRect">
            <a:avLst>
              <a:gd name="adj" fmla="val 121500"/>
            </a:avLst>
          </a:prstGeom>
          <a:solidFill>
            <a:srgbClr val="D3D1C9"/>
          </a:solidFill>
          <a:ln/>
        </p:spPr>
      </p:sp>
      <p:sp>
        <p:nvSpPr>
          <p:cNvPr id="11" name="Shape 8"/>
          <p:cNvSpPr/>
          <p:nvPr/>
        </p:nvSpPr>
        <p:spPr>
          <a:xfrm>
            <a:off x="956608" y="4252079"/>
            <a:ext cx="555427" cy="555427"/>
          </a:xfrm>
          <a:prstGeom prst="roundRect">
            <a:avLst>
              <a:gd name="adj" fmla="val 6668"/>
            </a:avLst>
          </a:prstGeom>
          <a:solidFill>
            <a:srgbClr val="EDEBE3"/>
          </a:solidFill>
          <a:ln/>
        </p:spPr>
      </p:sp>
      <p:sp>
        <p:nvSpPr>
          <p:cNvPr id="12" name="Text 9"/>
          <p:cNvSpPr/>
          <p:nvPr/>
        </p:nvSpPr>
        <p:spPr>
          <a:xfrm>
            <a:off x="1127462" y="4344591"/>
            <a:ext cx="213717" cy="370284"/>
          </a:xfrm>
          <a:prstGeom prst="rect">
            <a:avLst/>
          </a:prstGeom>
          <a:noFill/>
          <a:ln/>
        </p:spPr>
        <p:txBody>
          <a:bodyPr wrap="none" lIns="0" tIns="0" rIns="0" bIns="0" rtlCol="0" anchor="t"/>
          <a:lstStyle/>
          <a:p>
            <a:pPr algn="ctr" indent="0" marL="0">
              <a:lnSpc>
                <a:spcPts val="2900"/>
              </a:lnSpc>
              <a:buNone/>
            </a:pPr>
            <a:r>
              <a:rPr lang="en-US" sz="2900" dirty="0">
                <a:solidFill>
                  <a:srgbClr val="161613"/>
                </a:solidFill>
                <a:latin typeface="DM Sans" pitchFamily="34" charset="0"/>
                <a:ea typeface="DM Sans" pitchFamily="34" charset="-122"/>
                <a:cs typeface="DM Sans" pitchFamily="34" charset="-120"/>
              </a:rPr>
              <a:t>2</a:t>
            </a:r>
            <a:endParaRPr lang="en-US" sz="2900" dirty="0"/>
          </a:p>
        </p:txBody>
      </p:sp>
      <p:sp>
        <p:nvSpPr>
          <p:cNvPr id="13" name="Text 10"/>
          <p:cNvSpPr/>
          <p:nvPr/>
        </p:nvSpPr>
        <p:spPr>
          <a:xfrm>
            <a:off x="2592110" y="4221242"/>
            <a:ext cx="3086100" cy="385763"/>
          </a:xfrm>
          <a:prstGeom prst="rect">
            <a:avLst/>
          </a:prstGeom>
          <a:noFill/>
          <a:ln/>
        </p:spPr>
        <p:txBody>
          <a:bodyPr wrap="none" lIns="0" tIns="0" rIns="0" bIns="0" rtlCol="0" anchor="t"/>
          <a:lstStyle/>
          <a:p>
            <a:pPr algn="l" indent="0" marL="0">
              <a:lnSpc>
                <a:spcPts val="3000"/>
              </a:lnSpc>
              <a:buNone/>
            </a:pPr>
            <a:r>
              <a:rPr lang="en-US" sz="2400" dirty="0">
                <a:solidFill>
                  <a:srgbClr val="161613"/>
                </a:solidFill>
                <a:latin typeface="DM Sans" pitchFamily="34" charset="0"/>
                <a:ea typeface="DM Sans" pitchFamily="34" charset="-122"/>
                <a:cs typeface="DM Sans" pitchFamily="34" charset="-120"/>
              </a:rPr>
              <a:t>Usage</a:t>
            </a:r>
            <a:endParaRPr lang="en-US" sz="2400" dirty="0"/>
          </a:p>
        </p:txBody>
      </p:sp>
      <p:sp>
        <p:nvSpPr>
          <p:cNvPr id="14" name="Text 11"/>
          <p:cNvSpPr/>
          <p:nvPr/>
        </p:nvSpPr>
        <p:spPr>
          <a:xfrm>
            <a:off x="2592110" y="4755118"/>
            <a:ext cx="5687854" cy="395049"/>
          </a:xfrm>
          <a:prstGeom prst="rect">
            <a:avLst/>
          </a:prstGeom>
          <a:noFill/>
          <a:ln/>
        </p:spPr>
        <p:txBody>
          <a:bodyPr wrap="none" lIns="0" tIns="0" rIns="0" bIns="0" rtlCol="0" anchor="t"/>
          <a:lstStyle/>
          <a:p>
            <a:pPr algn="l" indent="0" marL="0">
              <a:lnSpc>
                <a:spcPts val="3100"/>
              </a:lnSpc>
              <a:buNone/>
            </a:pPr>
            <a:r>
              <a:rPr lang="en-US" sz="1900" dirty="0">
                <a:solidFill>
                  <a:srgbClr val="161613"/>
                </a:solidFill>
                <a:latin typeface="Inter" pitchFamily="34" charset="0"/>
                <a:ea typeface="Inter" pitchFamily="34" charset="-122"/>
                <a:cs typeface="Inter" pitchFamily="34" charset="-120"/>
              </a:rPr>
              <a:t>Used for matrices, grids, and 2D game boards.</a:t>
            </a:r>
            <a:endParaRPr lang="en-US" sz="1900" dirty="0"/>
          </a:p>
        </p:txBody>
      </p:sp>
      <p:sp>
        <p:nvSpPr>
          <p:cNvPr id="15" name="Shape 12"/>
          <p:cNvSpPr/>
          <p:nvPr/>
        </p:nvSpPr>
        <p:spPr>
          <a:xfrm>
            <a:off x="1481554" y="6183868"/>
            <a:ext cx="864037" cy="30480"/>
          </a:xfrm>
          <a:prstGeom prst="roundRect">
            <a:avLst>
              <a:gd name="adj" fmla="val 121500"/>
            </a:avLst>
          </a:prstGeom>
          <a:solidFill>
            <a:srgbClr val="D3D1C9"/>
          </a:solidFill>
          <a:ln/>
        </p:spPr>
      </p:sp>
      <p:sp>
        <p:nvSpPr>
          <p:cNvPr id="16" name="Shape 13"/>
          <p:cNvSpPr/>
          <p:nvPr/>
        </p:nvSpPr>
        <p:spPr>
          <a:xfrm>
            <a:off x="956608" y="5921454"/>
            <a:ext cx="555427" cy="555427"/>
          </a:xfrm>
          <a:prstGeom prst="roundRect">
            <a:avLst>
              <a:gd name="adj" fmla="val 6668"/>
            </a:avLst>
          </a:prstGeom>
          <a:solidFill>
            <a:srgbClr val="EDEBE3"/>
          </a:solidFill>
          <a:ln/>
        </p:spPr>
      </p:sp>
      <p:sp>
        <p:nvSpPr>
          <p:cNvPr id="17" name="Text 14"/>
          <p:cNvSpPr/>
          <p:nvPr/>
        </p:nvSpPr>
        <p:spPr>
          <a:xfrm>
            <a:off x="1124248" y="6013966"/>
            <a:ext cx="220028" cy="370284"/>
          </a:xfrm>
          <a:prstGeom prst="rect">
            <a:avLst/>
          </a:prstGeom>
          <a:noFill/>
          <a:ln/>
        </p:spPr>
        <p:txBody>
          <a:bodyPr wrap="none" lIns="0" tIns="0" rIns="0" bIns="0" rtlCol="0" anchor="t"/>
          <a:lstStyle/>
          <a:p>
            <a:pPr algn="ctr" indent="0" marL="0">
              <a:lnSpc>
                <a:spcPts val="2900"/>
              </a:lnSpc>
              <a:buNone/>
            </a:pPr>
            <a:r>
              <a:rPr lang="en-US" sz="2900" dirty="0">
                <a:solidFill>
                  <a:srgbClr val="161613"/>
                </a:solidFill>
                <a:latin typeface="DM Sans" pitchFamily="34" charset="0"/>
                <a:ea typeface="DM Sans" pitchFamily="34" charset="-122"/>
                <a:cs typeface="DM Sans" pitchFamily="34" charset="-120"/>
              </a:rPr>
              <a:t>3</a:t>
            </a:r>
            <a:endParaRPr lang="en-US" sz="2900" dirty="0"/>
          </a:p>
        </p:txBody>
      </p:sp>
      <p:sp>
        <p:nvSpPr>
          <p:cNvPr id="18" name="Text 15"/>
          <p:cNvSpPr/>
          <p:nvPr/>
        </p:nvSpPr>
        <p:spPr>
          <a:xfrm>
            <a:off x="2592110" y="5890617"/>
            <a:ext cx="3086100" cy="385763"/>
          </a:xfrm>
          <a:prstGeom prst="rect">
            <a:avLst/>
          </a:prstGeom>
          <a:noFill/>
          <a:ln/>
        </p:spPr>
        <p:txBody>
          <a:bodyPr wrap="none" lIns="0" tIns="0" rIns="0" bIns="0" rtlCol="0" anchor="t"/>
          <a:lstStyle/>
          <a:p>
            <a:pPr algn="l" indent="0" marL="0">
              <a:lnSpc>
                <a:spcPts val="3000"/>
              </a:lnSpc>
              <a:buNone/>
            </a:pPr>
            <a:r>
              <a:rPr lang="en-US" sz="2400" dirty="0">
                <a:solidFill>
                  <a:srgbClr val="161613"/>
                </a:solidFill>
                <a:latin typeface="DM Sans" pitchFamily="34" charset="0"/>
                <a:ea typeface="DM Sans" pitchFamily="34" charset="-122"/>
                <a:cs typeface="DM Sans" pitchFamily="34" charset="-120"/>
              </a:rPr>
              <a:t>Access</a:t>
            </a:r>
            <a:endParaRPr lang="en-US" sz="2400" dirty="0"/>
          </a:p>
        </p:txBody>
      </p:sp>
      <p:sp>
        <p:nvSpPr>
          <p:cNvPr id="19" name="Text 16"/>
          <p:cNvSpPr/>
          <p:nvPr/>
        </p:nvSpPr>
        <p:spPr>
          <a:xfrm>
            <a:off x="2592110" y="6424493"/>
            <a:ext cx="5687854" cy="395049"/>
          </a:xfrm>
          <a:prstGeom prst="rect">
            <a:avLst/>
          </a:prstGeom>
          <a:noFill/>
          <a:ln/>
        </p:spPr>
        <p:txBody>
          <a:bodyPr wrap="none" lIns="0" tIns="0" rIns="0" bIns="0" rtlCol="0" anchor="t"/>
          <a:lstStyle/>
          <a:p>
            <a:pPr algn="l" indent="0" marL="0">
              <a:lnSpc>
                <a:spcPts val="3100"/>
              </a:lnSpc>
              <a:buNone/>
            </a:pPr>
            <a:r>
              <a:rPr lang="en-US" sz="1900" dirty="0">
                <a:solidFill>
                  <a:srgbClr val="161613"/>
                </a:solidFill>
                <a:latin typeface="Inter" pitchFamily="34" charset="0"/>
                <a:ea typeface="Inter" pitchFamily="34" charset="-122"/>
                <a:cs typeface="Inter" pitchFamily="34" charset="-120"/>
              </a:rPr>
              <a:t>Elements accessed using arr[i][j] notation.</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05815" y="1178362"/>
            <a:ext cx="7072432" cy="719495"/>
          </a:xfrm>
          <a:prstGeom prst="rect">
            <a:avLst/>
          </a:prstGeom>
          <a:noFill/>
          <a:ln/>
        </p:spPr>
        <p:txBody>
          <a:bodyPr wrap="none" lIns="0" tIns="0" rIns="0" bIns="0" rtlCol="0" anchor="t"/>
          <a:lstStyle/>
          <a:p>
            <a:pPr indent="0" marL="0">
              <a:lnSpc>
                <a:spcPts val="5650"/>
              </a:lnSpc>
              <a:buNone/>
            </a:pPr>
            <a:r>
              <a:rPr lang="en-US" sz="4500" dirty="0">
                <a:solidFill>
                  <a:srgbClr val="161613"/>
                </a:solidFill>
                <a:latin typeface="DM Sans" pitchFamily="34" charset="0"/>
                <a:ea typeface="DM Sans" pitchFamily="34" charset="-122"/>
                <a:cs typeface="DM Sans" pitchFamily="34" charset="-120"/>
              </a:rPr>
              <a:t>Three-Dimensional Arrays</a:t>
            </a:r>
            <a:endParaRPr lang="en-US" sz="4500" dirty="0"/>
          </a:p>
        </p:txBody>
      </p:sp>
      <p:sp>
        <p:nvSpPr>
          <p:cNvPr id="4" name="Shape 1"/>
          <p:cNvSpPr/>
          <p:nvPr/>
        </p:nvSpPr>
        <p:spPr>
          <a:xfrm>
            <a:off x="1135856" y="2243138"/>
            <a:ext cx="30480" cy="4808101"/>
          </a:xfrm>
          <a:prstGeom prst="roundRect">
            <a:avLst>
              <a:gd name="adj" fmla="val 113316"/>
            </a:avLst>
          </a:prstGeom>
          <a:solidFill>
            <a:srgbClr val="D3D1C9"/>
          </a:solidFill>
          <a:ln/>
        </p:spPr>
      </p:sp>
      <p:sp>
        <p:nvSpPr>
          <p:cNvPr id="5" name="Shape 2"/>
          <p:cNvSpPr/>
          <p:nvPr/>
        </p:nvSpPr>
        <p:spPr>
          <a:xfrm>
            <a:off x="1379637" y="2745819"/>
            <a:ext cx="805815" cy="30480"/>
          </a:xfrm>
          <a:prstGeom prst="roundRect">
            <a:avLst>
              <a:gd name="adj" fmla="val 113316"/>
            </a:avLst>
          </a:prstGeom>
          <a:solidFill>
            <a:srgbClr val="D3D1C9"/>
          </a:solidFill>
          <a:ln/>
        </p:spPr>
      </p:sp>
      <p:sp>
        <p:nvSpPr>
          <p:cNvPr id="6" name="Shape 3"/>
          <p:cNvSpPr/>
          <p:nvPr/>
        </p:nvSpPr>
        <p:spPr>
          <a:xfrm>
            <a:off x="892076" y="2502098"/>
            <a:ext cx="518041" cy="518041"/>
          </a:xfrm>
          <a:prstGeom prst="roundRect">
            <a:avLst>
              <a:gd name="adj" fmla="val 6667"/>
            </a:avLst>
          </a:prstGeom>
          <a:solidFill>
            <a:srgbClr val="EDEBE3"/>
          </a:solidFill>
          <a:ln/>
        </p:spPr>
      </p:sp>
      <p:sp>
        <p:nvSpPr>
          <p:cNvPr id="7" name="Text 4"/>
          <p:cNvSpPr/>
          <p:nvPr/>
        </p:nvSpPr>
        <p:spPr>
          <a:xfrm>
            <a:off x="1094363" y="2588419"/>
            <a:ext cx="113348" cy="345400"/>
          </a:xfrm>
          <a:prstGeom prst="rect">
            <a:avLst/>
          </a:prstGeom>
          <a:noFill/>
          <a:ln/>
        </p:spPr>
        <p:txBody>
          <a:bodyPr wrap="none" lIns="0" tIns="0" rIns="0" bIns="0" rtlCol="0" anchor="t"/>
          <a:lstStyle/>
          <a:p>
            <a:pPr algn="ctr" indent="0" marL="0">
              <a:lnSpc>
                <a:spcPts val="2700"/>
              </a:lnSpc>
              <a:buNone/>
            </a:pPr>
            <a:r>
              <a:rPr lang="en-US" sz="2700" dirty="0">
                <a:solidFill>
                  <a:srgbClr val="161613"/>
                </a:solidFill>
                <a:latin typeface="DM Sans" pitchFamily="34" charset="0"/>
                <a:ea typeface="DM Sans" pitchFamily="34" charset="-122"/>
                <a:cs typeface="DM Sans" pitchFamily="34" charset="-120"/>
              </a:rPr>
              <a:t>1</a:t>
            </a:r>
            <a:endParaRPr lang="en-US" sz="2700" dirty="0"/>
          </a:p>
        </p:txBody>
      </p:sp>
      <p:sp>
        <p:nvSpPr>
          <p:cNvPr id="8" name="Text 5"/>
          <p:cNvSpPr/>
          <p:nvPr/>
        </p:nvSpPr>
        <p:spPr>
          <a:xfrm>
            <a:off x="2417445" y="2473285"/>
            <a:ext cx="2878217" cy="359688"/>
          </a:xfrm>
          <a:prstGeom prst="rect">
            <a:avLst/>
          </a:prstGeom>
          <a:noFill/>
          <a:ln/>
        </p:spPr>
        <p:txBody>
          <a:bodyPr wrap="none" lIns="0" tIns="0" rIns="0" bIns="0" rtlCol="0" anchor="t"/>
          <a:lstStyle/>
          <a:p>
            <a:pPr algn="l" indent="0" marL="0">
              <a:lnSpc>
                <a:spcPts val="2800"/>
              </a:lnSpc>
              <a:buNone/>
            </a:pPr>
            <a:r>
              <a:rPr lang="en-US" sz="2250" dirty="0">
                <a:solidFill>
                  <a:srgbClr val="161613"/>
                </a:solidFill>
                <a:latin typeface="DM Sans" pitchFamily="34" charset="0"/>
                <a:ea typeface="DM Sans" pitchFamily="34" charset="-122"/>
                <a:cs typeface="DM Sans" pitchFamily="34" charset="-120"/>
              </a:rPr>
              <a:t>Definition</a:t>
            </a:r>
            <a:endParaRPr lang="en-US" sz="2250" dirty="0"/>
          </a:p>
        </p:txBody>
      </p:sp>
      <p:sp>
        <p:nvSpPr>
          <p:cNvPr id="9" name="Text 6"/>
          <p:cNvSpPr/>
          <p:nvPr/>
        </p:nvSpPr>
        <p:spPr>
          <a:xfrm>
            <a:off x="2417445" y="2971086"/>
            <a:ext cx="5920740" cy="368379"/>
          </a:xfrm>
          <a:prstGeom prst="rect">
            <a:avLst/>
          </a:prstGeom>
          <a:noFill/>
          <a:ln/>
        </p:spPr>
        <p:txBody>
          <a:bodyPr wrap="none" lIns="0" tIns="0" rIns="0" bIns="0" rtlCol="0" anchor="t"/>
          <a:lstStyle/>
          <a:p>
            <a:pPr algn="l" indent="0" marL="0">
              <a:lnSpc>
                <a:spcPts val="2900"/>
              </a:lnSpc>
              <a:buNone/>
            </a:pPr>
            <a:r>
              <a:rPr lang="en-US" sz="1800" dirty="0">
                <a:solidFill>
                  <a:srgbClr val="161613"/>
                </a:solidFill>
                <a:latin typeface="Inter" pitchFamily="34" charset="0"/>
                <a:ea typeface="Inter" pitchFamily="34" charset="-122"/>
                <a:cs typeface="Inter" pitchFamily="34" charset="-120"/>
              </a:rPr>
              <a:t>Array of 2D arrays, forming a cube-like structure.</a:t>
            </a:r>
            <a:endParaRPr lang="en-US" sz="1800" dirty="0"/>
          </a:p>
        </p:txBody>
      </p:sp>
      <p:sp>
        <p:nvSpPr>
          <p:cNvPr id="10" name="Shape 7"/>
          <p:cNvSpPr/>
          <p:nvPr/>
        </p:nvSpPr>
        <p:spPr>
          <a:xfrm>
            <a:off x="1379637" y="4302443"/>
            <a:ext cx="805815" cy="30480"/>
          </a:xfrm>
          <a:prstGeom prst="roundRect">
            <a:avLst>
              <a:gd name="adj" fmla="val 113316"/>
            </a:avLst>
          </a:prstGeom>
          <a:solidFill>
            <a:srgbClr val="D3D1C9"/>
          </a:solidFill>
          <a:ln/>
        </p:spPr>
      </p:sp>
      <p:sp>
        <p:nvSpPr>
          <p:cNvPr id="11" name="Shape 8"/>
          <p:cNvSpPr/>
          <p:nvPr/>
        </p:nvSpPr>
        <p:spPr>
          <a:xfrm>
            <a:off x="892076" y="4058722"/>
            <a:ext cx="518041" cy="518041"/>
          </a:xfrm>
          <a:prstGeom prst="roundRect">
            <a:avLst>
              <a:gd name="adj" fmla="val 6667"/>
            </a:avLst>
          </a:prstGeom>
          <a:solidFill>
            <a:srgbClr val="EDEBE3"/>
          </a:solidFill>
          <a:ln/>
        </p:spPr>
      </p:sp>
      <p:sp>
        <p:nvSpPr>
          <p:cNvPr id="12" name="Text 9"/>
          <p:cNvSpPr/>
          <p:nvPr/>
        </p:nvSpPr>
        <p:spPr>
          <a:xfrm>
            <a:off x="1051381" y="4145042"/>
            <a:ext cx="199311" cy="345400"/>
          </a:xfrm>
          <a:prstGeom prst="rect">
            <a:avLst/>
          </a:prstGeom>
          <a:noFill/>
          <a:ln/>
        </p:spPr>
        <p:txBody>
          <a:bodyPr wrap="none" lIns="0" tIns="0" rIns="0" bIns="0" rtlCol="0" anchor="t"/>
          <a:lstStyle/>
          <a:p>
            <a:pPr algn="ctr" indent="0" marL="0">
              <a:lnSpc>
                <a:spcPts val="2700"/>
              </a:lnSpc>
              <a:buNone/>
            </a:pPr>
            <a:r>
              <a:rPr lang="en-US" sz="2700" dirty="0">
                <a:solidFill>
                  <a:srgbClr val="161613"/>
                </a:solidFill>
                <a:latin typeface="DM Sans" pitchFamily="34" charset="0"/>
                <a:ea typeface="DM Sans" pitchFamily="34" charset="-122"/>
                <a:cs typeface="DM Sans" pitchFamily="34" charset="-120"/>
              </a:rPr>
              <a:t>2</a:t>
            </a:r>
            <a:endParaRPr lang="en-US" sz="2700" dirty="0"/>
          </a:p>
        </p:txBody>
      </p:sp>
      <p:sp>
        <p:nvSpPr>
          <p:cNvPr id="13" name="Text 10"/>
          <p:cNvSpPr/>
          <p:nvPr/>
        </p:nvSpPr>
        <p:spPr>
          <a:xfrm>
            <a:off x="2417445" y="4029908"/>
            <a:ext cx="2878217" cy="359688"/>
          </a:xfrm>
          <a:prstGeom prst="rect">
            <a:avLst/>
          </a:prstGeom>
          <a:noFill/>
          <a:ln/>
        </p:spPr>
        <p:txBody>
          <a:bodyPr wrap="none" lIns="0" tIns="0" rIns="0" bIns="0" rtlCol="0" anchor="t"/>
          <a:lstStyle/>
          <a:p>
            <a:pPr algn="l" indent="0" marL="0">
              <a:lnSpc>
                <a:spcPts val="2800"/>
              </a:lnSpc>
              <a:buNone/>
            </a:pPr>
            <a:r>
              <a:rPr lang="en-US" sz="2250" dirty="0">
                <a:solidFill>
                  <a:srgbClr val="161613"/>
                </a:solidFill>
                <a:latin typeface="DM Sans" pitchFamily="34" charset="0"/>
                <a:ea typeface="DM Sans" pitchFamily="34" charset="-122"/>
                <a:cs typeface="DM Sans" pitchFamily="34" charset="-120"/>
              </a:rPr>
              <a:t>Usage</a:t>
            </a:r>
            <a:endParaRPr lang="en-US" sz="2250" dirty="0"/>
          </a:p>
        </p:txBody>
      </p:sp>
      <p:sp>
        <p:nvSpPr>
          <p:cNvPr id="14" name="Text 11"/>
          <p:cNvSpPr/>
          <p:nvPr/>
        </p:nvSpPr>
        <p:spPr>
          <a:xfrm>
            <a:off x="2417445" y="4527709"/>
            <a:ext cx="5920740" cy="736759"/>
          </a:xfrm>
          <a:prstGeom prst="rect">
            <a:avLst/>
          </a:prstGeom>
          <a:noFill/>
          <a:ln/>
        </p:spPr>
        <p:txBody>
          <a:bodyPr wrap="square" lIns="0" tIns="0" rIns="0" bIns="0" rtlCol="0" anchor="t"/>
          <a:lstStyle/>
          <a:p>
            <a:pPr algn="l" indent="0" marL="0">
              <a:lnSpc>
                <a:spcPts val="2900"/>
              </a:lnSpc>
              <a:buNone/>
            </a:pPr>
            <a:r>
              <a:rPr lang="en-US" sz="1800" dirty="0">
                <a:solidFill>
                  <a:srgbClr val="161613"/>
                </a:solidFill>
                <a:latin typeface="Inter" pitchFamily="34" charset="0"/>
                <a:ea typeface="Inter" pitchFamily="34" charset="-122"/>
                <a:cs typeface="Inter" pitchFamily="34" charset="-120"/>
              </a:rPr>
              <a:t>Used for 3D simulations, volumetric data, and complex data structures.</a:t>
            </a:r>
            <a:endParaRPr lang="en-US" sz="1800" dirty="0"/>
          </a:p>
        </p:txBody>
      </p:sp>
      <p:sp>
        <p:nvSpPr>
          <p:cNvPr id="15" name="Shape 12"/>
          <p:cNvSpPr/>
          <p:nvPr/>
        </p:nvSpPr>
        <p:spPr>
          <a:xfrm>
            <a:off x="1379637" y="6227445"/>
            <a:ext cx="805815" cy="30480"/>
          </a:xfrm>
          <a:prstGeom prst="roundRect">
            <a:avLst>
              <a:gd name="adj" fmla="val 113316"/>
            </a:avLst>
          </a:prstGeom>
          <a:solidFill>
            <a:srgbClr val="D3D1C9"/>
          </a:solidFill>
          <a:ln/>
        </p:spPr>
      </p:sp>
      <p:sp>
        <p:nvSpPr>
          <p:cNvPr id="16" name="Shape 13"/>
          <p:cNvSpPr/>
          <p:nvPr/>
        </p:nvSpPr>
        <p:spPr>
          <a:xfrm>
            <a:off x="892076" y="5983724"/>
            <a:ext cx="518041" cy="518041"/>
          </a:xfrm>
          <a:prstGeom prst="roundRect">
            <a:avLst>
              <a:gd name="adj" fmla="val 6667"/>
            </a:avLst>
          </a:prstGeom>
          <a:solidFill>
            <a:srgbClr val="EDEBE3"/>
          </a:solidFill>
          <a:ln/>
        </p:spPr>
      </p:sp>
      <p:sp>
        <p:nvSpPr>
          <p:cNvPr id="17" name="Text 14"/>
          <p:cNvSpPr/>
          <p:nvPr/>
        </p:nvSpPr>
        <p:spPr>
          <a:xfrm>
            <a:off x="1048524" y="6070044"/>
            <a:ext cx="205145" cy="345400"/>
          </a:xfrm>
          <a:prstGeom prst="rect">
            <a:avLst/>
          </a:prstGeom>
          <a:noFill/>
          <a:ln/>
        </p:spPr>
        <p:txBody>
          <a:bodyPr wrap="none" lIns="0" tIns="0" rIns="0" bIns="0" rtlCol="0" anchor="t"/>
          <a:lstStyle/>
          <a:p>
            <a:pPr algn="ctr" indent="0" marL="0">
              <a:lnSpc>
                <a:spcPts val="2700"/>
              </a:lnSpc>
              <a:buNone/>
            </a:pPr>
            <a:r>
              <a:rPr lang="en-US" sz="2700" dirty="0">
                <a:solidFill>
                  <a:srgbClr val="161613"/>
                </a:solidFill>
                <a:latin typeface="DM Sans" pitchFamily="34" charset="0"/>
                <a:ea typeface="DM Sans" pitchFamily="34" charset="-122"/>
                <a:cs typeface="DM Sans" pitchFamily="34" charset="-120"/>
              </a:rPr>
              <a:t>3</a:t>
            </a:r>
            <a:endParaRPr lang="en-US" sz="2700" dirty="0"/>
          </a:p>
        </p:txBody>
      </p:sp>
      <p:sp>
        <p:nvSpPr>
          <p:cNvPr id="18" name="Text 15"/>
          <p:cNvSpPr/>
          <p:nvPr/>
        </p:nvSpPr>
        <p:spPr>
          <a:xfrm>
            <a:off x="2417445" y="5954911"/>
            <a:ext cx="2878217" cy="359688"/>
          </a:xfrm>
          <a:prstGeom prst="rect">
            <a:avLst/>
          </a:prstGeom>
          <a:noFill/>
          <a:ln/>
        </p:spPr>
        <p:txBody>
          <a:bodyPr wrap="none" lIns="0" tIns="0" rIns="0" bIns="0" rtlCol="0" anchor="t"/>
          <a:lstStyle/>
          <a:p>
            <a:pPr algn="l" indent="0" marL="0">
              <a:lnSpc>
                <a:spcPts val="2800"/>
              </a:lnSpc>
              <a:buNone/>
            </a:pPr>
            <a:r>
              <a:rPr lang="en-US" sz="2250" dirty="0">
                <a:solidFill>
                  <a:srgbClr val="161613"/>
                </a:solidFill>
                <a:latin typeface="DM Sans" pitchFamily="34" charset="0"/>
                <a:ea typeface="DM Sans" pitchFamily="34" charset="-122"/>
                <a:cs typeface="DM Sans" pitchFamily="34" charset="-120"/>
              </a:rPr>
              <a:t>Access</a:t>
            </a:r>
            <a:endParaRPr lang="en-US" sz="2250" dirty="0"/>
          </a:p>
        </p:txBody>
      </p:sp>
      <p:sp>
        <p:nvSpPr>
          <p:cNvPr id="19" name="Text 16"/>
          <p:cNvSpPr/>
          <p:nvPr/>
        </p:nvSpPr>
        <p:spPr>
          <a:xfrm>
            <a:off x="2417445" y="6452711"/>
            <a:ext cx="5920740" cy="368379"/>
          </a:xfrm>
          <a:prstGeom prst="rect">
            <a:avLst/>
          </a:prstGeom>
          <a:noFill/>
          <a:ln/>
        </p:spPr>
        <p:txBody>
          <a:bodyPr wrap="none" lIns="0" tIns="0" rIns="0" bIns="0" rtlCol="0" anchor="t"/>
          <a:lstStyle/>
          <a:p>
            <a:pPr algn="l" indent="0" marL="0">
              <a:lnSpc>
                <a:spcPts val="2900"/>
              </a:lnSpc>
              <a:buNone/>
            </a:pPr>
            <a:r>
              <a:rPr lang="en-US" sz="1800" dirty="0">
                <a:solidFill>
                  <a:srgbClr val="161613"/>
                </a:solidFill>
                <a:latin typeface="Inter" pitchFamily="34" charset="0"/>
                <a:ea typeface="Inter" pitchFamily="34" charset="-122"/>
                <a:cs typeface="Inter" pitchFamily="34" charset="-120"/>
              </a:rPr>
              <a:t>Elements accessed using arr[i][j][k] notation.</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70057" y="537686"/>
            <a:ext cx="4883468" cy="610433"/>
          </a:xfrm>
          <a:prstGeom prst="rect">
            <a:avLst/>
          </a:prstGeom>
          <a:noFill/>
          <a:ln/>
        </p:spPr>
        <p:txBody>
          <a:bodyPr wrap="none" lIns="0" tIns="0" rIns="0" bIns="0" rtlCol="0" anchor="t"/>
          <a:lstStyle/>
          <a:p>
            <a:pPr indent="0" marL="0">
              <a:lnSpc>
                <a:spcPts val="4800"/>
              </a:lnSpc>
              <a:buNone/>
            </a:pPr>
            <a:r>
              <a:rPr lang="en-US" sz="3800" dirty="0">
                <a:solidFill>
                  <a:srgbClr val="161613"/>
                </a:solidFill>
                <a:latin typeface="DM Sans" pitchFamily="34" charset="0"/>
                <a:ea typeface="DM Sans" pitchFamily="34" charset="-122"/>
                <a:cs typeface="DM Sans" pitchFamily="34" charset="-120"/>
              </a:rPr>
              <a:t>Array Traversal</a:t>
            </a:r>
            <a:endParaRPr lang="en-US" sz="3800" dirty="0"/>
          </a:p>
        </p:txBody>
      </p:sp>
      <p:pic>
        <p:nvPicPr>
          <p:cNvPr id="4" name="Image 1" descr="preencoded.png">    </p:cNvPr>
          <p:cNvPicPr>
            <a:picLocks noChangeAspect="1"/>
          </p:cNvPicPr>
          <p:nvPr/>
        </p:nvPicPr>
        <p:blipFill>
          <a:blip r:embed="rId2"/>
          <a:stretch>
            <a:fillRect/>
          </a:stretch>
        </p:blipFill>
        <p:spPr>
          <a:xfrm>
            <a:off x="6170057" y="1441013"/>
            <a:ext cx="976670" cy="1562695"/>
          </a:xfrm>
          <a:prstGeom prst="rect">
            <a:avLst/>
          </a:prstGeom>
        </p:spPr>
      </p:pic>
      <p:sp>
        <p:nvSpPr>
          <p:cNvPr id="5" name="Text 1"/>
          <p:cNvSpPr/>
          <p:nvPr/>
        </p:nvSpPr>
        <p:spPr>
          <a:xfrm>
            <a:off x="7439620" y="1636276"/>
            <a:ext cx="2441734" cy="305157"/>
          </a:xfrm>
          <a:prstGeom prst="rect">
            <a:avLst/>
          </a:prstGeom>
          <a:noFill/>
          <a:ln/>
        </p:spPr>
        <p:txBody>
          <a:bodyPr wrap="none" lIns="0" tIns="0" rIns="0" bIns="0" rtlCol="0" anchor="t"/>
          <a:lstStyle/>
          <a:p>
            <a:pPr algn="l" indent="0" marL="0">
              <a:lnSpc>
                <a:spcPts val="2400"/>
              </a:lnSpc>
              <a:buNone/>
            </a:pPr>
            <a:r>
              <a:rPr lang="en-US" sz="1900" dirty="0">
                <a:solidFill>
                  <a:srgbClr val="161613"/>
                </a:solidFill>
                <a:latin typeface="DM Sans" pitchFamily="34" charset="0"/>
                <a:ea typeface="DM Sans" pitchFamily="34" charset="-122"/>
                <a:cs typeface="DM Sans" pitchFamily="34" charset="-120"/>
              </a:rPr>
              <a:t>Start</a:t>
            </a:r>
            <a:endParaRPr lang="en-US" sz="1900" dirty="0"/>
          </a:p>
        </p:txBody>
      </p:sp>
      <p:sp>
        <p:nvSpPr>
          <p:cNvPr id="6" name="Text 2"/>
          <p:cNvSpPr/>
          <p:nvPr/>
        </p:nvSpPr>
        <p:spPr>
          <a:xfrm>
            <a:off x="7439620" y="2058591"/>
            <a:ext cx="6507123" cy="312539"/>
          </a:xfrm>
          <a:prstGeom prst="rect">
            <a:avLst/>
          </a:prstGeom>
          <a:noFill/>
          <a:ln/>
        </p:spPr>
        <p:txBody>
          <a:bodyPr wrap="none" lIns="0" tIns="0" rIns="0" bIns="0" rtlCol="0" anchor="t"/>
          <a:lstStyle/>
          <a:p>
            <a:pPr algn="l" indent="0" marL="0">
              <a:lnSpc>
                <a:spcPts val="2450"/>
              </a:lnSpc>
              <a:buNone/>
            </a:pPr>
            <a:r>
              <a:rPr lang="en-US" sz="1500" dirty="0">
                <a:solidFill>
                  <a:srgbClr val="161613"/>
                </a:solidFill>
                <a:latin typeface="Inter" pitchFamily="34" charset="0"/>
                <a:ea typeface="Inter" pitchFamily="34" charset="-122"/>
                <a:cs typeface="Inter" pitchFamily="34" charset="-120"/>
              </a:rPr>
              <a:t>Begin at the first element (index 0).</a:t>
            </a:r>
            <a:endParaRPr lang="en-US" sz="1500" dirty="0"/>
          </a:p>
        </p:txBody>
      </p:sp>
      <p:pic>
        <p:nvPicPr>
          <p:cNvPr id="7" name="Image 2" descr="preencoded.png">    </p:cNvPr>
          <p:cNvPicPr>
            <a:picLocks noChangeAspect="1"/>
          </p:cNvPicPr>
          <p:nvPr/>
        </p:nvPicPr>
        <p:blipFill>
          <a:blip r:embed="rId3"/>
          <a:stretch>
            <a:fillRect/>
          </a:stretch>
        </p:blipFill>
        <p:spPr>
          <a:xfrm>
            <a:off x="6170057" y="3003709"/>
            <a:ext cx="976670" cy="1562695"/>
          </a:xfrm>
          <a:prstGeom prst="rect">
            <a:avLst/>
          </a:prstGeom>
        </p:spPr>
      </p:pic>
      <p:sp>
        <p:nvSpPr>
          <p:cNvPr id="8" name="Text 3"/>
          <p:cNvSpPr/>
          <p:nvPr/>
        </p:nvSpPr>
        <p:spPr>
          <a:xfrm>
            <a:off x="7439620" y="3198971"/>
            <a:ext cx="2441734" cy="305157"/>
          </a:xfrm>
          <a:prstGeom prst="rect">
            <a:avLst/>
          </a:prstGeom>
          <a:noFill/>
          <a:ln/>
        </p:spPr>
        <p:txBody>
          <a:bodyPr wrap="none" lIns="0" tIns="0" rIns="0" bIns="0" rtlCol="0" anchor="t"/>
          <a:lstStyle/>
          <a:p>
            <a:pPr algn="l" indent="0" marL="0">
              <a:lnSpc>
                <a:spcPts val="2400"/>
              </a:lnSpc>
              <a:buNone/>
            </a:pPr>
            <a:r>
              <a:rPr lang="en-US" sz="1900" dirty="0">
                <a:solidFill>
                  <a:srgbClr val="161613"/>
                </a:solidFill>
                <a:latin typeface="DM Sans" pitchFamily="34" charset="0"/>
                <a:ea typeface="DM Sans" pitchFamily="34" charset="-122"/>
                <a:cs typeface="DM Sans" pitchFamily="34" charset="-120"/>
              </a:rPr>
              <a:t>Iterate</a:t>
            </a:r>
            <a:endParaRPr lang="en-US" sz="1900" dirty="0"/>
          </a:p>
        </p:txBody>
      </p:sp>
      <p:sp>
        <p:nvSpPr>
          <p:cNvPr id="9" name="Text 4"/>
          <p:cNvSpPr/>
          <p:nvPr/>
        </p:nvSpPr>
        <p:spPr>
          <a:xfrm>
            <a:off x="7439620" y="3621286"/>
            <a:ext cx="6507123" cy="312539"/>
          </a:xfrm>
          <a:prstGeom prst="rect">
            <a:avLst/>
          </a:prstGeom>
          <a:noFill/>
          <a:ln/>
        </p:spPr>
        <p:txBody>
          <a:bodyPr wrap="none" lIns="0" tIns="0" rIns="0" bIns="0" rtlCol="0" anchor="t"/>
          <a:lstStyle/>
          <a:p>
            <a:pPr algn="l" indent="0" marL="0">
              <a:lnSpc>
                <a:spcPts val="2450"/>
              </a:lnSpc>
              <a:buNone/>
            </a:pPr>
            <a:r>
              <a:rPr lang="en-US" sz="1500" dirty="0">
                <a:solidFill>
                  <a:srgbClr val="161613"/>
                </a:solidFill>
                <a:latin typeface="Inter" pitchFamily="34" charset="0"/>
                <a:ea typeface="Inter" pitchFamily="34" charset="-122"/>
                <a:cs typeface="Inter" pitchFamily="34" charset="-120"/>
              </a:rPr>
              <a:t>Move through each element sequentially.</a:t>
            </a:r>
            <a:endParaRPr lang="en-US" sz="1500" dirty="0"/>
          </a:p>
        </p:txBody>
      </p:sp>
      <p:pic>
        <p:nvPicPr>
          <p:cNvPr id="10" name="Image 3" descr="preencoded.png">    </p:cNvPr>
          <p:cNvPicPr>
            <a:picLocks noChangeAspect="1"/>
          </p:cNvPicPr>
          <p:nvPr/>
        </p:nvPicPr>
        <p:blipFill>
          <a:blip r:embed="rId4"/>
          <a:stretch>
            <a:fillRect/>
          </a:stretch>
        </p:blipFill>
        <p:spPr>
          <a:xfrm>
            <a:off x="6170057" y="4566404"/>
            <a:ext cx="976670" cy="1562695"/>
          </a:xfrm>
          <a:prstGeom prst="rect">
            <a:avLst/>
          </a:prstGeom>
        </p:spPr>
      </p:pic>
      <p:sp>
        <p:nvSpPr>
          <p:cNvPr id="11" name="Text 5"/>
          <p:cNvSpPr/>
          <p:nvPr/>
        </p:nvSpPr>
        <p:spPr>
          <a:xfrm>
            <a:off x="7439620" y="4761667"/>
            <a:ext cx="2441734" cy="305157"/>
          </a:xfrm>
          <a:prstGeom prst="rect">
            <a:avLst/>
          </a:prstGeom>
          <a:noFill/>
          <a:ln/>
        </p:spPr>
        <p:txBody>
          <a:bodyPr wrap="none" lIns="0" tIns="0" rIns="0" bIns="0" rtlCol="0" anchor="t"/>
          <a:lstStyle/>
          <a:p>
            <a:pPr algn="l" indent="0" marL="0">
              <a:lnSpc>
                <a:spcPts val="2400"/>
              </a:lnSpc>
              <a:buNone/>
            </a:pPr>
            <a:r>
              <a:rPr lang="en-US" sz="1900" dirty="0">
                <a:solidFill>
                  <a:srgbClr val="161613"/>
                </a:solidFill>
                <a:latin typeface="DM Sans" pitchFamily="34" charset="0"/>
                <a:ea typeface="DM Sans" pitchFamily="34" charset="-122"/>
                <a:cs typeface="DM Sans" pitchFamily="34" charset="-120"/>
              </a:rPr>
              <a:t>Process</a:t>
            </a:r>
            <a:endParaRPr lang="en-US" sz="1900" dirty="0"/>
          </a:p>
        </p:txBody>
      </p:sp>
      <p:sp>
        <p:nvSpPr>
          <p:cNvPr id="12" name="Text 6"/>
          <p:cNvSpPr/>
          <p:nvPr/>
        </p:nvSpPr>
        <p:spPr>
          <a:xfrm>
            <a:off x="7439620" y="5183981"/>
            <a:ext cx="6507123" cy="312539"/>
          </a:xfrm>
          <a:prstGeom prst="rect">
            <a:avLst/>
          </a:prstGeom>
          <a:noFill/>
          <a:ln/>
        </p:spPr>
        <p:txBody>
          <a:bodyPr wrap="none" lIns="0" tIns="0" rIns="0" bIns="0" rtlCol="0" anchor="t"/>
          <a:lstStyle/>
          <a:p>
            <a:pPr algn="l" indent="0" marL="0">
              <a:lnSpc>
                <a:spcPts val="2450"/>
              </a:lnSpc>
              <a:buNone/>
            </a:pPr>
            <a:r>
              <a:rPr lang="en-US" sz="1500" dirty="0">
                <a:solidFill>
                  <a:srgbClr val="161613"/>
                </a:solidFill>
                <a:latin typeface="Inter" pitchFamily="34" charset="0"/>
                <a:ea typeface="Inter" pitchFamily="34" charset="-122"/>
                <a:cs typeface="Inter" pitchFamily="34" charset="-120"/>
              </a:rPr>
              <a:t>Perform an operation on each element.</a:t>
            </a:r>
            <a:endParaRPr lang="en-US" sz="1500" dirty="0"/>
          </a:p>
        </p:txBody>
      </p:sp>
      <p:pic>
        <p:nvPicPr>
          <p:cNvPr id="13" name="Image 4" descr="preencoded.png">    </p:cNvPr>
          <p:cNvPicPr>
            <a:picLocks noChangeAspect="1"/>
          </p:cNvPicPr>
          <p:nvPr/>
        </p:nvPicPr>
        <p:blipFill>
          <a:blip r:embed="rId5"/>
          <a:stretch>
            <a:fillRect/>
          </a:stretch>
        </p:blipFill>
        <p:spPr>
          <a:xfrm>
            <a:off x="6170057" y="6129099"/>
            <a:ext cx="976670" cy="1562695"/>
          </a:xfrm>
          <a:prstGeom prst="rect">
            <a:avLst/>
          </a:prstGeom>
        </p:spPr>
      </p:pic>
      <p:sp>
        <p:nvSpPr>
          <p:cNvPr id="14" name="Text 7"/>
          <p:cNvSpPr/>
          <p:nvPr/>
        </p:nvSpPr>
        <p:spPr>
          <a:xfrm>
            <a:off x="7439620" y="6324362"/>
            <a:ext cx="2441734" cy="305157"/>
          </a:xfrm>
          <a:prstGeom prst="rect">
            <a:avLst/>
          </a:prstGeom>
          <a:noFill/>
          <a:ln/>
        </p:spPr>
        <p:txBody>
          <a:bodyPr wrap="none" lIns="0" tIns="0" rIns="0" bIns="0" rtlCol="0" anchor="t"/>
          <a:lstStyle/>
          <a:p>
            <a:pPr algn="l" indent="0" marL="0">
              <a:lnSpc>
                <a:spcPts val="2400"/>
              </a:lnSpc>
              <a:buNone/>
            </a:pPr>
            <a:r>
              <a:rPr lang="en-US" sz="1900" dirty="0">
                <a:solidFill>
                  <a:srgbClr val="161613"/>
                </a:solidFill>
                <a:latin typeface="DM Sans" pitchFamily="34" charset="0"/>
                <a:ea typeface="DM Sans" pitchFamily="34" charset="-122"/>
                <a:cs typeface="DM Sans" pitchFamily="34" charset="-120"/>
              </a:rPr>
              <a:t>End</a:t>
            </a:r>
            <a:endParaRPr lang="en-US" sz="1900" dirty="0"/>
          </a:p>
        </p:txBody>
      </p:sp>
      <p:sp>
        <p:nvSpPr>
          <p:cNvPr id="15" name="Text 8"/>
          <p:cNvSpPr/>
          <p:nvPr/>
        </p:nvSpPr>
        <p:spPr>
          <a:xfrm>
            <a:off x="7439620" y="6746677"/>
            <a:ext cx="6507123" cy="312539"/>
          </a:xfrm>
          <a:prstGeom prst="rect">
            <a:avLst/>
          </a:prstGeom>
          <a:noFill/>
          <a:ln/>
        </p:spPr>
        <p:txBody>
          <a:bodyPr wrap="none" lIns="0" tIns="0" rIns="0" bIns="0" rtlCol="0" anchor="t"/>
          <a:lstStyle/>
          <a:p>
            <a:pPr algn="l" indent="0" marL="0">
              <a:lnSpc>
                <a:spcPts val="2450"/>
              </a:lnSpc>
              <a:buNone/>
            </a:pPr>
            <a:r>
              <a:rPr lang="en-US" sz="1500" dirty="0">
                <a:solidFill>
                  <a:srgbClr val="161613"/>
                </a:solidFill>
                <a:latin typeface="Inter" pitchFamily="34" charset="0"/>
                <a:ea typeface="Inter" pitchFamily="34" charset="-122"/>
                <a:cs typeface="Inter" pitchFamily="34" charset="-120"/>
              </a:rPr>
              <a:t>Stop after reaching the last element.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437" y="1163241"/>
            <a:ext cx="6172200" cy="771525"/>
          </a:xfrm>
          <a:prstGeom prst="rect">
            <a:avLst/>
          </a:prstGeom>
          <a:noFill/>
          <a:ln/>
        </p:spPr>
        <p:txBody>
          <a:bodyPr wrap="non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Insertion in Array</a:t>
            </a:r>
            <a:endParaRPr lang="en-US" sz="4850" dirty="0"/>
          </a:p>
        </p:txBody>
      </p:sp>
      <p:sp>
        <p:nvSpPr>
          <p:cNvPr id="4" name="Shape 1"/>
          <p:cNvSpPr/>
          <p:nvPr/>
        </p:nvSpPr>
        <p:spPr>
          <a:xfrm>
            <a:off x="6705481" y="2305050"/>
            <a:ext cx="30480" cy="4761309"/>
          </a:xfrm>
          <a:prstGeom prst="roundRect">
            <a:avLst>
              <a:gd name="adj" fmla="val 121500"/>
            </a:avLst>
          </a:prstGeom>
          <a:solidFill>
            <a:srgbClr val="D3D1C9"/>
          </a:solidFill>
          <a:ln/>
        </p:spPr>
      </p:sp>
      <p:sp>
        <p:nvSpPr>
          <p:cNvPr id="5" name="Shape 2"/>
          <p:cNvSpPr/>
          <p:nvPr/>
        </p:nvSpPr>
        <p:spPr>
          <a:xfrm>
            <a:off x="6967954" y="2845118"/>
            <a:ext cx="864037" cy="30480"/>
          </a:xfrm>
          <a:prstGeom prst="roundRect">
            <a:avLst>
              <a:gd name="adj" fmla="val 121500"/>
            </a:avLst>
          </a:prstGeom>
          <a:solidFill>
            <a:srgbClr val="D3D1C9"/>
          </a:solidFill>
          <a:ln/>
        </p:spPr>
      </p:sp>
      <p:sp>
        <p:nvSpPr>
          <p:cNvPr id="6" name="Shape 3"/>
          <p:cNvSpPr/>
          <p:nvPr/>
        </p:nvSpPr>
        <p:spPr>
          <a:xfrm>
            <a:off x="6443008" y="2582704"/>
            <a:ext cx="555427" cy="555427"/>
          </a:xfrm>
          <a:prstGeom prst="roundRect">
            <a:avLst>
              <a:gd name="adj" fmla="val 6668"/>
            </a:avLst>
          </a:prstGeom>
          <a:solidFill>
            <a:srgbClr val="EDEBE3"/>
          </a:solidFill>
          <a:ln/>
        </p:spPr>
      </p:sp>
      <p:sp>
        <p:nvSpPr>
          <p:cNvPr id="7" name="Text 4"/>
          <p:cNvSpPr/>
          <p:nvPr/>
        </p:nvSpPr>
        <p:spPr>
          <a:xfrm>
            <a:off x="6659940" y="2675215"/>
            <a:ext cx="121563" cy="370284"/>
          </a:xfrm>
          <a:prstGeom prst="rect">
            <a:avLst/>
          </a:prstGeom>
          <a:noFill/>
          <a:ln/>
        </p:spPr>
        <p:txBody>
          <a:bodyPr wrap="none" lIns="0" tIns="0" rIns="0" bIns="0" rtlCol="0" anchor="t"/>
          <a:lstStyle/>
          <a:p>
            <a:pPr algn="ctr" indent="0" marL="0">
              <a:lnSpc>
                <a:spcPts val="2900"/>
              </a:lnSpc>
              <a:buNone/>
            </a:pPr>
            <a:r>
              <a:rPr lang="en-US" sz="2900" dirty="0">
                <a:solidFill>
                  <a:srgbClr val="161613"/>
                </a:solidFill>
                <a:latin typeface="DM Sans" pitchFamily="34" charset="0"/>
                <a:ea typeface="DM Sans" pitchFamily="34" charset="-122"/>
                <a:cs typeface="DM Sans" pitchFamily="34" charset="-120"/>
              </a:rPr>
              <a:t>1</a:t>
            </a:r>
            <a:endParaRPr lang="en-US" sz="2900" dirty="0"/>
          </a:p>
        </p:txBody>
      </p:sp>
      <p:sp>
        <p:nvSpPr>
          <p:cNvPr id="8" name="Text 5"/>
          <p:cNvSpPr/>
          <p:nvPr/>
        </p:nvSpPr>
        <p:spPr>
          <a:xfrm>
            <a:off x="8078510" y="2551867"/>
            <a:ext cx="3086100" cy="385763"/>
          </a:xfrm>
          <a:prstGeom prst="rect">
            <a:avLst/>
          </a:prstGeom>
          <a:noFill/>
          <a:ln/>
        </p:spPr>
        <p:txBody>
          <a:bodyPr wrap="none" lIns="0" tIns="0" rIns="0" bIns="0" rtlCol="0" anchor="t"/>
          <a:lstStyle/>
          <a:p>
            <a:pPr algn="l" indent="0" marL="0">
              <a:lnSpc>
                <a:spcPts val="3000"/>
              </a:lnSpc>
              <a:buNone/>
            </a:pPr>
            <a:r>
              <a:rPr lang="en-US" sz="2400" dirty="0">
                <a:solidFill>
                  <a:srgbClr val="161613"/>
                </a:solidFill>
                <a:latin typeface="DM Sans" pitchFamily="34" charset="0"/>
                <a:ea typeface="DM Sans" pitchFamily="34" charset="-122"/>
                <a:cs typeface="DM Sans" pitchFamily="34" charset="-120"/>
              </a:rPr>
              <a:t>Find Position</a:t>
            </a:r>
            <a:endParaRPr lang="en-US" sz="2400" dirty="0"/>
          </a:p>
        </p:txBody>
      </p:sp>
      <p:sp>
        <p:nvSpPr>
          <p:cNvPr id="9" name="Text 6"/>
          <p:cNvSpPr/>
          <p:nvPr/>
        </p:nvSpPr>
        <p:spPr>
          <a:xfrm>
            <a:off x="8078510" y="3085743"/>
            <a:ext cx="5687854" cy="395049"/>
          </a:xfrm>
          <a:prstGeom prst="rect">
            <a:avLst/>
          </a:prstGeom>
          <a:noFill/>
          <a:ln/>
        </p:spPr>
        <p:txBody>
          <a:bodyPr wrap="none" lIns="0" tIns="0" rIns="0" bIns="0" rtlCol="0" anchor="t"/>
          <a:lstStyle/>
          <a:p>
            <a:pPr algn="l" indent="0" marL="0">
              <a:lnSpc>
                <a:spcPts val="3100"/>
              </a:lnSpc>
              <a:buNone/>
            </a:pPr>
            <a:r>
              <a:rPr lang="en-US" sz="1900" dirty="0">
                <a:solidFill>
                  <a:srgbClr val="161613"/>
                </a:solidFill>
                <a:latin typeface="Inter" pitchFamily="34" charset="0"/>
                <a:ea typeface="Inter" pitchFamily="34" charset="-122"/>
                <a:cs typeface="Inter" pitchFamily="34" charset="-120"/>
              </a:rPr>
              <a:t>Determine where to insert the new element.</a:t>
            </a:r>
            <a:endParaRPr lang="en-US" sz="1900" dirty="0"/>
          </a:p>
        </p:txBody>
      </p:sp>
      <p:sp>
        <p:nvSpPr>
          <p:cNvPr id="10" name="Shape 7"/>
          <p:cNvSpPr/>
          <p:nvPr/>
        </p:nvSpPr>
        <p:spPr>
          <a:xfrm>
            <a:off x="6967954" y="4514493"/>
            <a:ext cx="864037" cy="30480"/>
          </a:xfrm>
          <a:prstGeom prst="roundRect">
            <a:avLst>
              <a:gd name="adj" fmla="val 121500"/>
            </a:avLst>
          </a:prstGeom>
          <a:solidFill>
            <a:srgbClr val="D3D1C9"/>
          </a:solidFill>
          <a:ln/>
        </p:spPr>
      </p:sp>
      <p:sp>
        <p:nvSpPr>
          <p:cNvPr id="11" name="Shape 8"/>
          <p:cNvSpPr/>
          <p:nvPr/>
        </p:nvSpPr>
        <p:spPr>
          <a:xfrm>
            <a:off x="6443008" y="4252079"/>
            <a:ext cx="555427" cy="555427"/>
          </a:xfrm>
          <a:prstGeom prst="roundRect">
            <a:avLst>
              <a:gd name="adj" fmla="val 6668"/>
            </a:avLst>
          </a:prstGeom>
          <a:solidFill>
            <a:srgbClr val="EDEBE3"/>
          </a:solidFill>
          <a:ln/>
        </p:spPr>
      </p:sp>
      <p:sp>
        <p:nvSpPr>
          <p:cNvPr id="12" name="Text 9"/>
          <p:cNvSpPr/>
          <p:nvPr/>
        </p:nvSpPr>
        <p:spPr>
          <a:xfrm>
            <a:off x="6613862" y="4344591"/>
            <a:ext cx="213717" cy="370284"/>
          </a:xfrm>
          <a:prstGeom prst="rect">
            <a:avLst/>
          </a:prstGeom>
          <a:noFill/>
          <a:ln/>
        </p:spPr>
        <p:txBody>
          <a:bodyPr wrap="none" lIns="0" tIns="0" rIns="0" bIns="0" rtlCol="0" anchor="t"/>
          <a:lstStyle/>
          <a:p>
            <a:pPr algn="ctr" indent="0" marL="0">
              <a:lnSpc>
                <a:spcPts val="2900"/>
              </a:lnSpc>
              <a:buNone/>
            </a:pPr>
            <a:r>
              <a:rPr lang="en-US" sz="2900" dirty="0">
                <a:solidFill>
                  <a:srgbClr val="161613"/>
                </a:solidFill>
                <a:latin typeface="DM Sans" pitchFamily="34" charset="0"/>
                <a:ea typeface="DM Sans" pitchFamily="34" charset="-122"/>
                <a:cs typeface="DM Sans" pitchFamily="34" charset="-120"/>
              </a:rPr>
              <a:t>2</a:t>
            </a:r>
            <a:endParaRPr lang="en-US" sz="2900" dirty="0"/>
          </a:p>
        </p:txBody>
      </p:sp>
      <p:sp>
        <p:nvSpPr>
          <p:cNvPr id="13" name="Text 10"/>
          <p:cNvSpPr/>
          <p:nvPr/>
        </p:nvSpPr>
        <p:spPr>
          <a:xfrm>
            <a:off x="8078510" y="4221242"/>
            <a:ext cx="3086100" cy="385763"/>
          </a:xfrm>
          <a:prstGeom prst="rect">
            <a:avLst/>
          </a:prstGeom>
          <a:noFill/>
          <a:ln/>
        </p:spPr>
        <p:txBody>
          <a:bodyPr wrap="none" lIns="0" tIns="0" rIns="0" bIns="0" rtlCol="0" anchor="t"/>
          <a:lstStyle/>
          <a:p>
            <a:pPr algn="l" indent="0" marL="0">
              <a:lnSpc>
                <a:spcPts val="3000"/>
              </a:lnSpc>
              <a:buNone/>
            </a:pPr>
            <a:r>
              <a:rPr lang="en-US" sz="2400" dirty="0">
                <a:solidFill>
                  <a:srgbClr val="161613"/>
                </a:solidFill>
                <a:latin typeface="DM Sans" pitchFamily="34" charset="0"/>
                <a:ea typeface="DM Sans" pitchFamily="34" charset="-122"/>
                <a:cs typeface="DM Sans" pitchFamily="34" charset="-120"/>
              </a:rPr>
              <a:t>Shift Elements</a:t>
            </a:r>
            <a:endParaRPr lang="en-US" sz="2400" dirty="0"/>
          </a:p>
        </p:txBody>
      </p:sp>
      <p:sp>
        <p:nvSpPr>
          <p:cNvPr id="14" name="Text 11"/>
          <p:cNvSpPr/>
          <p:nvPr/>
        </p:nvSpPr>
        <p:spPr>
          <a:xfrm>
            <a:off x="8078510" y="4755118"/>
            <a:ext cx="5687854" cy="395049"/>
          </a:xfrm>
          <a:prstGeom prst="rect">
            <a:avLst/>
          </a:prstGeom>
          <a:noFill/>
          <a:ln/>
        </p:spPr>
        <p:txBody>
          <a:bodyPr wrap="none" lIns="0" tIns="0" rIns="0" bIns="0" rtlCol="0" anchor="t"/>
          <a:lstStyle/>
          <a:p>
            <a:pPr algn="l" indent="0" marL="0">
              <a:lnSpc>
                <a:spcPts val="3100"/>
              </a:lnSpc>
              <a:buNone/>
            </a:pPr>
            <a:r>
              <a:rPr lang="en-US" sz="1900" dirty="0">
                <a:solidFill>
                  <a:srgbClr val="161613"/>
                </a:solidFill>
                <a:latin typeface="Inter" pitchFamily="34" charset="0"/>
                <a:ea typeface="Inter" pitchFamily="34" charset="-122"/>
                <a:cs typeface="Inter" pitchFamily="34" charset="-120"/>
              </a:rPr>
              <a:t>Move existing elements to make space.</a:t>
            </a:r>
            <a:endParaRPr lang="en-US" sz="1900" dirty="0"/>
          </a:p>
        </p:txBody>
      </p:sp>
      <p:sp>
        <p:nvSpPr>
          <p:cNvPr id="15" name="Shape 12"/>
          <p:cNvSpPr/>
          <p:nvPr/>
        </p:nvSpPr>
        <p:spPr>
          <a:xfrm>
            <a:off x="6967954" y="6183868"/>
            <a:ext cx="864037" cy="30480"/>
          </a:xfrm>
          <a:prstGeom prst="roundRect">
            <a:avLst>
              <a:gd name="adj" fmla="val 121500"/>
            </a:avLst>
          </a:prstGeom>
          <a:solidFill>
            <a:srgbClr val="D3D1C9"/>
          </a:solidFill>
          <a:ln/>
        </p:spPr>
      </p:sp>
      <p:sp>
        <p:nvSpPr>
          <p:cNvPr id="16" name="Shape 13"/>
          <p:cNvSpPr/>
          <p:nvPr/>
        </p:nvSpPr>
        <p:spPr>
          <a:xfrm>
            <a:off x="6443008" y="5921454"/>
            <a:ext cx="555427" cy="555427"/>
          </a:xfrm>
          <a:prstGeom prst="roundRect">
            <a:avLst>
              <a:gd name="adj" fmla="val 6668"/>
            </a:avLst>
          </a:prstGeom>
          <a:solidFill>
            <a:srgbClr val="EDEBE3"/>
          </a:solidFill>
          <a:ln/>
        </p:spPr>
      </p:sp>
      <p:sp>
        <p:nvSpPr>
          <p:cNvPr id="17" name="Text 14"/>
          <p:cNvSpPr/>
          <p:nvPr/>
        </p:nvSpPr>
        <p:spPr>
          <a:xfrm>
            <a:off x="6610648" y="6013966"/>
            <a:ext cx="220028" cy="370284"/>
          </a:xfrm>
          <a:prstGeom prst="rect">
            <a:avLst/>
          </a:prstGeom>
          <a:noFill/>
          <a:ln/>
        </p:spPr>
        <p:txBody>
          <a:bodyPr wrap="none" lIns="0" tIns="0" rIns="0" bIns="0" rtlCol="0" anchor="t"/>
          <a:lstStyle/>
          <a:p>
            <a:pPr algn="ctr" indent="0" marL="0">
              <a:lnSpc>
                <a:spcPts val="2900"/>
              </a:lnSpc>
              <a:buNone/>
            </a:pPr>
            <a:r>
              <a:rPr lang="en-US" sz="2900" dirty="0">
                <a:solidFill>
                  <a:srgbClr val="161613"/>
                </a:solidFill>
                <a:latin typeface="DM Sans" pitchFamily="34" charset="0"/>
                <a:ea typeface="DM Sans" pitchFamily="34" charset="-122"/>
                <a:cs typeface="DM Sans" pitchFamily="34" charset="-120"/>
              </a:rPr>
              <a:t>3</a:t>
            </a:r>
            <a:endParaRPr lang="en-US" sz="2900" dirty="0"/>
          </a:p>
        </p:txBody>
      </p:sp>
      <p:sp>
        <p:nvSpPr>
          <p:cNvPr id="18" name="Text 15"/>
          <p:cNvSpPr/>
          <p:nvPr/>
        </p:nvSpPr>
        <p:spPr>
          <a:xfrm>
            <a:off x="8078510" y="5890617"/>
            <a:ext cx="3086100" cy="385763"/>
          </a:xfrm>
          <a:prstGeom prst="rect">
            <a:avLst/>
          </a:prstGeom>
          <a:noFill/>
          <a:ln/>
        </p:spPr>
        <p:txBody>
          <a:bodyPr wrap="none" lIns="0" tIns="0" rIns="0" bIns="0" rtlCol="0" anchor="t"/>
          <a:lstStyle/>
          <a:p>
            <a:pPr algn="l" indent="0" marL="0">
              <a:lnSpc>
                <a:spcPts val="3000"/>
              </a:lnSpc>
              <a:buNone/>
            </a:pPr>
            <a:r>
              <a:rPr lang="en-US" sz="2400" dirty="0">
                <a:solidFill>
                  <a:srgbClr val="161613"/>
                </a:solidFill>
                <a:latin typeface="DM Sans" pitchFamily="34" charset="0"/>
                <a:ea typeface="DM Sans" pitchFamily="34" charset="-122"/>
                <a:cs typeface="DM Sans" pitchFamily="34" charset="-120"/>
              </a:rPr>
              <a:t>Insert</a:t>
            </a:r>
            <a:endParaRPr lang="en-US" sz="2400" dirty="0"/>
          </a:p>
        </p:txBody>
      </p:sp>
      <p:sp>
        <p:nvSpPr>
          <p:cNvPr id="19" name="Text 16"/>
          <p:cNvSpPr/>
          <p:nvPr/>
        </p:nvSpPr>
        <p:spPr>
          <a:xfrm>
            <a:off x="8078510" y="6424493"/>
            <a:ext cx="5687854" cy="395049"/>
          </a:xfrm>
          <a:prstGeom prst="rect">
            <a:avLst/>
          </a:prstGeom>
          <a:noFill/>
          <a:ln/>
        </p:spPr>
        <p:txBody>
          <a:bodyPr wrap="none" lIns="0" tIns="0" rIns="0" bIns="0" rtlCol="0" anchor="t"/>
          <a:lstStyle/>
          <a:p>
            <a:pPr algn="l" indent="0" marL="0">
              <a:lnSpc>
                <a:spcPts val="3100"/>
              </a:lnSpc>
              <a:buNone/>
            </a:pPr>
            <a:r>
              <a:rPr lang="en-US" sz="1900" dirty="0">
                <a:solidFill>
                  <a:srgbClr val="161613"/>
                </a:solidFill>
                <a:latin typeface="Inter" pitchFamily="34" charset="0"/>
                <a:ea typeface="Inter" pitchFamily="34" charset="-122"/>
                <a:cs typeface="Inter" pitchFamily="34" charset="-120"/>
              </a:rPr>
              <a:t>Place the new element at the desired position.</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564487"/>
          </a:xfrm>
          <a:prstGeom prst="rect">
            <a:avLst/>
          </a:prstGeom>
        </p:spPr>
      </p:pic>
      <p:sp>
        <p:nvSpPr>
          <p:cNvPr id="3" name="Text 0"/>
          <p:cNvSpPr/>
          <p:nvPr/>
        </p:nvSpPr>
        <p:spPr>
          <a:xfrm>
            <a:off x="718066" y="3128605"/>
            <a:ext cx="5129093" cy="641152"/>
          </a:xfrm>
          <a:prstGeom prst="rect">
            <a:avLst/>
          </a:prstGeom>
          <a:noFill/>
          <a:ln/>
        </p:spPr>
        <p:txBody>
          <a:bodyPr wrap="none" lIns="0" tIns="0" rIns="0" bIns="0" rtlCol="0" anchor="t"/>
          <a:lstStyle/>
          <a:p>
            <a:pPr indent="0" marL="0">
              <a:lnSpc>
                <a:spcPts val="5000"/>
              </a:lnSpc>
              <a:buNone/>
            </a:pPr>
            <a:r>
              <a:rPr lang="en-US" sz="4000" dirty="0">
                <a:solidFill>
                  <a:srgbClr val="161613"/>
                </a:solidFill>
                <a:latin typeface="DM Sans" pitchFamily="34" charset="0"/>
                <a:ea typeface="DM Sans" pitchFamily="34" charset="-122"/>
                <a:cs typeface="DM Sans" pitchFamily="34" charset="-120"/>
              </a:rPr>
              <a:t>Deletion in Array</a:t>
            </a:r>
            <a:endParaRPr lang="en-US" sz="4000" dirty="0"/>
          </a:p>
        </p:txBody>
      </p:sp>
      <p:sp>
        <p:nvSpPr>
          <p:cNvPr id="4" name="Shape 1"/>
          <p:cNvSpPr/>
          <p:nvPr/>
        </p:nvSpPr>
        <p:spPr>
          <a:xfrm>
            <a:off x="7303770" y="4077414"/>
            <a:ext cx="22860" cy="3590211"/>
          </a:xfrm>
          <a:prstGeom prst="roundRect">
            <a:avLst>
              <a:gd name="adj" fmla="val 134624"/>
            </a:avLst>
          </a:prstGeom>
          <a:solidFill>
            <a:srgbClr val="D3D1C9"/>
          </a:solidFill>
          <a:ln/>
        </p:spPr>
      </p:sp>
      <p:sp>
        <p:nvSpPr>
          <p:cNvPr id="5" name="Shape 2"/>
          <p:cNvSpPr/>
          <p:nvPr/>
        </p:nvSpPr>
        <p:spPr>
          <a:xfrm>
            <a:off x="6389191" y="4527471"/>
            <a:ext cx="718066" cy="22860"/>
          </a:xfrm>
          <a:prstGeom prst="roundRect">
            <a:avLst>
              <a:gd name="adj" fmla="val 134624"/>
            </a:avLst>
          </a:prstGeom>
          <a:solidFill>
            <a:srgbClr val="D3D1C9"/>
          </a:solidFill>
          <a:ln/>
        </p:spPr>
      </p:sp>
      <p:sp>
        <p:nvSpPr>
          <p:cNvPr id="6" name="Shape 3"/>
          <p:cNvSpPr/>
          <p:nvPr/>
        </p:nvSpPr>
        <p:spPr>
          <a:xfrm>
            <a:off x="7084397" y="4308158"/>
            <a:ext cx="461605" cy="461605"/>
          </a:xfrm>
          <a:prstGeom prst="roundRect">
            <a:avLst>
              <a:gd name="adj" fmla="val 6667"/>
            </a:avLst>
          </a:prstGeom>
          <a:solidFill>
            <a:srgbClr val="EDEBE3"/>
          </a:solidFill>
          <a:ln/>
        </p:spPr>
      </p:sp>
      <p:sp>
        <p:nvSpPr>
          <p:cNvPr id="7" name="Text 4"/>
          <p:cNvSpPr/>
          <p:nvPr/>
        </p:nvSpPr>
        <p:spPr>
          <a:xfrm>
            <a:off x="7264658" y="4385072"/>
            <a:ext cx="100965" cy="307777"/>
          </a:xfrm>
          <a:prstGeom prst="rect">
            <a:avLst/>
          </a:prstGeom>
          <a:noFill/>
          <a:ln/>
        </p:spPr>
        <p:txBody>
          <a:bodyPr wrap="none" lIns="0" tIns="0" rIns="0" bIns="0" rtlCol="0" anchor="t"/>
          <a:lstStyle/>
          <a:p>
            <a:pPr algn="ctr" indent="0" marL="0">
              <a:lnSpc>
                <a:spcPts val="2400"/>
              </a:lnSpc>
              <a:buNone/>
            </a:pPr>
            <a:r>
              <a:rPr lang="en-US" sz="2400" dirty="0">
                <a:solidFill>
                  <a:srgbClr val="161613"/>
                </a:solidFill>
                <a:latin typeface="DM Sans" pitchFamily="34" charset="0"/>
                <a:ea typeface="DM Sans" pitchFamily="34" charset="-122"/>
                <a:cs typeface="DM Sans" pitchFamily="34" charset="-120"/>
              </a:rPr>
              <a:t>1</a:t>
            </a:r>
            <a:endParaRPr lang="en-US" sz="2400" dirty="0"/>
          </a:p>
        </p:txBody>
      </p:sp>
      <p:sp>
        <p:nvSpPr>
          <p:cNvPr id="8" name="Text 5"/>
          <p:cNvSpPr/>
          <p:nvPr/>
        </p:nvSpPr>
        <p:spPr>
          <a:xfrm>
            <a:off x="3622358" y="4282559"/>
            <a:ext cx="2564487" cy="320516"/>
          </a:xfrm>
          <a:prstGeom prst="rect">
            <a:avLst/>
          </a:prstGeom>
          <a:noFill/>
          <a:ln/>
        </p:spPr>
        <p:txBody>
          <a:bodyPr wrap="none" lIns="0" tIns="0" rIns="0" bIns="0" rtlCol="0" anchor="t"/>
          <a:lstStyle/>
          <a:p>
            <a:pPr algn="r" indent="0" marL="0">
              <a:lnSpc>
                <a:spcPts val="2500"/>
              </a:lnSpc>
              <a:buNone/>
            </a:pPr>
            <a:r>
              <a:rPr lang="en-US" sz="2000" dirty="0">
                <a:solidFill>
                  <a:srgbClr val="161613"/>
                </a:solidFill>
                <a:latin typeface="DM Sans" pitchFamily="34" charset="0"/>
                <a:ea typeface="DM Sans" pitchFamily="34" charset="-122"/>
                <a:cs typeface="DM Sans" pitchFamily="34" charset="-120"/>
              </a:rPr>
              <a:t>Find Element</a:t>
            </a:r>
            <a:endParaRPr lang="en-US" sz="2000" dirty="0"/>
          </a:p>
        </p:txBody>
      </p:sp>
      <p:sp>
        <p:nvSpPr>
          <p:cNvPr id="9" name="Text 6"/>
          <p:cNvSpPr/>
          <p:nvPr/>
        </p:nvSpPr>
        <p:spPr>
          <a:xfrm>
            <a:off x="718066" y="4726067"/>
            <a:ext cx="5468779" cy="328136"/>
          </a:xfrm>
          <a:prstGeom prst="rect">
            <a:avLst/>
          </a:prstGeom>
          <a:noFill/>
          <a:ln/>
        </p:spPr>
        <p:txBody>
          <a:bodyPr wrap="none" lIns="0" tIns="0" rIns="0" bIns="0" rtlCol="0" anchor="t"/>
          <a:lstStyle/>
          <a:p>
            <a:pPr algn="r" indent="0" marL="0">
              <a:lnSpc>
                <a:spcPts val="2550"/>
              </a:lnSpc>
              <a:buNone/>
            </a:pPr>
            <a:r>
              <a:rPr lang="en-US" sz="1600" dirty="0">
                <a:solidFill>
                  <a:srgbClr val="161613"/>
                </a:solidFill>
                <a:latin typeface="Inter" pitchFamily="34" charset="0"/>
                <a:ea typeface="Inter" pitchFamily="34" charset="-122"/>
                <a:cs typeface="Inter" pitchFamily="34" charset="-120"/>
              </a:rPr>
              <a:t>Locate the element to be deleted.</a:t>
            </a:r>
            <a:endParaRPr lang="en-US" sz="1600" dirty="0"/>
          </a:p>
        </p:txBody>
      </p:sp>
      <p:sp>
        <p:nvSpPr>
          <p:cNvPr id="10" name="Shape 7"/>
          <p:cNvSpPr/>
          <p:nvPr/>
        </p:nvSpPr>
        <p:spPr>
          <a:xfrm>
            <a:off x="7523143" y="5553194"/>
            <a:ext cx="718066" cy="22860"/>
          </a:xfrm>
          <a:prstGeom prst="roundRect">
            <a:avLst>
              <a:gd name="adj" fmla="val 134624"/>
            </a:avLst>
          </a:prstGeom>
          <a:solidFill>
            <a:srgbClr val="D3D1C9"/>
          </a:solidFill>
          <a:ln/>
        </p:spPr>
      </p:sp>
      <p:sp>
        <p:nvSpPr>
          <p:cNvPr id="11" name="Shape 8"/>
          <p:cNvSpPr/>
          <p:nvPr/>
        </p:nvSpPr>
        <p:spPr>
          <a:xfrm>
            <a:off x="7084397" y="5333881"/>
            <a:ext cx="461605" cy="461605"/>
          </a:xfrm>
          <a:prstGeom prst="roundRect">
            <a:avLst>
              <a:gd name="adj" fmla="val 6667"/>
            </a:avLst>
          </a:prstGeom>
          <a:solidFill>
            <a:srgbClr val="EDEBE3"/>
          </a:solidFill>
          <a:ln/>
        </p:spPr>
      </p:sp>
      <p:sp>
        <p:nvSpPr>
          <p:cNvPr id="12" name="Text 9"/>
          <p:cNvSpPr/>
          <p:nvPr/>
        </p:nvSpPr>
        <p:spPr>
          <a:xfrm>
            <a:off x="7226439" y="5410795"/>
            <a:ext cx="177522" cy="307777"/>
          </a:xfrm>
          <a:prstGeom prst="rect">
            <a:avLst/>
          </a:prstGeom>
          <a:noFill/>
          <a:ln/>
        </p:spPr>
        <p:txBody>
          <a:bodyPr wrap="none" lIns="0" tIns="0" rIns="0" bIns="0" rtlCol="0" anchor="t"/>
          <a:lstStyle/>
          <a:p>
            <a:pPr algn="ctr" indent="0" marL="0">
              <a:lnSpc>
                <a:spcPts val="2400"/>
              </a:lnSpc>
              <a:buNone/>
            </a:pPr>
            <a:r>
              <a:rPr lang="en-US" sz="2400" dirty="0">
                <a:solidFill>
                  <a:srgbClr val="161613"/>
                </a:solidFill>
                <a:latin typeface="DM Sans" pitchFamily="34" charset="0"/>
                <a:ea typeface="DM Sans" pitchFamily="34" charset="-122"/>
                <a:cs typeface="DM Sans" pitchFamily="34" charset="-120"/>
              </a:rPr>
              <a:t>2</a:t>
            </a:r>
            <a:endParaRPr lang="en-US" sz="2400" dirty="0"/>
          </a:p>
        </p:txBody>
      </p:sp>
      <p:sp>
        <p:nvSpPr>
          <p:cNvPr id="13" name="Text 10"/>
          <p:cNvSpPr/>
          <p:nvPr/>
        </p:nvSpPr>
        <p:spPr>
          <a:xfrm>
            <a:off x="8443555" y="5308283"/>
            <a:ext cx="2564487" cy="320516"/>
          </a:xfrm>
          <a:prstGeom prst="rect">
            <a:avLst/>
          </a:prstGeom>
          <a:noFill/>
          <a:ln/>
        </p:spPr>
        <p:txBody>
          <a:bodyPr wrap="none" lIns="0" tIns="0" rIns="0" bIns="0" rtlCol="0" anchor="t"/>
          <a:lstStyle/>
          <a:p>
            <a:pPr algn="l" indent="0" marL="0">
              <a:lnSpc>
                <a:spcPts val="2500"/>
              </a:lnSpc>
              <a:buNone/>
            </a:pPr>
            <a:r>
              <a:rPr lang="en-US" sz="2000" dirty="0">
                <a:solidFill>
                  <a:srgbClr val="161613"/>
                </a:solidFill>
                <a:latin typeface="DM Sans" pitchFamily="34" charset="0"/>
                <a:ea typeface="DM Sans" pitchFamily="34" charset="-122"/>
                <a:cs typeface="DM Sans" pitchFamily="34" charset="-120"/>
              </a:rPr>
              <a:t>Remove</a:t>
            </a:r>
            <a:endParaRPr lang="en-US" sz="2000" dirty="0"/>
          </a:p>
        </p:txBody>
      </p:sp>
      <p:sp>
        <p:nvSpPr>
          <p:cNvPr id="14" name="Text 11"/>
          <p:cNvSpPr/>
          <p:nvPr/>
        </p:nvSpPr>
        <p:spPr>
          <a:xfrm>
            <a:off x="8443555" y="5751790"/>
            <a:ext cx="5468779" cy="328136"/>
          </a:xfrm>
          <a:prstGeom prst="rect">
            <a:avLst/>
          </a:prstGeom>
          <a:noFill/>
          <a:ln/>
        </p:spPr>
        <p:txBody>
          <a:bodyPr wrap="none" lIns="0" tIns="0" rIns="0" bIns="0" rtlCol="0" anchor="t"/>
          <a:lstStyle/>
          <a:p>
            <a:pPr algn="l" indent="0" marL="0">
              <a:lnSpc>
                <a:spcPts val="2550"/>
              </a:lnSpc>
              <a:buNone/>
            </a:pPr>
            <a:r>
              <a:rPr lang="en-US" sz="1600" dirty="0">
                <a:solidFill>
                  <a:srgbClr val="161613"/>
                </a:solidFill>
                <a:latin typeface="Inter" pitchFamily="34" charset="0"/>
                <a:ea typeface="Inter" pitchFamily="34" charset="-122"/>
                <a:cs typeface="Inter" pitchFamily="34" charset="-120"/>
              </a:rPr>
              <a:t>Delete the element from its position.</a:t>
            </a:r>
            <a:endParaRPr lang="en-US" sz="1600" dirty="0"/>
          </a:p>
        </p:txBody>
      </p:sp>
      <p:sp>
        <p:nvSpPr>
          <p:cNvPr id="15" name="Shape 12"/>
          <p:cNvSpPr/>
          <p:nvPr/>
        </p:nvSpPr>
        <p:spPr>
          <a:xfrm>
            <a:off x="6389191" y="6476405"/>
            <a:ext cx="718066" cy="22860"/>
          </a:xfrm>
          <a:prstGeom prst="roundRect">
            <a:avLst>
              <a:gd name="adj" fmla="val 134624"/>
            </a:avLst>
          </a:prstGeom>
          <a:solidFill>
            <a:srgbClr val="D3D1C9"/>
          </a:solidFill>
          <a:ln/>
        </p:spPr>
      </p:sp>
      <p:sp>
        <p:nvSpPr>
          <p:cNvPr id="16" name="Shape 13"/>
          <p:cNvSpPr/>
          <p:nvPr/>
        </p:nvSpPr>
        <p:spPr>
          <a:xfrm>
            <a:off x="7084397" y="6257092"/>
            <a:ext cx="461605" cy="461605"/>
          </a:xfrm>
          <a:prstGeom prst="roundRect">
            <a:avLst>
              <a:gd name="adj" fmla="val 6667"/>
            </a:avLst>
          </a:prstGeom>
          <a:solidFill>
            <a:srgbClr val="EDEBE3"/>
          </a:solidFill>
          <a:ln/>
        </p:spPr>
      </p:sp>
      <p:sp>
        <p:nvSpPr>
          <p:cNvPr id="17" name="Text 14"/>
          <p:cNvSpPr/>
          <p:nvPr/>
        </p:nvSpPr>
        <p:spPr>
          <a:xfrm>
            <a:off x="7223820" y="6334006"/>
            <a:ext cx="182761" cy="307777"/>
          </a:xfrm>
          <a:prstGeom prst="rect">
            <a:avLst/>
          </a:prstGeom>
          <a:noFill/>
          <a:ln/>
        </p:spPr>
        <p:txBody>
          <a:bodyPr wrap="none" lIns="0" tIns="0" rIns="0" bIns="0" rtlCol="0" anchor="t"/>
          <a:lstStyle/>
          <a:p>
            <a:pPr algn="ctr" indent="0" marL="0">
              <a:lnSpc>
                <a:spcPts val="2400"/>
              </a:lnSpc>
              <a:buNone/>
            </a:pPr>
            <a:r>
              <a:rPr lang="en-US" sz="2400" dirty="0">
                <a:solidFill>
                  <a:srgbClr val="161613"/>
                </a:solidFill>
                <a:latin typeface="DM Sans" pitchFamily="34" charset="0"/>
                <a:ea typeface="DM Sans" pitchFamily="34" charset="-122"/>
                <a:cs typeface="DM Sans" pitchFamily="34" charset="-120"/>
              </a:rPr>
              <a:t>3</a:t>
            </a:r>
            <a:endParaRPr lang="en-US" sz="2400" dirty="0"/>
          </a:p>
        </p:txBody>
      </p:sp>
      <p:sp>
        <p:nvSpPr>
          <p:cNvPr id="18" name="Text 15"/>
          <p:cNvSpPr/>
          <p:nvPr/>
        </p:nvSpPr>
        <p:spPr>
          <a:xfrm>
            <a:off x="3622358" y="6231493"/>
            <a:ext cx="2564487" cy="320516"/>
          </a:xfrm>
          <a:prstGeom prst="rect">
            <a:avLst/>
          </a:prstGeom>
          <a:noFill/>
          <a:ln/>
        </p:spPr>
        <p:txBody>
          <a:bodyPr wrap="none" lIns="0" tIns="0" rIns="0" bIns="0" rtlCol="0" anchor="t"/>
          <a:lstStyle/>
          <a:p>
            <a:pPr algn="r" indent="0" marL="0">
              <a:lnSpc>
                <a:spcPts val="2500"/>
              </a:lnSpc>
              <a:buNone/>
            </a:pPr>
            <a:r>
              <a:rPr lang="en-US" sz="2000" dirty="0">
                <a:solidFill>
                  <a:srgbClr val="161613"/>
                </a:solidFill>
                <a:latin typeface="DM Sans" pitchFamily="34" charset="0"/>
                <a:ea typeface="DM Sans" pitchFamily="34" charset="-122"/>
                <a:cs typeface="DM Sans" pitchFamily="34" charset="-120"/>
              </a:rPr>
              <a:t>Shift Elements</a:t>
            </a:r>
            <a:endParaRPr lang="en-US" sz="2000" dirty="0"/>
          </a:p>
        </p:txBody>
      </p:sp>
      <p:sp>
        <p:nvSpPr>
          <p:cNvPr id="19" name="Text 16"/>
          <p:cNvSpPr/>
          <p:nvPr/>
        </p:nvSpPr>
        <p:spPr>
          <a:xfrm>
            <a:off x="718066" y="6675001"/>
            <a:ext cx="5468779" cy="328136"/>
          </a:xfrm>
          <a:prstGeom prst="rect">
            <a:avLst/>
          </a:prstGeom>
          <a:noFill/>
          <a:ln/>
        </p:spPr>
        <p:txBody>
          <a:bodyPr wrap="none" lIns="0" tIns="0" rIns="0" bIns="0" rtlCol="0" anchor="t"/>
          <a:lstStyle/>
          <a:p>
            <a:pPr algn="r" indent="0" marL="0">
              <a:lnSpc>
                <a:spcPts val="2550"/>
              </a:lnSpc>
              <a:buNone/>
            </a:pPr>
            <a:r>
              <a:rPr lang="en-US" sz="1600" dirty="0">
                <a:solidFill>
                  <a:srgbClr val="161613"/>
                </a:solidFill>
                <a:latin typeface="Inter" pitchFamily="34" charset="0"/>
                <a:ea typeface="Inter" pitchFamily="34" charset="-122"/>
                <a:cs typeface="Inter" pitchFamily="34" charset="-120"/>
              </a:rPr>
              <a:t>Move remaining elements to fill the gap.</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64037" y="2598063"/>
            <a:ext cx="6172200" cy="771525"/>
          </a:xfrm>
          <a:prstGeom prst="rect">
            <a:avLst/>
          </a:prstGeom>
          <a:noFill/>
          <a:ln/>
        </p:spPr>
        <p:txBody>
          <a:bodyPr wrap="non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Searching in Array</a:t>
            </a:r>
            <a:endParaRPr lang="en-US" sz="4850" dirty="0"/>
          </a:p>
        </p:txBody>
      </p:sp>
      <p:sp>
        <p:nvSpPr>
          <p:cNvPr id="3" name="Text 1"/>
          <p:cNvSpPr/>
          <p:nvPr/>
        </p:nvSpPr>
        <p:spPr>
          <a:xfrm>
            <a:off x="864037" y="3986689"/>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Linear Search</a:t>
            </a:r>
            <a:endParaRPr lang="en-US" sz="2400" dirty="0"/>
          </a:p>
        </p:txBody>
      </p:sp>
      <p:sp>
        <p:nvSpPr>
          <p:cNvPr id="4" name="Text 2"/>
          <p:cNvSpPr/>
          <p:nvPr/>
        </p:nvSpPr>
        <p:spPr>
          <a:xfrm>
            <a:off x="864037" y="4619268"/>
            <a:ext cx="6150054" cy="790099"/>
          </a:xfrm>
          <a:prstGeom prst="rect">
            <a:avLst/>
          </a:prstGeom>
          <a:noFill/>
          <a:ln/>
        </p:spPr>
        <p:txBody>
          <a:bodyPr wrap="squar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Sequentially check each element until a match is found.</a:t>
            </a:r>
            <a:endParaRPr lang="en-US" sz="1900" dirty="0"/>
          </a:p>
        </p:txBody>
      </p:sp>
      <p:sp>
        <p:nvSpPr>
          <p:cNvPr id="5" name="Text 3"/>
          <p:cNvSpPr/>
          <p:nvPr/>
        </p:nvSpPr>
        <p:spPr>
          <a:xfrm>
            <a:off x="7623929" y="3986689"/>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Binary Search</a:t>
            </a:r>
            <a:endParaRPr lang="en-US" sz="2400" dirty="0"/>
          </a:p>
        </p:txBody>
      </p:sp>
      <p:sp>
        <p:nvSpPr>
          <p:cNvPr id="6" name="Text 4"/>
          <p:cNvSpPr/>
          <p:nvPr/>
        </p:nvSpPr>
        <p:spPr>
          <a:xfrm>
            <a:off x="7623929" y="4619268"/>
            <a:ext cx="6150054" cy="790099"/>
          </a:xfrm>
          <a:prstGeom prst="rect">
            <a:avLst/>
          </a:prstGeom>
          <a:noFill/>
          <a:ln/>
        </p:spPr>
        <p:txBody>
          <a:bodyPr wrap="squar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For sorted arrays, use divide-and-conquer to find elements quickly.</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2436376"/>
            <a:ext cx="7415927" cy="1543050"/>
          </a:xfrm>
          <a:prstGeom prst="rect">
            <a:avLst/>
          </a:prstGeom>
          <a:noFill/>
          <a:ln/>
        </p:spPr>
        <p:txBody>
          <a:bodyPr wrap="squar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Time Complexity: Traversal</a:t>
            </a:r>
            <a:endParaRPr lang="en-US" sz="4850" dirty="0"/>
          </a:p>
        </p:txBody>
      </p:sp>
      <p:sp>
        <p:nvSpPr>
          <p:cNvPr id="4" name="Shape 1"/>
          <p:cNvSpPr/>
          <p:nvPr/>
        </p:nvSpPr>
        <p:spPr>
          <a:xfrm>
            <a:off x="864037" y="4349710"/>
            <a:ext cx="7415927" cy="1443514"/>
          </a:xfrm>
          <a:prstGeom prst="roundRect">
            <a:avLst>
              <a:gd name="adj" fmla="val 2565"/>
            </a:avLst>
          </a:prstGeom>
          <a:noFill/>
          <a:ln w="15240">
            <a:solidFill>
              <a:srgbClr val="000000">
                <a:alpha val="8000"/>
              </a:srgbClr>
            </a:solidFill>
            <a:prstDash val="solid"/>
          </a:ln>
        </p:spPr>
      </p:sp>
      <p:sp>
        <p:nvSpPr>
          <p:cNvPr id="5" name="Shape 2"/>
          <p:cNvSpPr/>
          <p:nvPr/>
        </p:nvSpPr>
        <p:spPr>
          <a:xfrm>
            <a:off x="879277" y="4364950"/>
            <a:ext cx="7384613" cy="706517"/>
          </a:xfrm>
          <a:prstGeom prst="rect">
            <a:avLst/>
          </a:prstGeom>
          <a:solidFill>
            <a:srgbClr val="FFFFFF">
              <a:alpha val="4000"/>
            </a:srgbClr>
          </a:solidFill>
          <a:ln/>
        </p:spPr>
      </p:sp>
      <p:sp>
        <p:nvSpPr>
          <p:cNvPr id="6" name="Text 3"/>
          <p:cNvSpPr/>
          <p:nvPr/>
        </p:nvSpPr>
        <p:spPr>
          <a:xfrm>
            <a:off x="1126927" y="4520684"/>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Best Case</a:t>
            </a:r>
            <a:endParaRPr lang="en-US" sz="1900" dirty="0"/>
          </a:p>
        </p:txBody>
      </p:sp>
      <p:sp>
        <p:nvSpPr>
          <p:cNvPr id="7" name="Text 4"/>
          <p:cNvSpPr/>
          <p:nvPr/>
        </p:nvSpPr>
        <p:spPr>
          <a:xfrm>
            <a:off x="3591997" y="4520684"/>
            <a:ext cx="196000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Average Case</a:t>
            </a:r>
            <a:endParaRPr lang="en-US" sz="1900" dirty="0"/>
          </a:p>
        </p:txBody>
      </p:sp>
      <p:sp>
        <p:nvSpPr>
          <p:cNvPr id="8" name="Text 5"/>
          <p:cNvSpPr/>
          <p:nvPr/>
        </p:nvSpPr>
        <p:spPr>
          <a:xfrm>
            <a:off x="6053257" y="4520684"/>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Worst Case</a:t>
            </a:r>
            <a:endParaRPr lang="en-US" sz="1900" dirty="0"/>
          </a:p>
        </p:txBody>
      </p:sp>
      <p:sp>
        <p:nvSpPr>
          <p:cNvPr id="9" name="Shape 6"/>
          <p:cNvSpPr/>
          <p:nvPr/>
        </p:nvSpPr>
        <p:spPr>
          <a:xfrm>
            <a:off x="879277" y="5071467"/>
            <a:ext cx="7384613" cy="706517"/>
          </a:xfrm>
          <a:prstGeom prst="rect">
            <a:avLst/>
          </a:prstGeom>
          <a:solidFill>
            <a:srgbClr val="000000">
              <a:alpha val="4000"/>
            </a:srgbClr>
          </a:solidFill>
          <a:ln/>
        </p:spPr>
      </p:sp>
      <p:sp>
        <p:nvSpPr>
          <p:cNvPr id="10" name="Text 7"/>
          <p:cNvSpPr/>
          <p:nvPr/>
        </p:nvSpPr>
        <p:spPr>
          <a:xfrm>
            <a:off x="1126927" y="5227201"/>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Ω(N)</a:t>
            </a:r>
            <a:endParaRPr lang="en-US" sz="1900" dirty="0"/>
          </a:p>
        </p:txBody>
      </p:sp>
      <p:sp>
        <p:nvSpPr>
          <p:cNvPr id="11" name="Text 8"/>
          <p:cNvSpPr/>
          <p:nvPr/>
        </p:nvSpPr>
        <p:spPr>
          <a:xfrm>
            <a:off x="3591997" y="5227201"/>
            <a:ext cx="196000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θ(N)</a:t>
            </a:r>
            <a:endParaRPr lang="en-US" sz="1900" dirty="0"/>
          </a:p>
        </p:txBody>
      </p:sp>
      <p:sp>
        <p:nvSpPr>
          <p:cNvPr id="12" name="Text 9"/>
          <p:cNvSpPr/>
          <p:nvPr/>
        </p:nvSpPr>
        <p:spPr>
          <a:xfrm>
            <a:off x="6053257" y="5227201"/>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O(N)</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2436376"/>
            <a:ext cx="7415927" cy="1543050"/>
          </a:xfrm>
          <a:prstGeom prst="rect">
            <a:avLst/>
          </a:prstGeom>
          <a:noFill/>
          <a:ln/>
        </p:spPr>
        <p:txBody>
          <a:bodyPr wrap="squar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Time Complexity: Insertion</a:t>
            </a:r>
            <a:endParaRPr lang="en-US" sz="4850" dirty="0"/>
          </a:p>
        </p:txBody>
      </p:sp>
      <p:sp>
        <p:nvSpPr>
          <p:cNvPr id="4" name="Shape 1"/>
          <p:cNvSpPr/>
          <p:nvPr/>
        </p:nvSpPr>
        <p:spPr>
          <a:xfrm>
            <a:off x="864037" y="4349710"/>
            <a:ext cx="7415927" cy="1443514"/>
          </a:xfrm>
          <a:prstGeom prst="roundRect">
            <a:avLst>
              <a:gd name="adj" fmla="val 2565"/>
            </a:avLst>
          </a:prstGeom>
          <a:noFill/>
          <a:ln w="15240">
            <a:solidFill>
              <a:srgbClr val="000000">
                <a:alpha val="8000"/>
              </a:srgbClr>
            </a:solidFill>
            <a:prstDash val="solid"/>
          </a:ln>
        </p:spPr>
      </p:sp>
      <p:sp>
        <p:nvSpPr>
          <p:cNvPr id="5" name="Shape 2"/>
          <p:cNvSpPr/>
          <p:nvPr/>
        </p:nvSpPr>
        <p:spPr>
          <a:xfrm>
            <a:off x="879277" y="4364950"/>
            <a:ext cx="7384613" cy="706517"/>
          </a:xfrm>
          <a:prstGeom prst="rect">
            <a:avLst/>
          </a:prstGeom>
          <a:solidFill>
            <a:srgbClr val="FFFFFF">
              <a:alpha val="4000"/>
            </a:srgbClr>
          </a:solidFill>
          <a:ln/>
        </p:spPr>
      </p:sp>
      <p:sp>
        <p:nvSpPr>
          <p:cNvPr id="6" name="Text 3"/>
          <p:cNvSpPr/>
          <p:nvPr/>
        </p:nvSpPr>
        <p:spPr>
          <a:xfrm>
            <a:off x="1126927" y="4520684"/>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Best Case</a:t>
            </a:r>
            <a:endParaRPr lang="en-US" sz="1900" dirty="0"/>
          </a:p>
        </p:txBody>
      </p:sp>
      <p:sp>
        <p:nvSpPr>
          <p:cNvPr id="7" name="Text 4"/>
          <p:cNvSpPr/>
          <p:nvPr/>
        </p:nvSpPr>
        <p:spPr>
          <a:xfrm>
            <a:off x="3591997" y="4520684"/>
            <a:ext cx="196000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Average Case</a:t>
            </a:r>
            <a:endParaRPr lang="en-US" sz="1900" dirty="0"/>
          </a:p>
        </p:txBody>
      </p:sp>
      <p:sp>
        <p:nvSpPr>
          <p:cNvPr id="8" name="Text 5"/>
          <p:cNvSpPr/>
          <p:nvPr/>
        </p:nvSpPr>
        <p:spPr>
          <a:xfrm>
            <a:off x="6053257" y="4520684"/>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Worst Case</a:t>
            </a:r>
            <a:endParaRPr lang="en-US" sz="1900" dirty="0"/>
          </a:p>
        </p:txBody>
      </p:sp>
      <p:sp>
        <p:nvSpPr>
          <p:cNvPr id="9" name="Shape 6"/>
          <p:cNvSpPr/>
          <p:nvPr/>
        </p:nvSpPr>
        <p:spPr>
          <a:xfrm>
            <a:off x="879277" y="5071467"/>
            <a:ext cx="7384613" cy="706517"/>
          </a:xfrm>
          <a:prstGeom prst="rect">
            <a:avLst/>
          </a:prstGeom>
          <a:solidFill>
            <a:srgbClr val="000000">
              <a:alpha val="4000"/>
            </a:srgbClr>
          </a:solidFill>
          <a:ln/>
        </p:spPr>
      </p:sp>
      <p:sp>
        <p:nvSpPr>
          <p:cNvPr id="10" name="Text 7"/>
          <p:cNvSpPr/>
          <p:nvPr/>
        </p:nvSpPr>
        <p:spPr>
          <a:xfrm>
            <a:off x="1126927" y="5227201"/>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Ω(1)</a:t>
            </a:r>
            <a:endParaRPr lang="en-US" sz="1900" dirty="0"/>
          </a:p>
        </p:txBody>
      </p:sp>
      <p:sp>
        <p:nvSpPr>
          <p:cNvPr id="11" name="Text 8"/>
          <p:cNvSpPr/>
          <p:nvPr/>
        </p:nvSpPr>
        <p:spPr>
          <a:xfrm>
            <a:off x="3591997" y="5227201"/>
            <a:ext cx="196000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θ(N)</a:t>
            </a:r>
            <a:endParaRPr lang="en-US" sz="1900" dirty="0"/>
          </a:p>
        </p:txBody>
      </p:sp>
      <p:sp>
        <p:nvSpPr>
          <p:cNvPr id="12" name="Text 9"/>
          <p:cNvSpPr/>
          <p:nvPr/>
        </p:nvSpPr>
        <p:spPr>
          <a:xfrm>
            <a:off x="6053257" y="5227201"/>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O(N)</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2436376"/>
            <a:ext cx="7415927" cy="1543050"/>
          </a:xfrm>
          <a:prstGeom prst="rect">
            <a:avLst/>
          </a:prstGeom>
          <a:noFill/>
          <a:ln/>
        </p:spPr>
        <p:txBody>
          <a:bodyPr wrap="squar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Time Complexity: Deletion</a:t>
            </a:r>
            <a:endParaRPr lang="en-US" sz="4850" dirty="0"/>
          </a:p>
        </p:txBody>
      </p:sp>
      <p:sp>
        <p:nvSpPr>
          <p:cNvPr id="4" name="Shape 1"/>
          <p:cNvSpPr/>
          <p:nvPr/>
        </p:nvSpPr>
        <p:spPr>
          <a:xfrm>
            <a:off x="864037" y="4349710"/>
            <a:ext cx="7415927" cy="1443514"/>
          </a:xfrm>
          <a:prstGeom prst="roundRect">
            <a:avLst>
              <a:gd name="adj" fmla="val 2565"/>
            </a:avLst>
          </a:prstGeom>
          <a:noFill/>
          <a:ln w="15240">
            <a:solidFill>
              <a:srgbClr val="000000">
                <a:alpha val="8000"/>
              </a:srgbClr>
            </a:solidFill>
            <a:prstDash val="solid"/>
          </a:ln>
        </p:spPr>
      </p:sp>
      <p:sp>
        <p:nvSpPr>
          <p:cNvPr id="5" name="Shape 2"/>
          <p:cNvSpPr/>
          <p:nvPr/>
        </p:nvSpPr>
        <p:spPr>
          <a:xfrm>
            <a:off x="879277" y="4364950"/>
            <a:ext cx="7384613" cy="706517"/>
          </a:xfrm>
          <a:prstGeom prst="rect">
            <a:avLst/>
          </a:prstGeom>
          <a:solidFill>
            <a:srgbClr val="FFFFFF">
              <a:alpha val="4000"/>
            </a:srgbClr>
          </a:solidFill>
          <a:ln/>
        </p:spPr>
      </p:sp>
      <p:sp>
        <p:nvSpPr>
          <p:cNvPr id="6" name="Text 3"/>
          <p:cNvSpPr/>
          <p:nvPr/>
        </p:nvSpPr>
        <p:spPr>
          <a:xfrm>
            <a:off x="1126927" y="4520684"/>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Best Case</a:t>
            </a:r>
            <a:endParaRPr lang="en-US" sz="1900" dirty="0"/>
          </a:p>
        </p:txBody>
      </p:sp>
      <p:sp>
        <p:nvSpPr>
          <p:cNvPr id="7" name="Text 4"/>
          <p:cNvSpPr/>
          <p:nvPr/>
        </p:nvSpPr>
        <p:spPr>
          <a:xfrm>
            <a:off x="3591997" y="4520684"/>
            <a:ext cx="196000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Average Case</a:t>
            </a:r>
            <a:endParaRPr lang="en-US" sz="1900" dirty="0"/>
          </a:p>
        </p:txBody>
      </p:sp>
      <p:sp>
        <p:nvSpPr>
          <p:cNvPr id="8" name="Text 5"/>
          <p:cNvSpPr/>
          <p:nvPr/>
        </p:nvSpPr>
        <p:spPr>
          <a:xfrm>
            <a:off x="6053257" y="4520684"/>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Worst Case</a:t>
            </a:r>
            <a:endParaRPr lang="en-US" sz="1900" dirty="0"/>
          </a:p>
        </p:txBody>
      </p:sp>
      <p:sp>
        <p:nvSpPr>
          <p:cNvPr id="9" name="Shape 6"/>
          <p:cNvSpPr/>
          <p:nvPr/>
        </p:nvSpPr>
        <p:spPr>
          <a:xfrm>
            <a:off x="879277" y="5071467"/>
            <a:ext cx="7384613" cy="706517"/>
          </a:xfrm>
          <a:prstGeom prst="rect">
            <a:avLst/>
          </a:prstGeom>
          <a:solidFill>
            <a:srgbClr val="000000">
              <a:alpha val="4000"/>
            </a:srgbClr>
          </a:solidFill>
          <a:ln/>
        </p:spPr>
      </p:sp>
      <p:sp>
        <p:nvSpPr>
          <p:cNvPr id="10" name="Text 7"/>
          <p:cNvSpPr/>
          <p:nvPr/>
        </p:nvSpPr>
        <p:spPr>
          <a:xfrm>
            <a:off x="1126927" y="5227201"/>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Ω(1)</a:t>
            </a:r>
            <a:endParaRPr lang="en-US" sz="1900" dirty="0"/>
          </a:p>
        </p:txBody>
      </p:sp>
      <p:sp>
        <p:nvSpPr>
          <p:cNvPr id="11" name="Text 8"/>
          <p:cNvSpPr/>
          <p:nvPr/>
        </p:nvSpPr>
        <p:spPr>
          <a:xfrm>
            <a:off x="3591997" y="5227201"/>
            <a:ext cx="196000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θ(N)</a:t>
            </a:r>
            <a:endParaRPr lang="en-US" sz="1900" dirty="0"/>
          </a:p>
        </p:txBody>
      </p:sp>
      <p:sp>
        <p:nvSpPr>
          <p:cNvPr id="12" name="Text 9"/>
          <p:cNvSpPr/>
          <p:nvPr/>
        </p:nvSpPr>
        <p:spPr>
          <a:xfrm>
            <a:off x="6053257" y="5227201"/>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O(N)</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2436376"/>
            <a:ext cx="7415927" cy="1543050"/>
          </a:xfrm>
          <a:prstGeom prst="rect">
            <a:avLst/>
          </a:prstGeom>
          <a:noFill/>
          <a:ln/>
        </p:spPr>
        <p:txBody>
          <a:bodyPr wrap="squar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Time Complexity: Searching</a:t>
            </a:r>
            <a:endParaRPr lang="en-US" sz="4850" dirty="0"/>
          </a:p>
        </p:txBody>
      </p:sp>
      <p:sp>
        <p:nvSpPr>
          <p:cNvPr id="4" name="Shape 1"/>
          <p:cNvSpPr/>
          <p:nvPr/>
        </p:nvSpPr>
        <p:spPr>
          <a:xfrm>
            <a:off x="864037" y="4349710"/>
            <a:ext cx="7415927" cy="1443514"/>
          </a:xfrm>
          <a:prstGeom prst="roundRect">
            <a:avLst>
              <a:gd name="adj" fmla="val 2565"/>
            </a:avLst>
          </a:prstGeom>
          <a:noFill/>
          <a:ln w="15240">
            <a:solidFill>
              <a:srgbClr val="000000">
                <a:alpha val="8000"/>
              </a:srgbClr>
            </a:solidFill>
            <a:prstDash val="solid"/>
          </a:ln>
        </p:spPr>
      </p:sp>
      <p:sp>
        <p:nvSpPr>
          <p:cNvPr id="5" name="Shape 2"/>
          <p:cNvSpPr/>
          <p:nvPr/>
        </p:nvSpPr>
        <p:spPr>
          <a:xfrm>
            <a:off x="879277" y="4364950"/>
            <a:ext cx="7384613" cy="706517"/>
          </a:xfrm>
          <a:prstGeom prst="rect">
            <a:avLst/>
          </a:prstGeom>
          <a:solidFill>
            <a:srgbClr val="FFFFFF">
              <a:alpha val="4000"/>
            </a:srgbClr>
          </a:solidFill>
          <a:ln/>
        </p:spPr>
      </p:sp>
      <p:sp>
        <p:nvSpPr>
          <p:cNvPr id="6" name="Text 3"/>
          <p:cNvSpPr/>
          <p:nvPr/>
        </p:nvSpPr>
        <p:spPr>
          <a:xfrm>
            <a:off x="1126927" y="4520684"/>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Best Case</a:t>
            </a:r>
            <a:endParaRPr lang="en-US" sz="1900" dirty="0"/>
          </a:p>
        </p:txBody>
      </p:sp>
      <p:sp>
        <p:nvSpPr>
          <p:cNvPr id="7" name="Text 4"/>
          <p:cNvSpPr/>
          <p:nvPr/>
        </p:nvSpPr>
        <p:spPr>
          <a:xfrm>
            <a:off x="3591997" y="4520684"/>
            <a:ext cx="196000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Average Case</a:t>
            </a:r>
            <a:endParaRPr lang="en-US" sz="1900" dirty="0"/>
          </a:p>
        </p:txBody>
      </p:sp>
      <p:sp>
        <p:nvSpPr>
          <p:cNvPr id="8" name="Text 5"/>
          <p:cNvSpPr/>
          <p:nvPr/>
        </p:nvSpPr>
        <p:spPr>
          <a:xfrm>
            <a:off x="6053257" y="4520684"/>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Worst Case</a:t>
            </a:r>
            <a:endParaRPr lang="en-US" sz="1900" dirty="0"/>
          </a:p>
        </p:txBody>
      </p:sp>
      <p:sp>
        <p:nvSpPr>
          <p:cNvPr id="9" name="Shape 6"/>
          <p:cNvSpPr/>
          <p:nvPr/>
        </p:nvSpPr>
        <p:spPr>
          <a:xfrm>
            <a:off x="879277" y="5071467"/>
            <a:ext cx="7384613" cy="706517"/>
          </a:xfrm>
          <a:prstGeom prst="rect">
            <a:avLst/>
          </a:prstGeom>
          <a:solidFill>
            <a:srgbClr val="000000">
              <a:alpha val="4000"/>
            </a:srgbClr>
          </a:solidFill>
          <a:ln/>
        </p:spPr>
      </p:sp>
      <p:sp>
        <p:nvSpPr>
          <p:cNvPr id="10" name="Text 7"/>
          <p:cNvSpPr/>
          <p:nvPr/>
        </p:nvSpPr>
        <p:spPr>
          <a:xfrm>
            <a:off x="1126927" y="5227201"/>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Ω(1)</a:t>
            </a:r>
            <a:endParaRPr lang="en-US" sz="1900" dirty="0"/>
          </a:p>
        </p:txBody>
      </p:sp>
      <p:sp>
        <p:nvSpPr>
          <p:cNvPr id="11" name="Text 8"/>
          <p:cNvSpPr/>
          <p:nvPr/>
        </p:nvSpPr>
        <p:spPr>
          <a:xfrm>
            <a:off x="3591997" y="5227201"/>
            <a:ext cx="196000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θ(N)</a:t>
            </a:r>
            <a:endParaRPr lang="en-US" sz="1900" dirty="0"/>
          </a:p>
        </p:txBody>
      </p:sp>
      <p:sp>
        <p:nvSpPr>
          <p:cNvPr id="12" name="Text 9"/>
          <p:cNvSpPr/>
          <p:nvPr/>
        </p:nvSpPr>
        <p:spPr>
          <a:xfrm>
            <a:off x="6053257" y="5227201"/>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O(N)</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437" y="2436376"/>
            <a:ext cx="7415927" cy="1543050"/>
          </a:xfrm>
          <a:prstGeom prst="rect">
            <a:avLst/>
          </a:prstGeom>
          <a:noFill/>
          <a:ln/>
        </p:spPr>
        <p:txBody>
          <a:bodyPr wrap="squar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Space Complexity: Traversal</a:t>
            </a:r>
            <a:endParaRPr lang="en-US" sz="4850" dirty="0"/>
          </a:p>
        </p:txBody>
      </p:sp>
      <p:sp>
        <p:nvSpPr>
          <p:cNvPr id="4" name="Shape 1"/>
          <p:cNvSpPr/>
          <p:nvPr/>
        </p:nvSpPr>
        <p:spPr>
          <a:xfrm>
            <a:off x="6350437" y="4349710"/>
            <a:ext cx="7415927" cy="1443514"/>
          </a:xfrm>
          <a:prstGeom prst="roundRect">
            <a:avLst>
              <a:gd name="adj" fmla="val 2565"/>
            </a:avLst>
          </a:prstGeom>
          <a:noFill/>
          <a:ln w="15240">
            <a:solidFill>
              <a:srgbClr val="000000">
                <a:alpha val="8000"/>
              </a:srgbClr>
            </a:solidFill>
            <a:prstDash val="solid"/>
          </a:ln>
        </p:spPr>
      </p:sp>
      <p:sp>
        <p:nvSpPr>
          <p:cNvPr id="5" name="Shape 2"/>
          <p:cNvSpPr/>
          <p:nvPr/>
        </p:nvSpPr>
        <p:spPr>
          <a:xfrm>
            <a:off x="6365677" y="4364950"/>
            <a:ext cx="7384613" cy="706517"/>
          </a:xfrm>
          <a:prstGeom prst="rect">
            <a:avLst/>
          </a:prstGeom>
          <a:solidFill>
            <a:srgbClr val="FFFFFF">
              <a:alpha val="4000"/>
            </a:srgbClr>
          </a:solidFill>
          <a:ln/>
        </p:spPr>
      </p:sp>
      <p:sp>
        <p:nvSpPr>
          <p:cNvPr id="6" name="Text 3"/>
          <p:cNvSpPr/>
          <p:nvPr/>
        </p:nvSpPr>
        <p:spPr>
          <a:xfrm>
            <a:off x="6613327" y="4520684"/>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Best Case</a:t>
            </a:r>
            <a:endParaRPr lang="en-US" sz="1900" dirty="0"/>
          </a:p>
        </p:txBody>
      </p:sp>
      <p:sp>
        <p:nvSpPr>
          <p:cNvPr id="7" name="Text 4"/>
          <p:cNvSpPr/>
          <p:nvPr/>
        </p:nvSpPr>
        <p:spPr>
          <a:xfrm>
            <a:off x="9078397" y="4520684"/>
            <a:ext cx="196000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Average Case</a:t>
            </a:r>
            <a:endParaRPr lang="en-US" sz="1900" dirty="0"/>
          </a:p>
        </p:txBody>
      </p:sp>
      <p:sp>
        <p:nvSpPr>
          <p:cNvPr id="8" name="Text 5"/>
          <p:cNvSpPr/>
          <p:nvPr/>
        </p:nvSpPr>
        <p:spPr>
          <a:xfrm>
            <a:off x="11539657" y="4520684"/>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Worst Case</a:t>
            </a:r>
            <a:endParaRPr lang="en-US" sz="1900" dirty="0"/>
          </a:p>
        </p:txBody>
      </p:sp>
      <p:sp>
        <p:nvSpPr>
          <p:cNvPr id="9" name="Shape 6"/>
          <p:cNvSpPr/>
          <p:nvPr/>
        </p:nvSpPr>
        <p:spPr>
          <a:xfrm>
            <a:off x="6365677" y="5071467"/>
            <a:ext cx="7384613" cy="706517"/>
          </a:xfrm>
          <a:prstGeom prst="rect">
            <a:avLst/>
          </a:prstGeom>
          <a:solidFill>
            <a:srgbClr val="000000">
              <a:alpha val="4000"/>
            </a:srgbClr>
          </a:solidFill>
          <a:ln/>
        </p:spPr>
      </p:sp>
      <p:sp>
        <p:nvSpPr>
          <p:cNvPr id="10" name="Text 7"/>
          <p:cNvSpPr/>
          <p:nvPr/>
        </p:nvSpPr>
        <p:spPr>
          <a:xfrm>
            <a:off x="6613327" y="5227201"/>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Ω(1)</a:t>
            </a:r>
            <a:endParaRPr lang="en-US" sz="1900" dirty="0"/>
          </a:p>
        </p:txBody>
      </p:sp>
      <p:sp>
        <p:nvSpPr>
          <p:cNvPr id="11" name="Text 8"/>
          <p:cNvSpPr/>
          <p:nvPr/>
        </p:nvSpPr>
        <p:spPr>
          <a:xfrm>
            <a:off x="9078397" y="5227201"/>
            <a:ext cx="196000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θ(1)</a:t>
            </a:r>
            <a:endParaRPr lang="en-US" sz="1900" dirty="0"/>
          </a:p>
        </p:txBody>
      </p:sp>
      <p:sp>
        <p:nvSpPr>
          <p:cNvPr id="12" name="Text 9"/>
          <p:cNvSpPr/>
          <p:nvPr/>
        </p:nvSpPr>
        <p:spPr>
          <a:xfrm>
            <a:off x="11539657" y="5227201"/>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O(1)</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3086100"/>
          </a:xfrm>
          <a:prstGeom prst="rect">
            <a:avLst/>
          </a:prstGeom>
        </p:spPr>
      </p:pic>
      <p:sp>
        <p:nvSpPr>
          <p:cNvPr id="3" name="Text 0"/>
          <p:cNvSpPr/>
          <p:nvPr/>
        </p:nvSpPr>
        <p:spPr>
          <a:xfrm>
            <a:off x="864037" y="4365188"/>
            <a:ext cx="8157805" cy="771525"/>
          </a:xfrm>
          <a:prstGeom prst="rect">
            <a:avLst/>
          </a:prstGeom>
          <a:noFill/>
          <a:ln/>
        </p:spPr>
        <p:txBody>
          <a:bodyPr wrap="non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Space Complexity: Insertion</a:t>
            </a:r>
            <a:endParaRPr lang="en-US" sz="4850" dirty="0"/>
          </a:p>
        </p:txBody>
      </p:sp>
      <p:sp>
        <p:nvSpPr>
          <p:cNvPr id="4" name="Shape 1"/>
          <p:cNvSpPr/>
          <p:nvPr/>
        </p:nvSpPr>
        <p:spPr>
          <a:xfrm>
            <a:off x="864037" y="5506998"/>
            <a:ext cx="12902327" cy="1443514"/>
          </a:xfrm>
          <a:prstGeom prst="roundRect">
            <a:avLst>
              <a:gd name="adj" fmla="val 2565"/>
            </a:avLst>
          </a:prstGeom>
          <a:noFill/>
          <a:ln w="15240">
            <a:solidFill>
              <a:srgbClr val="000000">
                <a:alpha val="8000"/>
              </a:srgbClr>
            </a:solidFill>
            <a:prstDash val="solid"/>
          </a:ln>
        </p:spPr>
      </p:sp>
      <p:sp>
        <p:nvSpPr>
          <p:cNvPr id="5" name="Shape 2"/>
          <p:cNvSpPr/>
          <p:nvPr/>
        </p:nvSpPr>
        <p:spPr>
          <a:xfrm>
            <a:off x="879277" y="5522238"/>
            <a:ext cx="12870537" cy="706517"/>
          </a:xfrm>
          <a:prstGeom prst="rect">
            <a:avLst/>
          </a:prstGeom>
          <a:solidFill>
            <a:srgbClr val="FFFFFF">
              <a:alpha val="4000"/>
            </a:srgbClr>
          </a:solidFill>
          <a:ln/>
        </p:spPr>
      </p:sp>
      <p:sp>
        <p:nvSpPr>
          <p:cNvPr id="6" name="Text 3"/>
          <p:cNvSpPr/>
          <p:nvPr/>
        </p:nvSpPr>
        <p:spPr>
          <a:xfrm>
            <a:off x="1127522" y="5677972"/>
            <a:ext cx="3792260"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Best Case</a:t>
            </a:r>
            <a:endParaRPr lang="en-US" sz="1900" dirty="0"/>
          </a:p>
        </p:txBody>
      </p:sp>
      <p:sp>
        <p:nvSpPr>
          <p:cNvPr id="7" name="Text 4"/>
          <p:cNvSpPr/>
          <p:nvPr/>
        </p:nvSpPr>
        <p:spPr>
          <a:xfrm>
            <a:off x="5421035" y="5677972"/>
            <a:ext cx="3788450"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Average Case</a:t>
            </a:r>
            <a:endParaRPr lang="en-US" sz="1900" dirty="0"/>
          </a:p>
        </p:txBody>
      </p:sp>
      <p:sp>
        <p:nvSpPr>
          <p:cNvPr id="8" name="Text 5"/>
          <p:cNvSpPr/>
          <p:nvPr/>
        </p:nvSpPr>
        <p:spPr>
          <a:xfrm>
            <a:off x="9710738" y="5677972"/>
            <a:ext cx="3792260"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Worst Case</a:t>
            </a:r>
            <a:endParaRPr lang="en-US" sz="1900" dirty="0"/>
          </a:p>
        </p:txBody>
      </p:sp>
      <p:sp>
        <p:nvSpPr>
          <p:cNvPr id="9" name="Shape 6"/>
          <p:cNvSpPr/>
          <p:nvPr/>
        </p:nvSpPr>
        <p:spPr>
          <a:xfrm>
            <a:off x="879277" y="6228755"/>
            <a:ext cx="12870537" cy="706517"/>
          </a:xfrm>
          <a:prstGeom prst="rect">
            <a:avLst/>
          </a:prstGeom>
          <a:solidFill>
            <a:srgbClr val="000000">
              <a:alpha val="4000"/>
            </a:srgbClr>
          </a:solidFill>
          <a:ln/>
        </p:spPr>
      </p:sp>
      <p:sp>
        <p:nvSpPr>
          <p:cNvPr id="10" name="Text 7"/>
          <p:cNvSpPr/>
          <p:nvPr/>
        </p:nvSpPr>
        <p:spPr>
          <a:xfrm>
            <a:off x="1127522" y="6384488"/>
            <a:ext cx="3792260"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Ω(1)</a:t>
            </a:r>
            <a:endParaRPr lang="en-US" sz="1900" dirty="0"/>
          </a:p>
        </p:txBody>
      </p:sp>
      <p:sp>
        <p:nvSpPr>
          <p:cNvPr id="11" name="Text 8"/>
          <p:cNvSpPr/>
          <p:nvPr/>
        </p:nvSpPr>
        <p:spPr>
          <a:xfrm>
            <a:off x="5421035" y="6384488"/>
            <a:ext cx="3788450"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θ(N)</a:t>
            </a:r>
            <a:endParaRPr lang="en-US" sz="1900" dirty="0"/>
          </a:p>
        </p:txBody>
      </p:sp>
      <p:sp>
        <p:nvSpPr>
          <p:cNvPr id="12" name="Text 9"/>
          <p:cNvSpPr/>
          <p:nvPr/>
        </p:nvSpPr>
        <p:spPr>
          <a:xfrm>
            <a:off x="9710738" y="6384488"/>
            <a:ext cx="3792260"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O(N)</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2436376"/>
            <a:ext cx="7415927" cy="1543050"/>
          </a:xfrm>
          <a:prstGeom prst="rect">
            <a:avLst/>
          </a:prstGeom>
          <a:noFill/>
          <a:ln/>
        </p:spPr>
        <p:txBody>
          <a:bodyPr wrap="squar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Space Complexity: Deletion</a:t>
            </a:r>
            <a:endParaRPr lang="en-US" sz="4850" dirty="0"/>
          </a:p>
        </p:txBody>
      </p:sp>
      <p:sp>
        <p:nvSpPr>
          <p:cNvPr id="4" name="Shape 1"/>
          <p:cNvSpPr/>
          <p:nvPr/>
        </p:nvSpPr>
        <p:spPr>
          <a:xfrm>
            <a:off x="864037" y="4349710"/>
            <a:ext cx="7415927" cy="1443514"/>
          </a:xfrm>
          <a:prstGeom prst="roundRect">
            <a:avLst>
              <a:gd name="adj" fmla="val 2565"/>
            </a:avLst>
          </a:prstGeom>
          <a:noFill/>
          <a:ln w="15240">
            <a:solidFill>
              <a:srgbClr val="000000">
                <a:alpha val="8000"/>
              </a:srgbClr>
            </a:solidFill>
            <a:prstDash val="solid"/>
          </a:ln>
        </p:spPr>
      </p:sp>
      <p:sp>
        <p:nvSpPr>
          <p:cNvPr id="5" name="Shape 2"/>
          <p:cNvSpPr/>
          <p:nvPr/>
        </p:nvSpPr>
        <p:spPr>
          <a:xfrm>
            <a:off x="879277" y="4364950"/>
            <a:ext cx="7384613" cy="706517"/>
          </a:xfrm>
          <a:prstGeom prst="rect">
            <a:avLst/>
          </a:prstGeom>
          <a:solidFill>
            <a:srgbClr val="FFFFFF">
              <a:alpha val="4000"/>
            </a:srgbClr>
          </a:solidFill>
          <a:ln/>
        </p:spPr>
      </p:sp>
      <p:sp>
        <p:nvSpPr>
          <p:cNvPr id="6" name="Text 3"/>
          <p:cNvSpPr/>
          <p:nvPr/>
        </p:nvSpPr>
        <p:spPr>
          <a:xfrm>
            <a:off x="1126927" y="4520684"/>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Best Case</a:t>
            </a:r>
            <a:endParaRPr lang="en-US" sz="1900" dirty="0"/>
          </a:p>
        </p:txBody>
      </p:sp>
      <p:sp>
        <p:nvSpPr>
          <p:cNvPr id="7" name="Text 4"/>
          <p:cNvSpPr/>
          <p:nvPr/>
        </p:nvSpPr>
        <p:spPr>
          <a:xfrm>
            <a:off x="3591997" y="4520684"/>
            <a:ext cx="196000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Average Case</a:t>
            </a:r>
            <a:endParaRPr lang="en-US" sz="1900" dirty="0"/>
          </a:p>
        </p:txBody>
      </p:sp>
      <p:sp>
        <p:nvSpPr>
          <p:cNvPr id="8" name="Text 5"/>
          <p:cNvSpPr/>
          <p:nvPr/>
        </p:nvSpPr>
        <p:spPr>
          <a:xfrm>
            <a:off x="6053257" y="4520684"/>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Worst Case</a:t>
            </a:r>
            <a:endParaRPr lang="en-US" sz="1900" dirty="0"/>
          </a:p>
        </p:txBody>
      </p:sp>
      <p:sp>
        <p:nvSpPr>
          <p:cNvPr id="9" name="Shape 6"/>
          <p:cNvSpPr/>
          <p:nvPr/>
        </p:nvSpPr>
        <p:spPr>
          <a:xfrm>
            <a:off x="879277" y="5071467"/>
            <a:ext cx="7384613" cy="706517"/>
          </a:xfrm>
          <a:prstGeom prst="rect">
            <a:avLst/>
          </a:prstGeom>
          <a:solidFill>
            <a:srgbClr val="000000">
              <a:alpha val="4000"/>
            </a:srgbClr>
          </a:solidFill>
          <a:ln/>
        </p:spPr>
      </p:sp>
      <p:sp>
        <p:nvSpPr>
          <p:cNvPr id="10" name="Text 7"/>
          <p:cNvSpPr/>
          <p:nvPr/>
        </p:nvSpPr>
        <p:spPr>
          <a:xfrm>
            <a:off x="1126927" y="5227201"/>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Ω(1)</a:t>
            </a:r>
            <a:endParaRPr lang="en-US" sz="1900" dirty="0"/>
          </a:p>
        </p:txBody>
      </p:sp>
      <p:sp>
        <p:nvSpPr>
          <p:cNvPr id="11" name="Text 8"/>
          <p:cNvSpPr/>
          <p:nvPr/>
        </p:nvSpPr>
        <p:spPr>
          <a:xfrm>
            <a:off x="3591997" y="5227201"/>
            <a:ext cx="196000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θ(N)</a:t>
            </a:r>
            <a:endParaRPr lang="en-US" sz="1900" dirty="0"/>
          </a:p>
        </p:txBody>
      </p:sp>
      <p:sp>
        <p:nvSpPr>
          <p:cNvPr id="12" name="Text 9"/>
          <p:cNvSpPr/>
          <p:nvPr/>
        </p:nvSpPr>
        <p:spPr>
          <a:xfrm>
            <a:off x="6053257" y="5227201"/>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O(N)</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437" y="2436376"/>
            <a:ext cx="7415927" cy="1543050"/>
          </a:xfrm>
          <a:prstGeom prst="rect">
            <a:avLst/>
          </a:prstGeom>
          <a:noFill/>
          <a:ln/>
        </p:spPr>
        <p:txBody>
          <a:bodyPr wrap="squar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Space Complexity: Searching</a:t>
            </a:r>
            <a:endParaRPr lang="en-US" sz="4850" dirty="0"/>
          </a:p>
        </p:txBody>
      </p:sp>
      <p:sp>
        <p:nvSpPr>
          <p:cNvPr id="4" name="Shape 1"/>
          <p:cNvSpPr/>
          <p:nvPr/>
        </p:nvSpPr>
        <p:spPr>
          <a:xfrm>
            <a:off x="6350437" y="4349710"/>
            <a:ext cx="7415927" cy="1443514"/>
          </a:xfrm>
          <a:prstGeom prst="roundRect">
            <a:avLst>
              <a:gd name="adj" fmla="val 2565"/>
            </a:avLst>
          </a:prstGeom>
          <a:noFill/>
          <a:ln w="15240">
            <a:solidFill>
              <a:srgbClr val="000000">
                <a:alpha val="8000"/>
              </a:srgbClr>
            </a:solidFill>
            <a:prstDash val="solid"/>
          </a:ln>
        </p:spPr>
      </p:sp>
      <p:sp>
        <p:nvSpPr>
          <p:cNvPr id="5" name="Shape 2"/>
          <p:cNvSpPr/>
          <p:nvPr/>
        </p:nvSpPr>
        <p:spPr>
          <a:xfrm>
            <a:off x="6365677" y="4364950"/>
            <a:ext cx="7384613" cy="706517"/>
          </a:xfrm>
          <a:prstGeom prst="rect">
            <a:avLst/>
          </a:prstGeom>
          <a:solidFill>
            <a:srgbClr val="FFFFFF">
              <a:alpha val="4000"/>
            </a:srgbClr>
          </a:solidFill>
          <a:ln/>
        </p:spPr>
      </p:sp>
      <p:sp>
        <p:nvSpPr>
          <p:cNvPr id="6" name="Text 3"/>
          <p:cNvSpPr/>
          <p:nvPr/>
        </p:nvSpPr>
        <p:spPr>
          <a:xfrm>
            <a:off x="6613327" y="4520684"/>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Best Case</a:t>
            </a:r>
            <a:endParaRPr lang="en-US" sz="1900" dirty="0"/>
          </a:p>
        </p:txBody>
      </p:sp>
      <p:sp>
        <p:nvSpPr>
          <p:cNvPr id="7" name="Text 4"/>
          <p:cNvSpPr/>
          <p:nvPr/>
        </p:nvSpPr>
        <p:spPr>
          <a:xfrm>
            <a:off x="9078397" y="4520684"/>
            <a:ext cx="196000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Average Case</a:t>
            </a:r>
            <a:endParaRPr lang="en-US" sz="1900" dirty="0"/>
          </a:p>
        </p:txBody>
      </p:sp>
      <p:sp>
        <p:nvSpPr>
          <p:cNvPr id="8" name="Text 5"/>
          <p:cNvSpPr/>
          <p:nvPr/>
        </p:nvSpPr>
        <p:spPr>
          <a:xfrm>
            <a:off x="11539657" y="4520684"/>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Worst Case</a:t>
            </a:r>
            <a:endParaRPr lang="en-US" sz="1900" dirty="0"/>
          </a:p>
        </p:txBody>
      </p:sp>
      <p:sp>
        <p:nvSpPr>
          <p:cNvPr id="9" name="Shape 6"/>
          <p:cNvSpPr/>
          <p:nvPr/>
        </p:nvSpPr>
        <p:spPr>
          <a:xfrm>
            <a:off x="6365677" y="5071467"/>
            <a:ext cx="7384613" cy="706517"/>
          </a:xfrm>
          <a:prstGeom prst="rect">
            <a:avLst/>
          </a:prstGeom>
          <a:solidFill>
            <a:srgbClr val="000000">
              <a:alpha val="4000"/>
            </a:srgbClr>
          </a:solidFill>
          <a:ln/>
        </p:spPr>
      </p:sp>
      <p:sp>
        <p:nvSpPr>
          <p:cNvPr id="10" name="Text 7"/>
          <p:cNvSpPr/>
          <p:nvPr/>
        </p:nvSpPr>
        <p:spPr>
          <a:xfrm>
            <a:off x="6613327" y="5227201"/>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Ω(1)</a:t>
            </a:r>
            <a:endParaRPr lang="en-US" sz="1900" dirty="0"/>
          </a:p>
        </p:txBody>
      </p:sp>
      <p:sp>
        <p:nvSpPr>
          <p:cNvPr id="11" name="Text 8"/>
          <p:cNvSpPr/>
          <p:nvPr/>
        </p:nvSpPr>
        <p:spPr>
          <a:xfrm>
            <a:off x="9078397" y="5227201"/>
            <a:ext cx="196000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θ(1)</a:t>
            </a:r>
            <a:endParaRPr lang="en-US" sz="1900" dirty="0"/>
          </a:p>
        </p:txBody>
      </p:sp>
      <p:sp>
        <p:nvSpPr>
          <p:cNvPr id="12" name="Text 9"/>
          <p:cNvSpPr/>
          <p:nvPr/>
        </p:nvSpPr>
        <p:spPr>
          <a:xfrm>
            <a:off x="11539657" y="5227201"/>
            <a:ext cx="1963817"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O(1)</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437" y="760452"/>
            <a:ext cx="6200061" cy="771525"/>
          </a:xfrm>
          <a:prstGeom prst="rect">
            <a:avLst/>
          </a:prstGeom>
          <a:noFill/>
          <a:ln/>
        </p:spPr>
        <p:txBody>
          <a:bodyPr wrap="non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Advantages of Arrays</a:t>
            </a:r>
            <a:endParaRPr lang="en-US" sz="4850" dirty="0"/>
          </a:p>
        </p:txBody>
      </p:sp>
      <p:sp>
        <p:nvSpPr>
          <p:cNvPr id="4" name="Shape 1"/>
          <p:cNvSpPr/>
          <p:nvPr/>
        </p:nvSpPr>
        <p:spPr>
          <a:xfrm>
            <a:off x="6350437" y="2179915"/>
            <a:ext cx="555427" cy="555427"/>
          </a:xfrm>
          <a:prstGeom prst="roundRect">
            <a:avLst>
              <a:gd name="adj" fmla="val 6668"/>
            </a:avLst>
          </a:prstGeom>
          <a:solidFill>
            <a:srgbClr val="EDEBE3"/>
          </a:solidFill>
          <a:ln/>
        </p:spPr>
      </p:sp>
      <p:sp>
        <p:nvSpPr>
          <p:cNvPr id="5" name="Text 2"/>
          <p:cNvSpPr/>
          <p:nvPr/>
        </p:nvSpPr>
        <p:spPr>
          <a:xfrm>
            <a:off x="6567368" y="2272427"/>
            <a:ext cx="121563" cy="370284"/>
          </a:xfrm>
          <a:prstGeom prst="rect">
            <a:avLst/>
          </a:prstGeom>
          <a:noFill/>
          <a:ln/>
        </p:spPr>
        <p:txBody>
          <a:bodyPr wrap="none" lIns="0" tIns="0" rIns="0" bIns="0" rtlCol="0" anchor="t"/>
          <a:lstStyle/>
          <a:p>
            <a:pPr algn="ctr" indent="0" marL="0">
              <a:lnSpc>
                <a:spcPts val="2900"/>
              </a:lnSpc>
              <a:buNone/>
            </a:pPr>
            <a:r>
              <a:rPr lang="en-US" sz="2900" dirty="0">
                <a:solidFill>
                  <a:srgbClr val="161613"/>
                </a:solidFill>
                <a:latin typeface="DM Sans" pitchFamily="34" charset="0"/>
                <a:ea typeface="DM Sans" pitchFamily="34" charset="-122"/>
                <a:cs typeface="DM Sans" pitchFamily="34" charset="-120"/>
              </a:rPr>
              <a:t>1</a:t>
            </a:r>
            <a:endParaRPr lang="en-US" sz="2900" dirty="0"/>
          </a:p>
        </p:txBody>
      </p:sp>
      <p:sp>
        <p:nvSpPr>
          <p:cNvPr id="6" name="Text 3"/>
          <p:cNvSpPr/>
          <p:nvPr/>
        </p:nvSpPr>
        <p:spPr>
          <a:xfrm>
            <a:off x="7152680" y="2179915"/>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Random Access</a:t>
            </a:r>
            <a:endParaRPr lang="en-US" sz="2400" dirty="0"/>
          </a:p>
        </p:txBody>
      </p:sp>
      <p:sp>
        <p:nvSpPr>
          <p:cNvPr id="7" name="Text 4"/>
          <p:cNvSpPr/>
          <p:nvPr/>
        </p:nvSpPr>
        <p:spPr>
          <a:xfrm>
            <a:off x="7152680" y="2713792"/>
            <a:ext cx="6613684"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Elements can be accessed directly using their index.</a:t>
            </a:r>
            <a:endParaRPr lang="en-US" sz="1900" dirty="0"/>
          </a:p>
        </p:txBody>
      </p:sp>
      <p:sp>
        <p:nvSpPr>
          <p:cNvPr id="8" name="Shape 5"/>
          <p:cNvSpPr/>
          <p:nvPr/>
        </p:nvSpPr>
        <p:spPr>
          <a:xfrm>
            <a:off x="6350437" y="3633311"/>
            <a:ext cx="555427" cy="555427"/>
          </a:xfrm>
          <a:prstGeom prst="roundRect">
            <a:avLst>
              <a:gd name="adj" fmla="val 6668"/>
            </a:avLst>
          </a:prstGeom>
          <a:solidFill>
            <a:srgbClr val="EDEBE3"/>
          </a:solidFill>
          <a:ln/>
        </p:spPr>
      </p:sp>
      <p:sp>
        <p:nvSpPr>
          <p:cNvPr id="9" name="Text 6"/>
          <p:cNvSpPr/>
          <p:nvPr/>
        </p:nvSpPr>
        <p:spPr>
          <a:xfrm>
            <a:off x="6521291" y="3725823"/>
            <a:ext cx="213717" cy="370284"/>
          </a:xfrm>
          <a:prstGeom prst="rect">
            <a:avLst/>
          </a:prstGeom>
          <a:noFill/>
          <a:ln/>
        </p:spPr>
        <p:txBody>
          <a:bodyPr wrap="none" lIns="0" tIns="0" rIns="0" bIns="0" rtlCol="0" anchor="t"/>
          <a:lstStyle/>
          <a:p>
            <a:pPr algn="ctr" indent="0" marL="0">
              <a:lnSpc>
                <a:spcPts val="2900"/>
              </a:lnSpc>
              <a:buNone/>
            </a:pPr>
            <a:r>
              <a:rPr lang="en-US" sz="2900" dirty="0">
                <a:solidFill>
                  <a:srgbClr val="161613"/>
                </a:solidFill>
                <a:latin typeface="DM Sans" pitchFamily="34" charset="0"/>
                <a:ea typeface="DM Sans" pitchFamily="34" charset="-122"/>
                <a:cs typeface="DM Sans" pitchFamily="34" charset="-120"/>
              </a:rPr>
              <a:t>2</a:t>
            </a:r>
            <a:endParaRPr lang="en-US" sz="2900" dirty="0"/>
          </a:p>
        </p:txBody>
      </p:sp>
      <p:sp>
        <p:nvSpPr>
          <p:cNvPr id="10" name="Text 7"/>
          <p:cNvSpPr/>
          <p:nvPr/>
        </p:nvSpPr>
        <p:spPr>
          <a:xfrm>
            <a:off x="7152680" y="3633311"/>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Cache Locality</a:t>
            </a:r>
            <a:endParaRPr lang="en-US" sz="2400" dirty="0"/>
          </a:p>
        </p:txBody>
      </p:sp>
      <p:sp>
        <p:nvSpPr>
          <p:cNvPr id="11" name="Text 8"/>
          <p:cNvSpPr/>
          <p:nvPr/>
        </p:nvSpPr>
        <p:spPr>
          <a:xfrm>
            <a:off x="7152680" y="4167188"/>
            <a:ext cx="6613684"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Contiguous memory allocation improves performance.</a:t>
            </a:r>
            <a:endParaRPr lang="en-US" sz="1900" dirty="0"/>
          </a:p>
        </p:txBody>
      </p:sp>
      <p:sp>
        <p:nvSpPr>
          <p:cNvPr id="12" name="Shape 9"/>
          <p:cNvSpPr/>
          <p:nvPr/>
        </p:nvSpPr>
        <p:spPr>
          <a:xfrm>
            <a:off x="6350437" y="5086707"/>
            <a:ext cx="555427" cy="555427"/>
          </a:xfrm>
          <a:prstGeom prst="roundRect">
            <a:avLst>
              <a:gd name="adj" fmla="val 6668"/>
            </a:avLst>
          </a:prstGeom>
          <a:solidFill>
            <a:srgbClr val="EDEBE3"/>
          </a:solidFill>
          <a:ln/>
        </p:spPr>
      </p:sp>
      <p:sp>
        <p:nvSpPr>
          <p:cNvPr id="13" name="Text 10"/>
          <p:cNvSpPr/>
          <p:nvPr/>
        </p:nvSpPr>
        <p:spPr>
          <a:xfrm>
            <a:off x="6518077" y="5179219"/>
            <a:ext cx="220028" cy="370284"/>
          </a:xfrm>
          <a:prstGeom prst="rect">
            <a:avLst/>
          </a:prstGeom>
          <a:noFill/>
          <a:ln/>
        </p:spPr>
        <p:txBody>
          <a:bodyPr wrap="none" lIns="0" tIns="0" rIns="0" bIns="0" rtlCol="0" anchor="t"/>
          <a:lstStyle/>
          <a:p>
            <a:pPr algn="ctr" indent="0" marL="0">
              <a:lnSpc>
                <a:spcPts val="2900"/>
              </a:lnSpc>
              <a:buNone/>
            </a:pPr>
            <a:r>
              <a:rPr lang="en-US" sz="2900" dirty="0">
                <a:solidFill>
                  <a:srgbClr val="161613"/>
                </a:solidFill>
                <a:latin typeface="DM Sans" pitchFamily="34" charset="0"/>
                <a:ea typeface="DM Sans" pitchFamily="34" charset="-122"/>
                <a:cs typeface="DM Sans" pitchFamily="34" charset="-120"/>
              </a:rPr>
              <a:t>3</a:t>
            </a:r>
            <a:endParaRPr lang="en-US" sz="2900" dirty="0"/>
          </a:p>
        </p:txBody>
      </p:sp>
      <p:sp>
        <p:nvSpPr>
          <p:cNvPr id="14" name="Text 11"/>
          <p:cNvSpPr/>
          <p:nvPr/>
        </p:nvSpPr>
        <p:spPr>
          <a:xfrm>
            <a:off x="7152680" y="5086707"/>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Simplicity</a:t>
            </a:r>
            <a:endParaRPr lang="en-US" sz="2400" dirty="0"/>
          </a:p>
        </p:txBody>
      </p:sp>
      <p:sp>
        <p:nvSpPr>
          <p:cNvPr id="15" name="Text 12"/>
          <p:cNvSpPr/>
          <p:nvPr/>
        </p:nvSpPr>
        <p:spPr>
          <a:xfrm>
            <a:off x="7152680" y="5620583"/>
            <a:ext cx="6613684"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Arrays are easy to understand and implement.</a:t>
            </a:r>
            <a:endParaRPr lang="en-US" sz="1900" dirty="0"/>
          </a:p>
        </p:txBody>
      </p:sp>
      <p:sp>
        <p:nvSpPr>
          <p:cNvPr id="16" name="Shape 13"/>
          <p:cNvSpPr/>
          <p:nvPr/>
        </p:nvSpPr>
        <p:spPr>
          <a:xfrm>
            <a:off x="6350437" y="6540103"/>
            <a:ext cx="555427" cy="555427"/>
          </a:xfrm>
          <a:prstGeom prst="roundRect">
            <a:avLst>
              <a:gd name="adj" fmla="val 6668"/>
            </a:avLst>
          </a:prstGeom>
          <a:solidFill>
            <a:srgbClr val="EDEBE3"/>
          </a:solidFill>
          <a:ln/>
        </p:spPr>
      </p:sp>
      <p:sp>
        <p:nvSpPr>
          <p:cNvPr id="17" name="Text 14"/>
          <p:cNvSpPr/>
          <p:nvPr/>
        </p:nvSpPr>
        <p:spPr>
          <a:xfrm>
            <a:off x="6513076" y="6632615"/>
            <a:ext cx="230029" cy="370284"/>
          </a:xfrm>
          <a:prstGeom prst="rect">
            <a:avLst/>
          </a:prstGeom>
          <a:noFill/>
          <a:ln/>
        </p:spPr>
        <p:txBody>
          <a:bodyPr wrap="none" lIns="0" tIns="0" rIns="0" bIns="0" rtlCol="0" anchor="t"/>
          <a:lstStyle/>
          <a:p>
            <a:pPr algn="ctr" indent="0" marL="0">
              <a:lnSpc>
                <a:spcPts val="2900"/>
              </a:lnSpc>
              <a:buNone/>
            </a:pPr>
            <a:r>
              <a:rPr lang="en-US" sz="2900" dirty="0">
                <a:solidFill>
                  <a:srgbClr val="161613"/>
                </a:solidFill>
                <a:latin typeface="DM Sans" pitchFamily="34" charset="0"/>
                <a:ea typeface="DM Sans" pitchFamily="34" charset="-122"/>
                <a:cs typeface="DM Sans" pitchFamily="34" charset="-120"/>
              </a:rPr>
              <a:t>4</a:t>
            </a:r>
            <a:endParaRPr lang="en-US" sz="2900" dirty="0"/>
          </a:p>
        </p:txBody>
      </p:sp>
      <p:sp>
        <p:nvSpPr>
          <p:cNvPr id="18" name="Text 15"/>
          <p:cNvSpPr/>
          <p:nvPr/>
        </p:nvSpPr>
        <p:spPr>
          <a:xfrm>
            <a:off x="7152680" y="6540103"/>
            <a:ext cx="3719393"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Base for Other Structures</a:t>
            </a:r>
            <a:endParaRPr lang="en-US" sz="2400" dirty="0"/>
          </a:p>
        </p:txBody>
      </p:sp>
      <p:sp>
        <p:nvSpPr>
          <p:cNvPr id="19" name="Text 16"/>
          <p:cNvSpPr/>
          <p:nvPr/>
        </p:nvSpPr>
        <p:spPr>
          <a:xfrm>
            <a:off x="7152680" y="7073979"/>
            <a:ext cx="6613684"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Many data structures are built using arrays.</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2219"/>
          </a:xfrm>
          <a:prstGeom prst="rect">
            <a:avLst/>
          </a:prstGeom>
        </p:spPr>
      </p:pic>
      <p:sp>
        <p:nvSpPr>
          <p:cNvPr id="3" name="Text 0"/>
          <p:cNvSpPr/>
          <p:nvPr/>
        </p:nvSpPr>
        <p:spPr>
          <a:xfrm>
            <a:off x="6327100" y="660559"/>
            <a:ext cx="6847999" cy="750689"/>
          </a:xfrm>
          <a:prstGeom prst="rect">
            <a:avLst/>
          </a:prstGeom>
          <a:noFill/>
          <a:ln/>
        </p:spPr>
        <p:txBody>
          <a:bodyPr wrap="none" lIns="0" tIns="0" rIns="0" bIns="0" rtlCol="0" anchor="t"/>
          <a:lstStyle/>
          <a:p>
            <a:pPr indent="0" marL="0">
              <a:lnSpc>
                <a:spcPts val="5900"/>
              </a:lnSpc>
              <a:buNone/>
            </a:pPr>
            <a:r>
              <a:rPr lang="en-US" sz="4700" dirty="0">
                <a:solidFill>
                  <a:srgbClr val="161613"/>
                </a:solidFill>
                <a:latin typeface="DM Sans" pitchFamily="34" charset="0"/>
                <a:ea typeface="DM Sans" pitchFamily="34" charset="-122"/>
                <a:cs typeface="DM Sans" pitchFamily="34" charset="-120"/>
              </a:rPr>
              <a:t>Disadvantages of Arrays</a:t>
            </a:r>
            <a:endParaRPr lang="en-US" sz="4700" dirty="0"/>
          </a:p>
        </p:txBody>
      </p:sp>
      <p:sp>
        <p:nvSpPr>
          <p:cNvPr id="4" name="Shape 1"/>
          <p:cNvSpPr/>
          <p:nvPr/>
        </p:nvSpPr>
        <p:spPr>
          <a:xfrm>
            <a:off x="6327100" y="2041684"/>
            <a:ext cx="540425" cy="540425"/>
          </a:xfrm>
          <a:prstGeom prst="roundRect">
            <a:avLst>
              <a:gd name="adj" fmla="val 6667"/>
            </a:avLst>
          </a:prstGeom>
          <a:solidFill>
            <a:srgbClr val="EDEBE3"/>
          </a:solidFill>
          <a:ln/>
        </p:spPr>
      </p:sp>
      <p:sp>
        <p:nvSpPr>
          <p:cNvPr id="5" name="Text 2"/>
          <p:cNvSpPr/>
          <p:nvPr/>
        </p:nvSpPr>
        <p:spPr>
          <a:xfrm>
            <a:off x="6538198" y="2131695"/>
            <a:ext cx="118229" cy="360283"/>
          </a:xfrm>
          <a:prstGeom prst="rect">
            <a:avLst/>
          </a:prstGeom>
          <a:noFill/>
          <a:ln/>
        </p:spPr>
        <p:txBody>
          <a:bodyPr wrap="none" lIns="0" tIns="0" rIns="0" bIns="0" rtlCol="0" anchor="t"/>
          <a:lstStyle/>
          <a:p>
            <a:pPr algn="ctr" indent="0" marL="0">
              <a:lnSpc>
                <a:spcPts val="2800"/>
              </a:lnSpc>
              <a:buNone/>
            </a:pPr>
            <a:r>
              <a:rPr lang="en-US" sz="2800" dirty="0">
                <a:solidFill>
                  <a:srgbClr val="161613"/>
                </a:solidFill>
                <a:latin typeface="DM Sans" pitchFamily="34" charset="0"/>
                <a:ea typeface="DM Sans" pitchFamily="34" charset="-122"/>
                <a:cs typeface="DM Sans" pitchFamily="34" charset="-120"/>
              </a:rPr>
              <a:t>1</a:t>
            </a:r>
            <a:endParaRPr lang="en-US" sz="2800" dirty="0"/>
          </a:p>
        </p:txBody>
      </p:sp>
      <p:sp>
        <p:nvSpPr>
          <p:cNvPr id="6" name="Text 3"/>
          <p:cNvSpPr/>
          <p:nvPr/>
        </p:nvSpPr>
        <p:spPr>
          <a:xfrm>
            <a:off x="7107674" y="2041684"/>
            <a:ext cx="3002637" cy="375285"/>
          </a:xfrm>
          <a:prstGeom prst="rect">
            <a:avLst/>
          </a:prstGeom>
          <a:noFill/>
          <a:ln/>
        </p:spPr>
        <p:txBody>
          <a:bodyPr wrap="none" lIns="0" tIns="0" rIns="0" bIns="0" rtlCol="0" anchor="t"/>
          <a:lstStyle/>
          <a:p>
            <a:pPr indent="0" marL="0">
              <a:lnSpc>
                <a:spcPts val="2950"/>
              </a:lnSpc>
              <a:buNone/>
            </a:pPr>
            <a:r>
              <a:rPr lang="en-US" sz="2350" dirty="0">
                <a:solidFill>
                  <a:srgbClr val="161613"/>
                </a:solidFill>
                <a:latin typeface="DM Sans" pitchFamily="34" charset="0"/>
                <a:ea typeface="DM Sans" pitchFamily="34" charset="-122"/>
                <a:cs typeface="DM Sans" pitchFamily="34" charset="-120"/>
              </a:rPr>
              <a:t>Fixed Size</a:t>
            </a:r>
            <a:endParaRPr lang="en-US" sz="2350" dirty="0"/>
          </a:p>
        </p:txBody>
      </p:sp>
      <p:sp>
        <p:nvSpPr>
          <p:cNvPr id="7" name="Text 4"/>
          <p:cNvSpPr/>
          <p:nvPr/>
        </p:nvSpPr>
        <p:spPr>
          <a:xfrm>
            <a:off x="7107674" y="2561034"/>
            <a:ext cx="6682026" cy="384334"/>
          </a:xfrm>
          <a:prstGeom prst="rect">
            <a:avLst/>
          </a:prstGeom>
          <a:noFill/>
          <a:ln/>
        </p:spPr>
        <p:txBody>
          <a:bodyPr wrap="none" lIns="0" tIns="0" rIns="0" bIns="0" rtlCol="0" anchor="t"/>
          <a:lstStyle/>
          <a:p>
            <a:pPr indent="0" marL="0">
              <a:lnSpc>
                <a:spcPts val="3000"/>
              </a:lnSpc>
              <a:buNone/>
            </a:pPr>
            <a:r>
              <a:rPr lang="en-US" sz="1850" dirty="0">
                <a:solidFill>
                  <a:srgbClr val="161613"/>
                </a:solidFill>
                <a:latin typeface="Inter" pitchFamily="34" charset="0"/>
                <a:ea typeface="Inter" pitchFamily="34" charset="-122"/>
                <a:cs typeface="Inter" pitchFamily="34" charset="-120"/>
              </a:rPr>
              <a:t>Size cannot be changed after creation for static arrays.</a:t>
            </a:r>
            <a:endParaRPr lang="en-US" sz="1850" dirty="0"/>
          </a:p>
        </p:txBody>
      </p:sp>
      <p:sp>
        <p:nvSpPr>
          <p:cNvPr id="8" name="Shape 5"/>
          <p:cNvSpPr/>
          <p:nvPr/>
        </p:nvSpPr>
        <p:spPr>
          <a:xfrm>
            <a:off x="6327100" y="3455670"/>
            <a:ext cx="540425" cy="540425"/>
          </a:xfrm>
          <a:prstGeom prst="roundRect">
            <a:avLst>
              <a:gd name="adj" fmla="val 6667"/>
            </a:avLst>
          </a:prstGeom>
          <a:solidFill>
            <a:srgbClr val="EDEBE3"/>
          </a:solidFill>
          <a:ln/>
        </p:spPr>
      </p:sp>
      <p:sp>
        <p:nvSpPr>
          <p:cNvPr id="9" name="Text 6"/>
          <p:cNvSpPr/>
          <p:nvPr/>
        </p:nvSpPr>
        <p:spPr>
          <a:xfrm>
            <a:off x="6493312" y="3545681"/>
            <a:ext cx="207883" cy="360283"/>
          </a:xfrm>
          <a:prstGeom prst="rect">
            <a:avLst/>
          </a:prstGeom>
          <a:noFill/>
          <a:ln/>
        </p:spPr>
        <p:txBody>
          <a:bodyPr wrap="none" lIns="0" tIns="0" rIns="0" bIns="0" rtlCol="0" anchor="t"/>
          <a:lstStyle/>
          <a:p>
            <a:pPr algn="ctr" indent="0" marL="0">
              <a:lnSpc>
                <a:spcPts val="2800"/>
              </a:lnSpc>
              <a:buNone/>
            </a:pPr>
            <a:r>
              <a:rPr lang="en-US" sz="2800" dirty="0">
                <a:solidFill>
                  <a:srgbClr val="161613"/>
                </a:solidFill>
                <a:latin typeface="DM Sans" pitchFamily="34" charset="0"/>
                <a:ea typeface="DM Sans" pitchFamily="34" charset="-122"/>
                <a:cs typeface="DM Sans" pitchFamily="34" charset="-120"/>
              </a:rPr>
              <a:t>2</a:t>
            </a:r>
            <a:endParaRPr lang="en-US" sz="2800" dirty="0"/>
          </a:p>
        </p:txBody>
      </p:sp>
      <p:sp>
        <p:nvSpPr>
          <p:cNvPr id="10" name="Text 7"/>
          <p:cNvSpPr/>
          <p:nvPr/>
        </p:nvSpPr>
        <p:spPr>
          <a:xfrm>
            <a:off x="7107674" y="3455670"/>
            <a:ext cx="3107888" cy="375285"/>
          </a:xfrm>
          <a:prstGeom prst="rect">
            <a:avLst/>
          </a:prstGeom>
          <a:noFill/>
          <a:ln/>
        </p:spPr>
        <p:txBody>
          <a:bodyPr wrap="none" lIns="0" tIns="0" rIns="0" bIns="0" rtlCol="0" anchor="t"/>
          <a:lstStyle/>
          <a:p>
            <a:pPr indent="0" marL="0">
              <a:lnSpc>
                <a:spcPts val="2950"/>
              </a:lnSpc>
              <a:buNone/>
            </a:pPr>
            <a:r>
              <a:rPr lang="en-US" sz="2350" dirty="0">
                <a:solidFill>
                  <a:srgbClr val="161613"/>
                </a:solidFill>
                <a:latin typeface="DM Sans" pitchFamily="34" charset="0"/>
                <a:ea typeface="DM Sans" pitchFamily="34" charset="-122"/>
                <a:cs typeface="DM Sans" pitchFamily="34" charset="-120"/>
              </a:rPr>
              <a:t>Insertion and Deletion</a:t>
            </a:r>
            <a:endParaRPr lang="en-US" sz="2350" dirty="0"/>
          </a:p>
        </p:txBody>
      </p:sp>
      <p:sp>
        <p:nvSpPr>
          <p:cNvPr id="11" name="Text 8"/>
          <p:cNvSpPr/>
          <p:nvPr/>
        </p:nvSpPr>
        <p:spPr>
          <a:xfrm>
            <a:off x="7107674" y="3975021"/>
            <a:ext cx="6682026" cy="768668"/>
          </a:xfrm>
          <a:prstGeom prst="rect">
            <a:avLst/>
          </a:prstGeom>
          <a:noFill/>
          <a:ln/>
        </p:spPr>
        <p:txBody>
          <a:bodyPr wrap="square" lIns="0" tIns="0" rIns="0" bIns="0" rtlCol="0" anchor="t"/>
          <a:lstStyle/>
          <a:p>
            <a:pPr indent="0" marL="0">
              <a:lnSpc>
                <a:spcPts val="3000"/>
              </a:lnSpc>
              <a:buNone/>
            </a:pPr>
            <a:r>
              <a:rPr lang="en-US" sz="1850" dirty="0">
                <a:solidFill>
                  <a:srgbClr val="161613"/>
                </a:solidFill>
                <a:latin typeface="Inter" pitchFamily="34" charset="0"/>
                <a:ea typeface="Inter" pitchFamily="34" charset="-122"/>
                <a:cs typeface="Inter" pitchFamily="34" charset="-120"/>
              </a:rPr>
              <a:t>These operations can be costly, especially for large arrays.</a:t>
            </a:r>
            <a:endParaRPr lang="en-US" sz="1850" dirty="0"/>
          </a:p>
        </p:txBody>
      </p:sp>
      <p:sp>
        <p:nvSpPr>
          <p:cNvPr id="12" name="Shape 9"/>
          <p:cNvSpPr/>
          <p:nvPr/>
        </p:nvSpPr>
        <p:spPr>
          <a:xfrm>
            <a:off x="6327100" y="5253990"/>
            <a:ext cx="540425" cy="540425"/>
          </a:xfrm>
          <a:prstGeom prst="roundRect">
            <a:avLst>
              <a:gd name="adj" fmla="val 6667"/>
            </a:avLst>
          </a:prstGeom>
          <a:solidFill>
            <a:srgbClr val="EDEBE3"/>
          </a:solidFill>
          <a:ln/>
        </p:spPr>
      </p:sp>
      <p:sp>
        <p:nvSpPr>
          <p:cNvPr id="13" name="Text 10"/>
          <p:cNvSpPr/>
          <p:nvPr/>
        </p:nvSpPr>
        <p:spPr>
          <a:xfrm>
            <a:off x="6490335" y="5344001"/>
            <a:ext cx="213955" cy="360283"/>
          </a:xfrm>
          <a:prstGeom prst="rect">
            <a:avLst/>
          </a:prstGeom>
          <a:noFill/>
          <a:ln/>
        </p:spPr>
        <p:txBody>
          <a:bodyPr wrap="none" lIns="0" tIns="0" rIns="0" bIns="0" rtlCol="0" anchor="t"/>
          <a:lstStyle/>
          <a:p>
            <a:pPr algn="ctr" indent="0" marL="0">
              <a:lnSpc>
                <a:spcPts val="2800"/>
              </a:lnSpc>
              <a:buNone/>
            </a:pPr>
            <a:r>
              <a:rPr lang="en-US" sz="2800" dirty="0">
                <a:solidFill>
                  <a:srgbClr val="161613"/>
                </a:solidFill>
                <a:latin typeface="DM Sans" pitchFamily="34" charset="0"/>
                <a:ea typeface="DM Sans" pitchFamily="34" charset="-122"/>
                <a:cs typeface="DM Sans" pitchFamily="34" charset="-120"/>
              </a:rPr>
              <a:t>3</a:t>
            </a:r>
            <a:endParaRPr lang="en-US" sz="2800" dirty="0"/>
          </a:p>
        </p:txBody>
      </p:sp>
      <p:sp>
        <p:nvSpPr>
          <p:cNvPr id="14" name="Text 11"/>
          <p:cNvSpPr/>
          <p:nvPr/>
        </p:nvSpPr>
        <p:spPr>
          <a:xfrm>
            <a:off x="7107674" y="5253990"/>
            <a:ext cx="3420666" cy="375285"/>
          </a:xfrm>
          <a:prstGeom prst="rect">
            <a:avLst/>
          </a:prstGeom>
          <a:noFill/>
          <a:ln/>
        </p:spPr>
        <p:txBody>
          <a:bodyPr wrap="none" lIns="0" tIns="0" rIns="0" bIns="0" rtlCol="0" anchor="t"/>
          <a:lstStyle/>
          <a:p>
            <a:pPr indent="0" marL="0">
              <a:lnSpc>
                <a:spcPts val="2950"/>
              </a:lnSpc>
              <a:buNone/>
            </a:pPr>
            <a:r>
              <a:rPr lang="en-US" sz="2350" dirty="0">
                <a:solidFill>
                  <a:srgbClr val="161613"/>
                </a:solidFill>
                <a:latin typeface="DM Sans" pitchFamily="34" charset="0"/>
                <a:ea typeface="DM Sans" pitchFamily="34" charset="-122"/>
                <a:cs typeface="DM Sans" pitchFamily="34" charset="-120"/>
              </a:rPr>
              <a:t>Homogeneous Elements</a:t>
            </a:r>
            <a:endParaRPr lang="en-US" sz="2350" dirty="0"/>
          </a:p>
        </p:txBody>
      </p:sp>
      <p:sp>
        <p:nvSpPr>
          <p:cNvPr id="15" name="Text 12"/>
          <p:cNvSpPr/>
          <p:nvPr/>
        </p:nvSpPr>
        <p:spPr>
          <a:xfrm>
            <a:off x="7107674" y="5773341"/>
            <a:ext cx="6682026" cy="384334"/>
          </a:xfrm>
          <a:prstGeom prst="rect">
            <a:avLst/>
          </a:prstGeom>
          <a:noFill/>
          <a:ln/>
        </p:spPr>
        <p:txBody>
          <a:bodyPr wrap="none" lIns="0" tIns="0" rIns="0" bIns="0" rtlCol="0" anchor="t"/>
          <a:lstStyle/>
          <a:p>
            <a:pPr indent="0" marL="0">
              <a:lnSpc>
                <a:spcPts val="3000"/>
              </a:lnSpc>
              <a:buNone/>
            </a:pPr>
            <a:r>
              <a:rPr lang="en-US" sz="1850" dirty="0">
                <a:solidFill>
                  <a:srgbClr val="161613"/>
                </a:solidFill>
                <a:latin typeface="Inter" pitchFamily="34" charset="0"/>
                <a:ea typeface="Inter" pitchFamily="34" charset="-122"/>
                <a:cs typeface="Inter" pitchFamily="34" charset="-120"/>
              </a:rPr>
              <a:t>Arrays can only store elements of the same data type.</a:t>
            </a:r>
            <a:endParaRPr lang="en-US" sz="1850" dirty="0"/>
          </a:p>
        </p:txBody>
      </p:sp>
      <p:sp>
        <p:nvSpPr>
          <p:cNvPr id="16" name="Shape 13"/>
          <p:cNvSpPr/>
          <p:nvPr/>
        </p:nvSpPr>
        <p:spPr>
          <a:xfrm>
            <a:off x="6327100" y="6667976"/>
            <a:ext cx="540425" cy="540425"/>
          </a:xfrm>
          <a:prstGeom prst="roundRect">
            <a:avLst>
              <a:gd name="adj" fmla="val 6667"/>
            </a:avLst>
          </a:prstGeom>
          <a:solidFill>
            <a:srgbClr val="EDEBE3"/>
          </a:solidFill>
          <a:ln/>
        </p:spPr>
      </p:sp>
      <p:sp>
        <p:nvSpPr>
          <p:cNvPr id="17" name="Text 14"/>
          <p:cNvSpPr/>
          <p:nvPr/>
        </p:nvSpPr>
        <p:spPr>
          <a:xfrm>
            <a:off x="6485453" y="6757988"/>
            <a:ext cx="223718" cy="360283"/>
          </a:xfrm>
          <a:prstGeom prst="rect">
            <a:avLst/>
          </a:prstGeom>
          <a:noFill/>
          <a:ln/>
        </p:spPr>
        <p:txBody>
          <a:bodyPr wrap="none" lIns="0" tIns="0" rIns="0" bIns="0" rtlCol="0" anchor="t"/>
          <a:lstStyle/>
          <a:p>
            <a:pPr algn="ctr" indent="0" marL="0">
              <a:lnSpc>
                <a:spcPts val="2800"/>
              </a:lnSpc>
              <a:buNone/>
            </a:pPr>
            <a:r>
              <a:rPr lang="en-US" sz="2800" dirty="0">
                <a:solidFill>
                  <a:srgbClr val="161613"/>
                </a:solidFill>
                <a:latin typeface="DM Sans" pitchFamily="34" charset="0"/>
                <a:ea typeface="DM Sans" pitchFamily="34" charset="-122"/>
                <a:cs typeface="DM Sans" pitchFamily="34" charset="-120"/>
              </a:rPr>
              <a:t>4</a:t>
            </a:r>
            <a:endParaRPr lang="en-US" sz="2800" dirty="0"/>
          </a:p>
        </p:txBody>
      </p:sp>
      <p:sp>
        <p:nvSpPr>
          <p:cNvPr id="18" name="Text 15"/>
          <p:cNvSpPr/>
          <p:nvPr/>
        </p:nvSpPr>
        <p:spPr>
          <a:xfrm>
            <a:off x="7107674" y="6667976"/>
            <a:ext cx="3002637" cy="375285"/>
          </a:xfrm>
          <a:prstGeom prst="rect">
            <a:avLst/>
          </a:prstGeom>
          <a:noFill/>
          <a:ln/>
        </p:spPr>
        <p:txBody>
          <a:bodyPr wrap="none" lIns="0" tIns="0" rIns="0" bIns="0" rtlCol="0" anchor="t"/>
          <a:lstStyle/>
          <a:p>
            <a:pPr indent="0" marL="0">
              <a:lnSpc>
                <a:spcPts val="2950"/>
              </a:lnSpc>
              <a:buNone/>
            </a:pPr>
            <a:r>
              <a:rPr lang="en-US" sz="2350" dirty="0">
                <a:solidFill>
                  <a:srgbClr val="161613"/>
                </a:solidFill>
                <a:latin typeface="DM Sans" pitchFamily="34" charset="0"/>
                <a:ea typeface="DM Sans" pitchFamily="34" charset="-122"/>
                <a:cs typeface="DM Sans" pitchFamily="34" charset="-120"/>
              </a:rPr>
              <a:t>Memory Waste</a:t>
            </a:r>
            <a:endParaRPr lang="en-US" sz="2350" dirty="0"/>
          </a:p>
        </p:txBody>
      </p:sp>
      <p:sp>
        <p:nvSpPr>
          <p:cNvPr id="19" name="Text 16"/>
          <p:cNvSpPr/>
          <p:nvPr/>
        </p:nvSpPr>
        <p:spPr>
          <a:xfrm>
            <a:off x="7107674" y="7187327"/>
            <a:ext cx="6682026" cy="384334"/>
          </a:xfrm>
          <a:prstGeom prst="rect">
            <a:avLst/>
          </a:prstGeom>
          <a:noFill/>
          <a:ln/>
        </p:spPr>
        <p:txBody>
          <a:bodyPr wrap="none" lIns="0" tIns="0" rIns="0" bIns="0" rtlCol="0" anchor="t"/>
          <a:lstStyle/>
          <a:p>
            <a:pPr indent="0" marL="0">
              <a:lnSpc>
                <a:spcPts val="3000"/>
              </a:lnSpc>
              <a:buNone/>
            </a:pPr>
            <a:r>
              <a:rPr lang="en-US" sz="1850" dirty="0">
                <a:solidFill>
                  <a:srgbClr val="161613"/>
                </a:solidFill>
                <a:latin typeface="Inter" pitchFamily="34" charset="0"/>
                <a:ea typeface="Inter" pitchFamily="34" charset="-122"/>
                <a:cs typeface="Inter" pitchFamily="34" charset="-120"/>
              </a:rPr>
              <a:t>Memory may be wasted if the array is not fully utilized.</a:t>
            </a:r>
            <a:endParaRPr lang="en-US" sz="1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5900" y="598527"/>
            <a:ext cx="5649635" cy="678180"/>
          </a:xfrm>
          <a:prstGeom prst="rect">
            <a:avLst/>
          </a:prstGeom>
          <a:noFill/>
          <a:ln/>
        </p:spPr>
        <p:txBody>
          <a:bodyPr wrap="none" lIns="0" tIns="0" rIns="0" bIns="0" rtlCol="0" anchor="t"/>
          <a:lstStyle/>
          <a:p>
            <a:pPr indent="0" marL="0">
              <a:lnSpc>
                <a:spcPts val="5300"/>
              </a:lnSpc>
              <a:buNone/>
            </a:pPr>
            <a:r>
              <a:rPr lang="en-US" sz="4250" dirty="0">
                <a:solidFill>
                  <a:srgbClr val="161613"/>
                </a:solidFill>
                <a:latin typeface="DM Sans" pitchFamily="34" charset="0"/>
                <a:ea typeface="DM Sans" pitchFamily="34" charset="-122"/>
                <a:cs typeface="DM Sans" pitchFamily="34" charset="-120"/>
              </a:rPr>
              <a:t>Applications of Arrays</a:t>
            </a:r>
            <a:endParaRPr lang="en-US" sz="4250" dirty="0"/>
          </a:p>
        </p:txBody>
      </p:sp>
      <p:pic>
        <p:nvPicPr>
          <p:cNvPr id="4" name="Image 1" descr="preencoded.png">    </p:cNvPr>
          <p:cNvPicPr>
            <a:picLocks noChangeAspect="1"/>
          </p:cNvPicPr>
          <p:nvPr/>
        </p:nvPicPr>
        <p:blipFill>
          <a:blip r:embed="rId2"/>
          <a:stretch>
            <a:fillRect/>
          </a:stretch>
        </p:blipFill>
        <p:spPr>
          <a:xfrm>
            <a:off x="6245900" y="1602105"/>
            <a:ext cx="542449" cy="542449"/>
          </a:xfrm>
          <a:prstGeom prst="rect">
            <a:avLst/>
          </a:prstGeom>
        </p:spPr>
      </p:pic>
      <p:sp>
        <p:nvSpPr>
          <p:cNvPr id="5" name="Text 1"/>
          <p:cNvSpPr/>
          <p:nvPr/>
        </p:nvSpPr>
        <p:spPr>
          <a:xfrm>
            <a:off x="6245900" y="2361486"/>
            <a:ext cx="2712482" cy="338971"/>
          </a:xfrm>
          <a:prstGeom prst="rect">
            <a:avLst/>
          </a:prstGeom>
          <a:noFill/>
          <a:ln/>
        </p:spPr>
        <p:txBody>
          <a:bodyPr wrap="none" lIns="0" tIns="0" rIns="0" bIns="0" rtlCol="0" anchor="t"/>
          <a:lstStyle/>
          <a:p>
            <a:pPr algn="l" indent="0" marL="0">
              <a:lnSpc>
                <a:spcPts val="2650"/>
              </a:lnSpc>
              <a:buNone/>
            </a:pPr>
            <a:r>
              <a:rPr lang="en-US" sz="2100" dirty="0">
                <a:solidFill>
                  <a:srgbClr val="161613"/>
                </a:solidFill>
                <a:latin typeface="DM Sans" pitchFamily="34" charset="0"/>
                <a:ea typeface="DM Sans" pitchFamily="34" charset="-122"/>
                <a:cs typeface="DM Sans" pitchFamily="34" charset="-120"/>
              </a:rPr>
              <a:t>Database Records</a:t>
            </a:r>
            <a:endParaRPr lang="en-US" sz="2100" dirty="0"/>
          </a:p>
        </p:txBody>
      </p:sp>
      <p:sp>
        <p:nvSpPr>
          <p:cNvPr id="6" name="Text 2"/>
          <p:cNvSpPr/>
          <p:nvPr/>
        </p:nvSpPr>
        <p:spPr>
          <a:xfrm>
            <a:off x="6245900" y="2830592"/>
            <a:ext cx="7625001" cy="347186"/>
          </a:xfrm>
          <a:prstGeom prst="rect">
            <a:avLst/>
          </a:prstGeom>
          <a:noFill/>
          <a:ln/>
        </p:spPr>
        <p:txBody>
          <a:bodyPr wrap="none" lIns="0" tIns="0" rIns="0" bIns="0" rtlCol="0" anchor="t"/>
          <a:lstStyle/>
          <a:p>
            <a:pPr algn="l" indent="0" marL="0">
              <a:lnSpc>
                <a:spcPts val="2700"/>
              </a:lnSpc>
              <a:buNone/>
            </a:pPr>
            <a:r>
              <a:rPr lang="en-US" sz="1700" dirty="0">
                <a:solidFill>
                  <a:srgbClr val="161613"/>
                </a:solidFill>
                <a:latin typeface="Inter" pitchFamily="34" charset="0"/>
                <a:ea typeface="Inter" pitchFamily="34" charset="-122"/>
                <a:cs typeface="Inter" pitchFamily="34" charset="-120"/>
              </a:rPr>
              <a:t>Arrays are used to implement database records.</a:t>
            </a:r>
            <a:endParaRPr lang="en-US" sz="1700" dirty="0"/>
          </a:p>
        </p:txBody>
      </p:sp>
      <p:pic>
        <p:nvPicPr>
          <p:cNvPr id="7" name="Image 2" descr="preencoded.png">    </p:cNvPr>
          <p:cNvPicPr>
            <a:picLocks noChangeAspect="1"/>
          </p:cNvPicPr>
          <p:nvPr/>
        </p:nvPicPr>
        <p:blipFill>
          <a:blip r:embed="rId3"/>
          <a:stretch>
            <a:fillRect/>
          </a:stretch>
        </p:blipFill>
        <p:spPr>
          <a:xfrm>
            <a:off x="6245900" y="3828693"/>
            <a:ext cx="542449" cy="542449"/>
          </a:xfrm>
          <a:prstGeom prst="rect">
            <a:avLst/>
          </a:prstGeom>
        </p:spPr>
      </p:pic>
      <p:sp>
        <p:nvSpPr>
          <p:cNvPr id="8" name="Text 3"/>
          <p:cNvSpPr/>
          <p:nvPr/>
        </p:nvSpPr>
        <p:spPr>
          <a:xfrm>
            <a:off x="6245900" y="4588073"/>
            <a:ext cx="2712482" cy="338971"/>
          </a:xfrm>
          <a:prstGeom prst="rect">
            <a:avLst/>
          </a:prstGeom>
          <a:noFill/>
          <a:ln/>
        </p:spPr>
        <p:txBody>
          <a:bodyPr wrap="none" lIns="0" tIns="0" rIns="0" bIns="0" rtlCol="0" anchor="t"/>
          <a:lstStyle/>
          <a:p>
            <a:pPr algn="l" indent="0" marL="0">
              <a:lnSpc>
                <a:spcPts val="2650"/>
              </a:lnSpc>
              <a:buNone/>
            </a:pPr>
            <a:r>
              <a:rPr lang="en-US" sz="2100" dirty="0">
                <a:solidFill>
                  <a:srgbClr val="161613"/>
                </a:solidFill>
                <a:latin typeface="DM Sans" pitchFamily="34" charset="0"/>
                <a:ea typeface="DM Sans" pitchFamily="34" charset="-122"/>
                <a:cs typeface="DM Sans" pitchFamily="34" charset="-120"/>
              </a:rPr>
              <a:t>Lookup Tables</a:t>
            </a:r>
            <a:endParaRPr lang="en-US" sz="2100" dirty="0"/>
          </a:p>
        </p:txBody>
      </p:sp>
      <p:sp>
        <p:nvSpPr>
          <p:cNvPr id="9" name="Text 4"/>
          <p:cNvSpPr/>
          <p:nvPr/>
        </p:nvSpPr>
        <p:spPr>
          <a:xfrm>
            <a:off x="6245900" y="5057180"/>
            <a:ext cx="7625001" cy="347186"/>
          </a:xfrm>
          <a:prstGeom prst="rect">
            <a:avLst/>
          </a:prstGeom>
          <a:noFill/>
          <a:ln/>
        </p:spPr>
        <p:txBody>
          <a:bodyPr wrap="none" lIns="0" tIns="0" rIns="0" bIns="0" rtlCol="0" anchor="t"/>
          <a:lstStyle/>
          <a:p>
            <a:pPr algn="l" indent="0" marL="0">
              <a:lnSpc>
                <a:spcPts val="2700"/>
              </a:lnSpc>
              <a:buNone/>
            </a:pPr>
            <a:r>
              <a:rPr lang="en-US" sz="1700" dirty="0">
                <a:solidFill>
                  <a:srgbClr val="161613"/>
                </a:solidFill>
                <a:latin typeface="Inter" pitchFamily="34" charset="0"/>
                <a:ea typeface="Inter" pitchFamily="34" charset="-122"/>
                <a:cs typeface="Inter" pitchFamily="34" charset="-120"/>
              </a:rPr>
              <a:t>Arrays are used in computer lookup tables.</a:t>
            </a:r>
            <a:endParaRPr lang="en-US" sz="1700" dirty="0"/>
          </a:p>
        </p:txBody>
      </p:sp>
      <p:pic>
        <p:nvPicPr>
          <p:cNvPr id="10" name="Image 3" descr="preencoded.png">    </p:cNvPr>
          <p:cNvPicPr>
            <a:picLocks noChangeAspect="1"/>
          </p:cNvPicPr>
          <p:nvPr/>
        </p:nvPicPr>
        <p:blipFill>
          <a:blip r:embed="rId4"/>
          <a:stretch>
            <a:fillRect/>
          </a:stretch>
        </p:blipFill>
        <p:spPr>
          <a:xfrm>
            <a:off x="6245900" y="6055281"/>
            <a:ext cx="542449" cy="542449"/>
          </a:xfrm>
          <a:prstGeom prst="rect">
            <a:avLst/>
          </a:prstGeom>
        </p:spPr>
      </p:pic>
      <p:sp>
        <p:nvSpPr>
          <p:cNvPr id="11" name="Text 5"/>
          <p:cNvSpPr/>
          <p:nvPr/>
        </p:nvSpPr>
        <p:spPr>
          <a:xfrm>
            <a:off x="6245900" y="6814661"/>
            <a:ext cx="2826544" cy="338971"/>
          </a:xfrm>
          <a:prstGeom prst="rect">
            <a:avLst/>
          </a:prstGeom>
          <a:noFill/>
          <a:ln/>
        </p:spPr>
        <p:txBody>
          <a:bodyPr wrap="none" lIns="0" tIns="0" rIns="0" bIns="0" rtlCol="0" anchor="t"/>
          <a:lstStyle/>
          <a:p>
            <a:pPr algn="l" indent="0" marL="0">
              <a:lnSpc>
                <a:spcPts val="2650"/>
              </a:lnSpc>
              <a:buNone/>
            </a:pPr>
            <a:r>
              <a:rPr lang="en-US" sz="2100" dirty="0">
                <a:solidFill>
                  <a:srgbClr val="161613"/>
                </a:solidFill>
                <a:latin typeface="DM Sans" pitchFamily="34" charset="0"/>
                <a:ea typeface="DM Sans" pitchFamily="34" charset="-122"/>
                <a:cs typeface="DM Sans" pitchFamily="34" charset="-120"/>
              </a:rPr>
              <a:t>Other Data Structures</a:t>
            </a:r>
            <a:endParaRPr lang="en-US" sz="2100" dirty="0"/>
          </a:p>
        </p:txBody>
      </p:sp>
      <p:sp>
        <p:nvSpPr>
          <p:cNvPr id="12" name="Text 6"/>
          <p:cNvSpPr/>
          <p:nvPr/>
        </p:nvSpPr>
        <p:spPr>
          <a:xfrm>
            <a:off x="6245900" y="7283768"/>
            <a:ext cx="7625001" cy="347186"/>
          </a:xfrm>
          <a:prstGeom prst="rect">
            <a:avLst/>
          </a:prstGeom>
          <a:noFill/>
          <a:ln/>
        </p:spPr>
        <p:txBody>
          <a:bodyPr wrap="none" lIns="0" tIns="0" rIns="0" bIns="0" rtlCol="0" anchor="t"/>
          <a:lstStyle/>
          <a:p>
            <a:pPr algn="l" indent="0" marL="0">
              <a:lnSpc>
                <a:spcPts val="2700"/>
              </a:lnSpc>
              <a:buNone/>
            </a:pPr>
            <a:r>
              <a:rPr lang="en-US" sz="1700" dirty="0">
                <a:solidFill>
                  <a:srgbClr val="161613"/>
                </a:solidFill>
                <a:latin typeface="Inter" pitchFamily="34" charset="0"/>
                <a:ea typeface="Inter" pitchFamily="34" charset="-122"/>
                <a:cs typeface="Inter" pitchFamily="34" charset="-120"/>
              </a:rPr>
              <a:t>Arrays are used to implement other data structures.</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01291" y="1004173"/>
            <a:ext cx="7364849" cy="715566"/>
          </a:xfrm>
          <a:prstGeom prst="rect">
            <a:avLst/>
          </a:prstGeom>
          <a:noFill/>
          <a:ln/>
        </p:spPr>
        <p:txBody>
          <a:bodyPr wrap="none" lIns="0" tIns="0" rIns="0" bIns="0" rtlCol="0" anchor="t"/>
          <a:lstStyle/>
          <a:p>
            <a:pPr indent="0" marL="0">
              <a:lnSpc>
                <a:spcPts val="5600"/>
              </a:lnSpc>
              <a:buNone/>
            </a:pPr>
            <a:r>
              <a:rPr lang="en-US" sz="4500" dirty="0">
                <a:solidFill>
                  <a:srgbClr val="161613"/>
                </a:solidFill>
                <a:latin typeface="DM Sans" pitchFamily="34" charset="0"/>
                <a:ea typeface="DM Sans" pitchFamily="34" charset="-122"/>
                <a:cs typeface="DM Sans" pitchFamily="34" charset="-120"/>
              </a:rPr>
              <a:t>Interview Questions: Arrays</a:t>
            </a:r>
            <a:endParaRPr lang="en-US" sz="4500" dirty="0"/>
          </a:p>
        </p:txBody>
      </p:sp>
      <p:sp>
        <p:nvSpPr>
          <p:cNvPr id="4" name="Shape 1"/>
          <p:cNvSpPr/>
          <p:nvPr/>
        </p:nvSpPr>
        <p:spPr>
          <a:xfrm>
            <a:off x="801291" y="2320647"/>
            <a:ext cx="515064" cy="515064"/>
          </a:xfrm>
          <a:prstGeom prst="roundRect">
            <a:avLst>
              <a:gd name="adj" fmla="val 6668"/>
            </a:avLst>
          </a:prstGeom>
          <a:solidFill>
            <a:srgbClr val="EDEBE3"/>
          </a:solidFill>
          <a:ln/>
        </p:spPr>
      </p:sp>
      <p:sp>
        <p:nvSpPr>
          <p:cNvPr id="5" name="Text 2"/>
          <p:cNvSpPr/>
          <p:nvPr/>
        </p:nvSpPr>
        <p:spPr>
          <a:xfrm>
            <a:off x="1002506" y="2406372"/>
            <a:ext cx="112633" cy="343495"/>
          </a:xfrm>
          <a:prstGeom prst="rect">
            <a:avLst/>
          </a:prstGeom>
          <a:noFill/>
          <a:ln/>
        </p:spPr>
        <p:txBody>
          <a:bodyPr wrap="none" lIns="0" tIns="0" rIns="0" bIns="0" rtlCol="0" anchor="t"/>
          <a:lstStyle/>
          <a:p>
            <a:pPr algn="ctr" indent="0" marL="0">
              <a:lnSpc>
                <a:spcPts val="2700"/>
              </a:lnSpc>
              <a:buNone/>
            </a:pPr>
            <a:r>
              <a:rPr lang="en-US" sz="2700" dirty="0">
                <a:solidFill>
                  <a:srgbClr val="161613"/>
                </a:solidFill>
                <a:latin typeface="DM Sans" pitchFamily="34" charset="0"/>
                <a:ea typeface="DM Sans" pitchFamily="34" charset="-122"/>
                <a:cs typeface="DM Sans" pitchFamily="34" charset="-120"/>
              </a:rPr>
              <a:t>1</a:t>
            </a:r>
            <a:endParaRPr lang="en-US" sz="2700" dirty="0"/>
          </a:p>
        </p:txBody>
      </p:sp>
      <p:sp>
        <p:nvSpPr>
          <p:cNvPr id="6" name="Text 3"/>
          <p:cNvSpPr/>
          <p:nvPr/>
        </p:nvSpPr>
        <p:spPr>
          <a:xfrm>
            <a:off x="1545312" y="2320647"/>
            <a:ext cx="2862024" cy="357783"/>
          </a:xfrm>
          <a:prstGeom prst="rect">
            <a:avLst/>
          </a:prstGeom>
          <a:noFill/>
          <a:ln/>
        </p:spPr>
        <p:txBody>
          <a:bodyPr wrap="none" lIns="0" tIns="0" rIns="0" bIns="0" rtlCol="0" anchor="t"/>
          <a:lstStyle/>
          <a:p>
            <a:pPr indent="0" marL="0">
              <a:lnSpc>
                <a:spcPts val="2800"/>
              </a:lnSpc>
              <a:buNone/>
            </a:pPr>
            <a:r>
              <a:rPr lang="en-US" sz="2250" dirty="0">
                <a:solidFill>
                  <a:srgbClr val="161613"/>
                </a:solidFill>
                <a:latin typeface="DM Sans" pitchFamily="34" charset="0"/>
                <a:ea typeface="DM Sans" pitchFamily="34" charset="-122"/>
                <a:cs typeface="DM Sans" pitchFamily="34" charset="-120"/>
              </a:rPr>
              <a:t>Reversing an Array</a:t>
            </a:r>
            <a:endParaRPr lang="en-US" sz="2250" dirty="0"/>
          </a:p>
        </p:txBody>
      </p:sp>
      <p:sp>
        <p:nvSpPr>
          <p:cNvPr id="7" name="Text 4"/>
          <p:cNvSpPr/>
          <p:nvPr/>
        </p:nvSpPr>
        <p:spPr>
          <a:xfrm>
            <a:off x="1545312" y="2815709"/>
            <a:ext cx="6797397" cy="366236"/>
          </a:xfrm>
          <a:prstGeom prst="rect">
            <a:avLst/>
          </a:prstGeom>
          <a:noFill/>
          <a:ln/>
        </p:spPr>
        <p:txBody>
          <a:bodyPr wrap="none" lIns="0" tIns="0" rIns="0" bIns="0" rtlCol="0" anchor="t"/>
          <a:lstStyle/>
          <a:p>
            <a:pPr indent="0" marL="0">
              <a:lnSpc>
                <a:spcPts val="2850"/>
              </a:lnSpc>
              <a:buNone/>
            </a:pPr>
            <a:r>
              <a:rPr lang="en-US" sz="1800" dirty="0">
                <a:solidFill>
                  <a:srgbClr val="161613"/>
                </a:solidFill>
                <a:latin typeface="Inter" pitchFamily="34" charset="0"/>
                <a:ea typeface="Inter" pitchFamily="34" charset="-122"/>
                <a:cs typeface="Inter" pitchFamily="34" charset="-120"/>
              </a:rPr>
              <a:t>Implement a function to reverse the elements of an array.</a:t>
            </a:r>
            <a:endParaRPr lang="en-US" sz="1800" dirty="0"/>
          </a:p>
        </p:txBody>
      </p:sp>
      <p:sp>
        <p:nvSpPr>
          <p:cNvPr id="8" name="Shape 5"/>
          <p:cNvSpPr/>
          <p:nvPr/>
        </p:nvSpPr>
        <p:spPr>
          <a:xfrm>
            <a:off x="801291" y="3668435"/>
            <a:ext cx="515064" cy="515064"/>
          </a:xfrm>
          <a:prstGeom prst="roundRect">
            <a:avLst>
              <a:gd name="adj" fmla="val 6668"/>
            </a:avLst>
          </a:prstGeom>
          <a:solidFill>
            <a:srgbClr val="EDEBE3"/>
          </a:solidFill>
          <a:ln/>
        </p:spPr>
      </p:sp>
      <p:sp>
        <p:nvSpPr>
          <p:cNvPr id="9" name="Text 6"/>
          <p:cNvSpPr/>
          <p:nvPr/>
        </p:nvSpPr>
        <p:spPr>
          <a:xfrm>
            <a:off x="959644" y="3754160"/>
            <a:ext cx="198239" cy="343495"/>
          </a:xfrm>
          <a:prstGeom prst="rect">
            <a:avLst/>
          </a:prstGeom>
          <a:noFill/>
          <a:ln/>
        </p:spPr>
        <p:txBody>
          <a:bodyPr wrap="none" lIns="0" tIns="0" rIns="0" bIns="0" rtlCol="0" anchor="t"/>
          <a:lstStyle/>
          <a:p>
            <a:pPr algn="ctr" indent="0" marL="0">
              <a:lnSpc>
                <a:spcPts val="2700"/>
              </a:lnSpc>
              <a:buNone/>
            </a:pPr>
            <a:r>
              <a:rPr lang="en-US" sz="2700" dirty="0">
                <a:solidFill>
                  <a:srgbClr val="161613"/>
                </a:solidFill>
                <a:latin typeface="DM Sans" pitchFamily="34" charset="0"/>
                <a:ea typeface="DM Sans" pitchFamily="34" charset="-122"/>
                <a:cs typeface="DM Sans" pitchFamily="34" charset="-120"/>
              </a:rPr>
              <a:t>2</a:t>
            </a:r>
            <a:endParaRPr lang="en-US" sz="2700" dirty="0"/>
          </a:p>
        </p:txBody>
      </p:sp>
      <p:sp>
        <p:nvSpPr>
          <p:cNvPr id="10" name="Text 7"/>
          <p:cNvSpPr/>
          <p:nvPr/>
        </p:nvSpPr>
        <p:spPr>
          <a:xfrm>
            <a:off x="1545312" y="3668435"/>
            <a:ext cx="2862024" cy="357783"/>
          </a:xfrm>
          <a:prstGeom prst="rect">
            <a:avLst/>
          </a:prstGeom>
          <a:noFill/>
          <a:ln/>
        </p:spPr>
        <p:txBody>
          <a:bodyPr wrap="none" lIns="0" tIns="0" rIns="0" bIns="0" rtlCol="0" anchor="t"/>
          <a:lstStyle/>
          <a:p>
            <a:pPr indent="0" marL="0">
              <a:lnSpc>
                <a:spcPts val="2800"/>
              </a:lnSpc>
              <a:buNone/>
            </a:pPr>
            <a:r>
              <a:rPr lang="en-US" sz="2250" dirty="0">
                <a:solidFill>
                  <a:srgbClr val="161613"/>
                </a:solidFill>
                <a:latin typeface="DM Sans" pitchFamily="34" charset="0"/>
                <a:ea typeface="DM Sans" pitchFamily="34" charset="-122"/>
                <a:cs typeface="DM Sans" pitchFamily="34" charset="-120"/>
              </a:rPr>
              <a:t>Finding Duplicates</a:t>
            </a:r>
            <a:endParaRPr lang="en-US" sz="2250" dirty="0"/>
          </a:p>
        </p:txBody>
      </p:sp>
      <p:sp>
        <p:nvSpPr>
          <p:cNvPr id="11" name="Text 8"/>
          <p:cNvSpPr/>
          <p:nvPr/>
        </p:nvSpPr>
        <p:spPr>
          <a:xfrm>
            <a:off x="1545312" y="4163497"/>
            <a:ext cx="6797397" cy="366236"/>
          </a:xfrm>
          <a:prstGeom prst="rect">
            <a:avLst/>
          </a:prstGeom>
          <a:noFill/>
          <a:ln/>
        </p:spPr>
        <p:txBody>
          <a:bodyPr wrap="none" lIns="0" tIns="0" rIns="0" bIns="0" rtlCol="0" anchor="t"/>
          <a:lstStyle/>
          <a:p>
            <a:pPr indent="0" marL="0">
              <a:lnSpc>
                <a:spcPts val="2850"/>
              </a:lnSpc>
              <a:buNone/>
            </a:pPr>
            <a:r>
              <a:rPr lang="en-US" sz="1800" dirty="0">
                <a:solidFill>
                  <a:srgbClr val="161613"/>
                </a:solidFill>
                <a:latin typeface="Inter" pitchFamily="34" charset="0"/>
                <a:ea typeface="Inter" pitchFamily="34" charset="-122"/>
                <a:cs typeface="Inter" pitchFamily="34" charset="-120"/>
              </a:rPr>
              <a:t>Write a program to find duplicate elements in an array.</a:t>
            </a:r>
            <a:endParaRPr lang="en-US" sz="1800" dirty="0"/>
          </a:p>
        </p:txBody>
      </p:sp>
      <p:sp>
        <p:nvSpPr>
          <p:cNvPr id="12" name="Shape 9"/>
          <p:cNvSpPr/>
          <p:nvPr/>
        </p:nvSpPr>
        <p:spPr>
          <a:xfrm>
            <a:off x="801291" y="5016222"/>
            <a:ext cx="515064" cy="515064"/>
          </a:xfrm>
          <a:prstGeom prst="roundRect">
            <a:avLst>
              <a:gd name="adj" fmla="val 6668"/>
            </a:avLst>
          </a:prstGeom>
          <a:solidFill>
            <a:srgbClr val="EDEBE3"/>
          </a:solidFill>
          <a:ln/>
        </p:spPr>
      </p:sp>
      <p:sp>
        <p:nvSpPr>
          <p:cNvPr id="13" name="Text 10"/>
          <p:cNvSpPr/>
          <p:nvPr/>
        </p:nvSpPr>
        <p:spPr>
          <a:xfrm>
            <a:off x="956786" y="5101947"/>
            <a:ext cx="204073" cy="343495"/>
          </a:xfrm>
          <a:prstGeom prst="rect">
            <a:avLst/>
          </a:prstGeom>
          <a:noFill/>
          <a:ln/>
        </p:spPr>
        <p:txBody>
          <a:bodyPr wrap="none" lIns="0" tIns="0" rIns="0" bIns="0" rtlCol="0" anchor="t"/>
          <a:lstStyle/>
          <a:p>
            <a:pPr algn="ctr" indent="0" marL="0">
              <a:lnSpc>
                <a:spcPts val="2700"/>
              </a:lnSpc>
              <a:buNone/>
            </a:pPr>
            <a:r>
              <a:rPr lang="en-US" sz="2700" dirty="0">
                <a:solidFill>
                  <a:srgbClr val="161613"/>
                </a:solidFill>
                <a:latin typeface="DM Sans" pitchFamily="34" charset="0"/>
                <a:ea typeface="DM Sans" pitchFamily="34" charset="-122"/>
                <a:cs typeface="DM Sans" pitchFamily="34" charset="-120"/>
              </a:rPr>
              <a:t>3</a:t>
            </a:r>
            <a:endParaRPr lang="en-US" sz="2700" dirty="0"/>
          </a:p>
        </p:txBody>
      </p:sp>
      <p:sp>
        <p:nvSpPr>
          <p:cNvPr id="14" name="Text 11"/>
          <p:cNvSpPr/>
          <p:nvPr/>
        </p:nvSpPr>
        <p:spPr>
          <a:xfrm>
            <a:off x="1545312" y="5016222"/>
            <a:ext cx="2862024" cy="357783"/>
          </a:xfrm>
          <a:prstGeom prst="rect">
            <a:avLst/>
          </a:prstGeom>
          <a:noFill/>
          <a:ln/>
        </p:spPr>
        <p:txBody>
          <a:bodyPr wrap="none" lIns="0" tIns="0" rIns="0" bIns="0" rtlCol="0" anchor="t"/>
          <a:lstStyle/>
          <a:p>
            <a:pPr indent="0" marL="0">
              <a:lnSpc>
                <a:spcPts val="2800"/>
              </a:lnSpc>
              <a:buNone/>
            </a:pPr>
            <a:r>
              <a:rPr lang="en-US" sz="2250" dirty="0">
                <a:solidFill>
                  <a:srgbClr val="161613"/>
                </a:solidFill>
                <a:latin typeface="DM Sans" pitchFamily="34" charset="0"/>
                <a:ea typeface="DM Sans" pitchFamily="34" charset="-122"/>
                <a:cs typeface="DM Sans" pitchFamily="34" charset="-120"/>
              </a:rPr>
              <a:t>Rotating an Array</a:t>
            </a:r>
            <a:endParaRPr lang="en-US" sz="2250" dirty="0"/>
          </a:p>
        </p:txBody>
      </p:sp>
      <p:sp>
        <p:nvSpPr>
          <p:cNvPr id="15" name="Text 12"/>
          <p:cNvSpPr/>
          <p:nvPr/>
        </p:nvSpPr>
        <p:spPr>
          <a:xfrm>
            <a:off x="1545312" y="5511284"/>
            <a:ext cx="6797397" cy="366236"/>
          </a:xfrm>
          <a:prstGeom prst="rect">
            <a:avLst/>
          </a:prstGeom>
          <a:noFill/>
          <a:ln/>
        </p:spPr>
        <p:txBody>
          <a:bodyPr wrap="none" lIns="0" tIns="0" rIns="0" bIns="0" rtlCol="0" anchor="t"/>
          <a:lstStyle/>
          <a:p>
            <a:pPr indent="0" marL="0">
              <a:lnSpc>
                <a:spcPts val="2850"/>
              </a:lnSpc>
              <a:buNone/>
            </a:pPr>
            <a:r>
              <a:rPr lang="en-US" sz="1800" dirty="0">
                <a:solidFill>
                  <a:srgbClr val="161613"/>
                </a:solidFill>
                <a:latin typeface="Inter" pitchFamily="34" charset="0"/>
                <a:ea typeface="Inter" pitchFamily="34" charset="-122"/>
                <a:cs typeface="Inter" pitchFamily="34" charset="-120"/>
              </a:rPr>
              <a:t>Implement array rotation by a given number of positions.</a:t>
            </a:r>
            <a:endParaRPr lang="en-US" sz="1800" dirty="0"/>
          </a:p>
        </p:txBody>
      </p:sp>
      <p:sp>
        <p:nvSpPr>
          <p:cNvPr id="16" name="Shape 13"/>
          <p:cNvSpPr/>
          <p:nvPr/>
        </p:nvSpPr>
        <p:spPr>
          <a:xfrm>
            <a:off x="801291" y="6364010"/>
            <a:ext cx="515064" cy="515064"/>
          </a:xfrm>
          <a:prstGeom prst="roundRect">
            <a:avLst>
              <a:gd name="adj" fmla="val 6668"/>
            </a:avLst>
          </a:prstGeom>
          <a:solidFill>
            <a:srgbClr val="EDEBE3"/>
          </a:solidFill>
          <a:ln/>
        </p:spPr>
      </p:sp>
      <p:sp>
        <p:nvSpPr>
          <p:cNvPr id="17" name="Text 14"/>
          <p:cNvSpPr/>
          <p:nvPr/>
        </p:nvSpPr>
        <p:spPr>
          <a:xfrm>
            <a:off x="952143" y="6449735"/>
            <a:ext cx="213241" cy="343495"/>
          </a:xfrm>
          <a:prstGeom prst="rect">
            <a:avLst/>
          </a:prstGeom>
          <a:noFill/>
          <a:ln/>
        </p:spPr>
        <p:txBody>
          <a:bodyPr wrap="none" lIns="0" tIns="0" rIns="0" bIns="0" rtlCol="0" anchor="t"/>
          <a:lstStyle/>
          <a:p>
            <a:pPr algn="ctr" indent="0" marL="0">
              <a:lnSpc>
                <a:spcPts val="2700"/>
              </a:lnSpc>
              <a:buNone/>
            </a:pPr>
            <a:r>
              <a:rPr lang="en-US" sz="2700" dirty="0">
                <a:solidFill>
                  <a:srgbClr val="161613"/>
                </a:solidFill>
                <a:latin typeface="DM Sans" pitchFamily="34" charset="0"/>
                <a:ea typeface="DM Sans" pitchFamily="34" charset="-122"/>
                <a:cs typeface="DM Sans" pitchFamily="34" charset="-120"/>
              </a:rPr>
              <a:t>4</a:t>
            </a:r>
            <a:endParaRPr lang="en-US" sz="2700" dirty="0"/>
          </a:p>
        </p:txBody>
      </p:sp>
      <p:sp>
        <p:nvSpPr>
          <p:cNvPr id="18" name="Text 15"/>
          <p:cNvSpPr/>
          <p:nvPr/>
        </p:nvSpPr>
        <p:spPr>
          <a:xfrm>
            <a:off x="1545312" y="6364010"/>
            <a:ext cx="2862024" cy="357783"/>
          </a:xfrm>
          <a:prstGeom prst="rect">
            <a:avLst/>
          </a:prstGeom>
          <a:noFill/>
          <a:ln/>
        </p:spPr>
        <p:txBody>
          <a:bodyPr wrap="none" lIns="0" tIns="0" rIns="0" bIns="0" rtlCol="0" anchor="t"/>
          <a:lstStyle/>
          <a:p>
            <a:pPr indent="0" marL="0">
              <a:lnSpc>
                <a:spcPts val="2800"/>
              </a:lnSpc>
              <a:buNone/>
            </a:pPr>
            <a:r>
              <a:rPr lang="en-US" sz="2250" dirty="0">
                <a:solidFill>
                  <a:srgbClr val="161613"/>
                </a:solidFill>
                <a:latin typeface="DM Sans" pitchFamily="34" charset="0"/>
                <a:ea typeface="DM Sans" pitchFamily="34" charset="-122"/>
                <a:cs typeface="DM Sans" pitchFamily="34" charset="-120"/>
              </a:rPr>
              <a:t>Subarray Sum</a:t>
            </a:r>
            <a:endParaRPr lang="en-US" sz="2250" dirty="0"/>
          </a:p>
        </p:txBody>
      </p:sp>
      <p:sp>
        <p:nvSpPr>
          <p:cNvPr id="19" name="Text 16"/>
          <p:cNvSpPr/>
          <p:nvPr/>
        </p:nvSpPr>
        <p:spPr>
          <a:xfrm>
            <a:off x="1545312" y="6859072"/>
            <a:ext cx="6797397" cy="366236"/>
          </a:xfrm>
          <a:prstGeom prst="rect">
            <a:avLst/>
          </a:prstGeom>
          <a:noFill/>
          <a:ln/>
        </p:spPr>
        <p:txBody>
          <a:bodyPr wrap="none" lIns="0" tIns="0" rIns="0" bIns="0" rtlCol="0" anchor="t"/>
          <a:lstStyle/>
          <a:p>
            <a:pPr indent="0" marL="0">
              <a:lnSpc>
                <a:spcPts val="2850"/>
              </a:lnSpc>
              <a:buNone/>
            </a:pPr>
            <a:r>
              <a:rPr lang="en-US" sz="1800" dirty="0">
                <a:solidFill>
                  <a:srgbClr val="161613"/>
                </a:solidFill>
                <a:latin typeface="Inter" pitchFamily="34" charset="0"/>
                <a:ea typeface="Inter" pitchFamily="34" charset="-122"/>
                <a:cs typeface="Inter" pitchFamily="34" charset="-120"/>
              </a:rPr>
              <a:t>Find a subarray with a given sum in an array.</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864037" y="2598063"/>
            <a:ext cx="6172200" cy="771525"/>
          </a:xfrm>
          <a:prstGeom prst="rect">
            <a:avLst/>
          </a:prstGeom>
          <a:noFill/>
          <a:ln/>
        </p:spPr>
        <p:txBody>
          <a:bodyPr wrap="none" lIns="0" tIns="0" rIns="0" bIns="0" rtlCol="0" anchor="t"/>
          <a:lstStyle/>
          <a:p>
            <a:pPr indent="0" marL="0">
              <a:lnSpc>
                <a:spcPts val="6050"/>
              </a:lnSpc>
              <a:buNone/>
            </a:pPr>
            <a:r>
              <a:rPr lang="en-US" sz="4850" dirty="0">
                <a:solidFill>
                  <a:srgbClr val="161613"/>
                </a:solidFill>
                <a:latin typeface="DM Sans" pitchFamily="34" charset="0"/>
                <a:ea typeface="DM Sans" pitchFamily="34" charset="-122"/>
                <a:cs typeface="DM Sans" pitchFamily="34" charset="-120"/>
              </a:rPr>
              <a:t>Array vs. Linked List</a:t>
            </a:r>
            <a:endParaRPr lang="en-US" sz="4850" dirty="0"/>
          </a:p>
        </p:txBody>
      </p:sp>
      <p:sp>
        <p:nvSpPr>
          <p:cNvPr id="3" name="Text 1"/>
          <p:cNvSpPr/>
          <p:nvPr/>
        </p:nvSpPr>
        <p:spPr>
          <a:xfrm>
            <a:off x="864037" y="3986689"/>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Array</a:t>
            </a:r>
            <a:endParaRPr lang="en-US" sz="2400" dirty="0"/>
          </a:p>
        </p:txBody>
      </p:sp>
      <p:sp>
        <p:nvSpPr>
          <p:cNvPr id="4" name="Text 2"/>
          <p:cNvSpPr/>
          <p:nvPr/>
        </p:nvSpPr>
        <p:spPr>
          <a:xfrm>
            <a:off x="864037" y="4619268"/>
            <a:ext cx="6150054" cy="395049"/>
          </a:xfrm>
          <a:prstGeom prst="rect">
            <a:avLst/>
          </a:prstGeom>
          <a:noFill/>
          <a:ln/>
        </p:spPr>
        <p:txBody>
          <a:bodyPr wrap="non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Contiguous memory, fixed size, fast random access.</a:t>
            </a:r>
            <a:endParaRPr lang="en-US" sz="1900" dirty="0"/>
          </a:p>
        </p:txBody>
      </p:sp>
      <p:sp>
        <p:nvSpPr>
          <p:cNvPr id="5" name="Text 3"/>
          <p:cNvSpPr/>
          <p:nvPr/>
        </p:nvSpPr>
        <p:spPr>
          <a:xfrm>
            <a:off x="7623929" y="3986689"/>
            <a:ext cx="3086100" cy="385763"/>
          </a:xfrm>
          <a:prstGeom prst="rect">
            <a:avLst/>
          </a:prstGeom>
          <a:noFill/>
          <a:ln/>
        </p:spPr>
        <p:txBody>
          <a:bodyPr wrap="none" lIns="0" tIns="0" rIns="0" bIns="0" rtlCol="0" anchor="t"/>
          <a:lstStyle/>
          <a:p>
            <a:pPr indent="0" marL="0">
              <a:lnSpc>
                <a:spcPts val="3000"/>
              </a:lnSpc>
              <a:buNone/>
            </a:pPr>
            <a:r>
              <a:rPr lang="en-US" sz="2400" dirty="0">
                <a:solidFill>
                  <a:srgbClr val="161613"/>
                </a:solidFill>
                <a:latin typeface="DM Sans" pitchFamily="34" charset="0"/>
                <a:ea typeface="DM Sans" pitchFamily="34" charset="-122"/>
                <a:cs typeface="DM Sans" pitchFamily="34" charset="-120"/>
              </a:rPr>
              <a:t>Linked List</a:t>
            </a:r>
            <a:endParaRPr lang="en-US" sz="2400" dirty="0"/>
          </a:p>
        </p:txBody>
      </p:sp>
      <p:sp>
        <p:nvSpPr>
          <p:cNvPr id="6" name="Text 4"/>
          <p:cNvSpPr/>
          <p:nvPr/>
        </p:nvSpPr>
        <p:spPr>
          <a:xfrm>
            <a:off x="7623929" y="4619268"/>
            <a:ext cx="6150054" cy="790099"/>
          </a:xfrm>
          <a:prstGeom prst="rect">
            <a:avLst/>
          </a:prstGeom>
          <a:noFill/>
          <a:ln/>
        </p:spPr>
        <p:txBody>
          <a:bodyPr wrap="square" lIns="0" tIns="0" rIns="0" bIns="0" rtlCol="0" anchor="t"/>
          <a:lstStyle/>
          <a:p>
            <a:pPr indent="0" marL="0">
              <a:lnSpc>
                <a:spcPts val="3100"/>
              </a:lnSpc>
              <a:buNone/>
            </a:pPr>
            <a:r>
              <a:rPr lang="en-US" sz="1900" dirty="0">
                <a:solidFill>
                  <a:srgbClr val="161613"/>
                </a:solidFill>
                <a:latin typeface="Inter" pitchFamily="34" charset="0"/>
                <a:ea typeface="Inter" pitchFamily="34" charset="-122"/>
                <a:cs typeface="Inter" pitchFamily="34" charset="-120"/>
              </a:rPr>
              <a:t>Non-contiguous memory, dynamic size, sequential access.</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75573" y="716637"/>
            <a:ext cx="5540097" cy="692467"/>
          </a:xfrm>
          <a:prstGeom prst="rect">
            <a:avLst/>
          </a:prstGeom>
          <a:noFill/>
          <a:ln/>
        </p:spPr>
        <p:txBody>
          <a:bodyPr wrap="none" lIns="0" tIns="0" rIns="0" bIns="0" rtlCol="0" anchor="t"/>
          <a:lstStyle/>
          <a:p>
            <a:pPr indent="0" marL="0">
              <a:lnSpc>
                <a:spcPts val="5450"/>
              </a:lnSpc>
              <a:buNone/>
            </a:pPr>
            <a:r>
              <a:rPr lang="en-US" sz="4350" dirty="0">
                <a:solidFill>
                  <a:srgbClr val="161613"/>
                </a:solidFill>
                <a:latin typeface="DM Sans" pitchFamily="34" charset="0"/>
                <a:ea typeface="DM Sans" pitchFamily="34" charset="-122"/>
                <a:cs typeface="DM Sans" pitchFamily="34" charset="-120"/>
              </a:rPr>
              <a:t>Conclusion</a:t>
            </a:r>
            <a:endParaRPr lang="en-US" sz="4350" dirty="0"/>
          </a:p>
        </p:txBody>
      </p:sp>
      <p:sp>
        <p:nvSpPr>
          <p:cNvPr id="4" name="Shape 1"/>
          <p:cNvSpPr/>
          <p:nvPr/>
        </p:nvSpPr>
        <p:spPr>
          <a:xfrm>
            <a:off x="775573" y="1741408"/>
            <a:ext cx="7592854" cy="1276707"/>
          </a:xfrm>
          <a:prstGeom prst="roundRect">
            <a:avLst>
              <a:gd name="adj" fmla="val 2604"/>
            </a:avLst>
          </a:prstGeom>
          <a:solidFill>
            <a:srgbClr val="EDEBE3"/>
          </a:solidFill>
          <a:ln/>
        </p:spPr>
      </p:sp>
      <p:sp>
        <p:nvSpPr>
          <p:cNvPr id="5" name="Text 2"/>
          <p:cNvSpPr/>
          <p:nvPr/>
        </p:nvSpPr>
        <p:spPr>
          <a:xfrm>
            <a:off x="997148" y="1962983"/>
            <a:ext cx="2769989" cy="346234"/>
          </a:xfrm>
          <a:prstGeom prst="rect">
            <a:avLst/>
          </a:prstGeom>
          <a:noFill/>
          <a:ln/>
        </p:spPr>
        <p:txBody>
          <a:bodyPr wrap="none" lIns="0" tIns="0" rIns="0" bIns="0" rtlCol="0" anchor="t"/>
          <a:lstStyle/>
          <a:p>
            <a:pPr indent="0" marL="0">
              <a:lnSpc>
                <a:spcPts val="2700"/>
              </a:lnSpc>
              <a:buNone/>
            </a:pPr>
            <a:r>
              <a:rPr lang="en-US" sz="2150" dirty="0">
                <a:solidFill>
                  <a:srgbClr val="161613"/>
                </a:solidFill>
                <a:latin typeface="DM Sans" pitchFamily="34" charset="0"/>
                <a:ea typeface="DM Sans" pitchFamily="34" charset="-122"/>
                <a:cs typeface="DM Sans" pitchFamily="34" charset="-120"/>
              </a:rPr>
              <a:t>Fundamental</a:t>
            </a:r>
            <a:endParaRPr lang="en-US" sz="2150" dirty="0"/>
          </a:p>
        </p:txBody>
      </p:sp>
      <p:sp>
        <p:nvSpPr>
          <p:cNvPr id="6" name="Text 3"/>
          <p:cNvSpPr/>
          <p:nvPr/>
        </p:nvSpPr>
        <p:spPr>
          <a:xfrm>
            <a:off x="997148" y="2442091"/>
            <a:ext cx="7149703" cy="354449"/>
          </a:xfrm>
          <a:prstGeom prst="rect">
            <a:avLst/>
          </a:prstGeom>
          <a:noFill/>
          <a:ln/>
        </p:spPr>
        <p:txBody>
          <a:bodyPr wrap="none" lIns="0" tIns="0" rIns="0" bIns="0" rtlCol="0" anchor="t"/>
          <a:lstStyle/>
          <a:p>
            <a:pPr indent="0" marL="0">
              <a:lnSpc>
                <a:spcPts val="2750"/>
              </a:lnSpc>
              <a:buNone/>
            </a:pPr>
            <a:r>
              <a:rPr lang="en-US" sz="1700" dirty="0">
                <a:solidFill>
                  <a:srgbClr val="161613"/>
                </a:solidFill>
                <a:latin typeface="Inter" pitchFamily="34" charset="0"/>
                <a:ea typeface="Inter" pitchFamily="34" charset="-122"/>
                <a:cs typeface="Inter" pitchFamily="34" charset="-120"/>
              </a:rPr>
              <a:t>Arrays are a fundamental data structure in computer science.</a:t>
            </a:r>
            <a:endParaRPr lang="en-US" sz="1700" dirty="0"/>
          </a:p>
        </p:txBody>
      </p:sp>
      <p:sp>
        <p:nvSpPr>
          <p:cNvPr id="7" name="Shape 4"/>
          <p:cNvSpPr/>
          <p:nvPr/>
        </p:nvSpPr>
        <p:spPr>
          <a:xfrm>
            <a:off x="775573" y="3239691"/>
            <a:ext cx="7592854" cy="1276707"/>
          </a:xfrm>
          <a:prstGeom prst="roundRect">
            <a:avLst>
              <a:gd name="adj" fmla="val 2604"/>
            </a:avLst>
          </a:prstGeom>
          <a:solidFill>
            <a:srgbClr val="EDEBE3"/>
          </a:solidFill>
          <a:ln/>
        </p:spPr>
      </p:sp>
      <p:sp>
        <p:nvSpPr>
          <p:cNvPr id="8" name="Text 5"/>
          <p:cNvSpPr/>
          <p:nvPr/>
        </p:nvSpPr>
        <p:spPr>
          <a:xfrm>
            <a:off x="997148" y="3461266"/>
            <a:ext cx="2769989" cy="346234"/>
          </a:xfrm>
          <a:prstGeom prst="rect">
            <a:avLst/>
          </a:prstGeom>
          <a:noFill/>
          <a:ln/>
        </p:spPr>
        <p:txBody>
          <a:bodyPr wrap="none" lIns="0" tIns="0" rIns="0" bIns="0" rtlCol="0" anchor="t"/>
          <a:lstStyle/>
          <a:p>
            <a:pPr indent="0" marL="0">
              <a:lnSpc>
                <a:spcPts val="2700"/>
              </a:lnSpc>
              <a:buNone/>
            </a:pPr>
            <a:r>
              <a:rPr lang="en-US" sz="2150" dirty="0">
                <a:solidFill>
                  <a:srgbClr val="161613"/>
                </a:solidFill>
                <a:latin typeface="DM Sans" pitchFamily="34" charset="0"/>
                <a:ea typeface="DM Sans" pitchFamily="34" charset="-122"/>
                <a:cs typeface="DM Sans" pitchFamily="34" charset="-120"/>
              </a:rPr>
              <a:t>Versatile</a:t>
            </a:r>
            <a:endParaRPr lang="en-US" sz="2150" dirty="0"/>
          </a:p>
        </p:txBody>
      </p:sp>
      <p:sp>
        <p:nvSpPr>
          <p:cNvPr id="9" name="Text 6"/>
          <p:cNvSpPr/>
          <p:nvPr/>
        </p:nvSpPr>
        <p:spPr>
          <a:xfrm>
            <a:off x="997148" y="3940373"/>
            <a:ext cx="7149703" cy="354449"/>
          </a:xfrm>
          <a:prstGeom prst="rect">
            <a:avLst/>
          </a:prstGeom>
          <a:noFill/>
          <a:ln/>
        </p:spPr>
        <p:txBody>
          <a:bodyPr wrap="none" lIns="0" tIns="0" rIns="0" bIns="0" rtlCol="0" anchor="t"/>
          <a:lstStyle/>
          <a:p>
            <a:pPr indent="0" marL="0">
              <a:lnSpc>
                <a:spcPts val="2750"/>
              </a:lnSpc>
              <a:buNone/>
            </a:pPr>
            <a:r>
              <a:rPr lang="en-US" sz="1700" dirty="0">
                <a:solidFill>
                  <a:srgbClr val="161613"/>
                </a:solidFill>
                <a:latin typeface="Inter" pitchFamily="34" charset="0"/>
                <a:ea typeface="Inter" pitchFamily="34" charset="-122"/>
                <a:cs typeface="Inter" pitchFamily="34" charset="-120"/>
              </a:rPr>
              <a:t>They are used in various applications and algorithms.</a:t>
            </a:r>
            <a:endParaRPr lang="en-US" sz="1700" dirty="0"/>
          </a:p>
        </p:txBody>
      </p:sp>
      <p:sp>
        <p:nvSpPr>
          <p:cNvPr id="10" name="Shape 7"/>
          <p:cNvSpPr/>
          <p:nvPr/>
        </p:nvSpPr>
        <p:spPr>
          <a:xfrm>
            <a:off x="775573" y="4737973"/>
            <a:ext cx="7592854" cy="1276707"/>
          </a:xfrm>
          <a:prstGeom prst="roundRect">
            <a:avLst>
              <a:gd name="adj" fmla="val 2604"/>
            </a:avLst>
          </a:prstGeom>
          <a:solidFill>
            <a:srgbClr val="EDEBE3"/>
          </a:solidFill>
          <a:ln/>
        </p:spPr>
      </p:sp>
      <p:sp>
        <p:nvSpPr>
          <p:cNvPr id="11" name="Text 8"/>
          <p:cNvSpPr/>
          <p:nvPr/>
        </p:nvSpPr>
        <p:spPr>
          <a:xfrm>
            <a:off x="997148" y="4959548"/>
            <a:ext cx="2769989" cy="346234"/>
          </a:xfrm>
          <a:prstGeom prst="rect">
            <a:avLst/>
          </a:prstGeom>
          <a:noFill/>
          <a:ln/>
        </p:spPr>
        <p:txBody>
          <a:bodyPr wrap="none" lIns="0" tIns="0" rIns="0" bIns="0" rtlCol="0" anchor="t"/>
          <a:lstStyle/>
          <a:p>
            <a:pPr indent="0" marL="0">
              <a:lnSpc>
                <a:spcPts val="2700"/>
              </a:lnSpc>
              <a:buNone/>
            </a:pPr>
            <a:r>
              <a:rPr lang="en-US" sz="2150" dirty="0">
                <a:solidFill>
                  <a:srgbClr val="161613"/>
                </a:solidFill>
                <a:latin typeface="DM Sans" pitchFamily="34" charset="0"/>
                <a:ea typeface="DM Sans" pitchFamily="34" charset="-122"/>
                <a:cs typeface="DM Sans" pitchFamily="34" charset="-120"/>
              </a:rPr>
              <a:t>Efficient</a:t>
            </a:r>
            <a:endParaRPr lang="en-US" sz="2150" dirty="0"/>
          </a:p>
        </p:txBody>
      </p:sp>
      <p:sp>
        <p:nvSpPr>
          <p:cNvPr id="12" name="Text 9"/>
          <p:cNvSpPr/>
          <p:nvPr/>
        </p:nvSpPr>
        <p:spPr>
          <a:xfrm>
            <a:off x="997148" y="5438656"/>
            <a:ext cx="7149703" cy="354449"/>
          </a:xfrm>
          <a:prstGeom prst="rect">
            <a:avLst/>
          </a:prstGeom>
          <a:noFill/>
          <a:ln/>
        </p:spPr>
        <p:txBody>
          <a:bodyPr wrap="none" lIns="0" tIns="0" rIns="0" bIns="0" rtlCol="0" anchor="t"/>
          <a:lstStyle/>
          <a:p>
            <a:pPr indent="0" marL="0">
              <a:lnSpc>
                <a:spcPts val="2750"/>
              </a:lnSpc>
              <a:buNone/>
            </a:pPr>
            <a:r>
              <a:rPr lang="en-US" sz="1700" dirty="0">
                <a:solidFill>
                  <a:srgbClr val="161613"/>
                </a:solidFill>
                <a:latin typeface="Inter" pitchFamily="34" charset="0"/>
                <a:ea typeface="Inter" pitchFamily="34" charset="-122"/>
                <a:cs typeface="Inter" pitchFamily="34" charset="-120"/>
              </a:rPr>
              <a:t>Arrays provide efficient storage and access to elements.</a:t>
            </a:r>
            <a:endParaRPr lang="en-US" sz="1700" dirty="0"/>
          </a:p>
        </p:txBody>
      </p:sp>
      <p:sp>
        <p:nvSpPr>
          <p:cNvPr id="13" name="Shape 10"/>
          <p:cNvSpPr/>
          <p:nvPr/>
        </p:nvSpPr>
        <p:spPr>
          <a:xfrm>
            <a:off x="775573" y="6236256"/>
            <a:ext cx="7592854" cy="1276707"/>
          </a:xfrm>
          <a:prstGeom prst="roundRect">
            <a:avLst>
              <a:gd name="adj" fmla="val 2604"/>
            </a:avLst>
          </a:prstGeom>
          <a:solidFill>
            <a:srgbClr val="EDEBE3"/>
          </a:solidFill>
          <a:ln/>
        </p:spPr>
      </p:sp>
      <p:sp>
        <p:nvSpPr>
          <p:cNvPr id="14" name="Text 11"/>
          <p:cNvSpPr/>
          <p:nvPr/>
        </p:nvSpPr>
        <p:spPr>
          <a:xfrm>
            <a:off x="997148" y="6457831"/>
            <a:ext cx="2769989" cy="346234"/>
          </a:xfrm>
          <a:prstGeom prst="rect">
            <a:avLst/>
          </a:prstGeom>
          <a:noFill/>
          <a:ln/>
        </p:spPr>
        <p:txBody>
          <a:bodyPr wrap="none" lIns="0" tIns="0" rIns="0" bIns="0" rtlCol="0" anchor="t"/>
          <a:lstStyle/>
          <a:p>
            <a:pPr indent="0" marL="0">
              <a:lnSpc>
                <a:spcPts val="2700"/>
              </a:lnSpc>
              <a:buNone/>
            </a:pPr>
            <a:r>
              <a:rPr lang="en-US" sz="2150" dirty="0">
                <a:solidFill>
                  <a:srgbClr val="161613"/>
                </a:solidFill>
                <a:latin typeface="DM Sans" pitchFamily="34" charset="0"/>
                <a:ea typeface="DM Sans" pitchFamily="34" charset="-122"/>
                <a:cs typeface="DM Sans" pitchFamily="34" charset="-120"/>
              </a:rPr>
              <a:t>Essential Knowledge</a:t>
            </a:r>
            <a:endParaRPr lang="en-US" sz="2150" dirty="0"/>
          </a:p>
        </p:txBody>
      </p:sp>
      <p:sp>
        <p:nvSpPr>
          <p:cNvPr id="15" name="Text 12"/>
          <p:cNvSpPr/>
          <p:nvPr/>
        </p:nvSpPr>
        <p:spPr>
          <a:xfrm>
            <a:off x="997148" y="6936938"/>
            <a:ext cx="7149703" cy="354449"/>
          </a:xfrm>
          <a:prstGeom prst="rect">
            <a:avLst/>
          </a:prstGeom>
          <a:noFill/>
          <a:ln/>
        </p:spPr>
        <p:txBody>
          <a:bodyPr wrap="none" lIns="0" tIns="0" rIns="0" bIns="0" rtlCol="0" anchor="t"/>
          <a:lstStyle/>
          <a:p>
            <a:pPr indent="0" marL="0">
              <a:lnSpc>
                <a:spcPts val="2750"/>
              </a:lnSpc>
              <a:buNone/>
            </a:pPr>
            <a:r>
              <a:rPr lang="en-US" sz="1700" dirty="0">
                <a:solidFill>
                  <a:srgbClr val="161613"/>
                </a:solidFill>
                <a:latin typeface="Inter" pitchFamily="34" charset="0"/>
                <a:ea typeface="Inter" pitchFamily="34" charset="-122"/>
                <a:cs typeface="Inter" pitchFamily="34" charset="-120"/>
              </a:rPr>
              <a:t>Understanding arrays is crucial for programming and interviews.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2024-09-14T03:47:06Z</dcterms:created>
  <dcterms:modified xsi:type="dcterms:W3CDTF">2024-09-14T03:47:06Z</dcterms:modified>
</cp:coreProperties>
</file>