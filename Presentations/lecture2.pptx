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
    <p:sldId id="257" r:id="rId3"/>
    <p:sldId id="272"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 id="311" r:id="rId43"/>
    <p:sldId id="312" r:id="rId44"/>
    <p:sldId id="313" r:id="rId45"/>
    <p:sldId id="316" r:id="rId46"/>
    <p:sldId id="315" r:id="rId47"/>
    <p:sldId id="314" r:id="rId48"/>
    <p:sldId id="317" r:id="rId49"/>
    <p:sldId id="318" r:id="rId50"/>
    <p:sldId id="319" r:id="rId51"/>
    <p:sldId id="320" r:id="rId52"/>
    <p:sldId id="321" r:id="rId53"/>
    <p:sldId id="322" r:id="rId54"/>
    <p:sldId id="323" r:id="rId55"/>
    <p:sldId id="324" r:id="rId56"/>
    <p:sldId id="325" r:id="rId57"/>
    <p:sldId id="326" r:id="rId58"/>
    <p:sldId id="327" r:id="rId59"/>
    <p:sldId id="328" r:id="rId60"/>
    <p:sldId id="329" r:id="rId61"/>
    <p:sldId id="331" r:id="rId62"/>
    <p:sldId id="333" r:id="rId63"/>
    <p:sldId id="330" r:id="rId64"/>
    <p:sldId id="332" r:id="rId65"/>
    <p:sldId id="334" r:id="rId66"/>
    <p:sldId id="335" r:id="rId67"/>
    <p:sldId id="336" r:id="rId68"/>
    <p:sldId id="339" r:id="rId69"/>
    <p:sldId id="337" r:id="rId70"/>
    <p:sldId id="33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52"/>
  </p:normalViewPr>
  <p:slideViewPr>
    <p:cSldViewPr snapToGrid="0">
      <p:cViewPr varScale="1">
        <p:scale>
          <a:sx n="93" d="100"/>
          <a:sy n="93" d="100"/>
        </p:scale>
        <p:origin x="216"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B0212-DE13-4F72-14E7-6C4684773B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602768-340E-6C46-892E-01DC0ECEF5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E858DC-F68B-9121-3DEB-5AA21DC5D552}"/>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5" name="Footer Placeholder 4">
            <a:extLst>
              <a:ext uri="{FF2B5EF4-FFF2-40B4-BE49-F238E27FC236}">
                <a16:creationId xmlns:a16="http://schemas.microsoft.com/office/drawing/2014/main" id="{551FD00C-0D01-F446-CA4E-3978FD9CB5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8FEF1-D41F-DA36-F988-7E4E85FCDE40}"/>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1329052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8AF1C-6989-D8D0-25B6-E2C57BED76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F6E28D-1F30-457A-7644-4B4DB5FF7D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755603-EC72-5DF9-81FE-9A577E805A5D}"/>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5" name="Footer Placeholder 4">
            <a:extLst>
              <a:ext uri="{FF2B5EF4-FFF2-40B4-BE49-F238E27FC236}">
                <a16:creationId xmlns:a16="http://schemas.microsoft.com/office/drawing/2014/main" id="{098BB9C6-5FD8-6402-7C28-ED2DE6C973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6B5AA1-FE7E-266B-CA7E-996DA8A7C1C6}"/>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3542028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DBC6-4C0D-1485-1C32-25B12E74F6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E0A811-8FD1-581E-0A01-AE076BC5BE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E0EB08-9844-590E-6144-2CBBF6CCCADA}"/>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5" name="Footer Placeholder 4">
            <a:extLst>
              <a:ext uri="{FF2B5EF4-FFF2-40B4-BE49-F238E27FC236}">
                <a16:creationId xmlns:a16="http://schemas.microsoft.com/office/drawing/2014/main" id="{19B91FBF-1170-4906-7424-AF6047A4E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72A1B-104E-83A6-5B53-581C412312C7}"/>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6432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BEAB3-6840-6931-C9D5-551961E62A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A7FC6A-6804-123C-68B4-8CC3F91137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B144AB-4414-0CAB-A450-B225CDAD45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3CF843-FD09-E33D-BF66-5C07796FC1D7}"/>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6" name="Footer Placeholder 5">
            <a:extLst>
              <a:ext uri="{FF2B5EF4-FFF2-40B4-BE49-F238E27FC236}">
                <a16:creationId xmlns:a16="http://schemas.microsoft.com/office/drawing/2014/main" id="{85B3CFF7-7ABF-08B5-F418-A3C0DC2CD4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BD9234-948E-6DC2-66C5-974B451441B9}"/>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2364315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5A495-E558-73BB-7D8A-366091FDBB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8B10A8-799A-B125-567A-5CC2910B54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6C03BC-F543-3EE9-EA68-66E9063703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F7F44C-CBED-ABA7-8123-CC2CA516F3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61E401-9A07-EB09-8E37-A7036609BD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401867-EB5D-D189-0BE4-96409CCABD82}"/>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8" name="Footer Placeholder 7">
            <a:extLst>
              <a:ext uri="{FF2B5EF4-FFF2-40B4-BE49-F238E27FC236}">
                <a16:creationId xmlns:a16="http://schemas.microsoft.com/office/drawing/2014/main" id="{3D3967A3-B4E4-E659-1301-1BDAA03E2E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F4D545-3BFE-CA3A-0314-14BF531219B8}"/>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3690234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CA444-EB18-69FC-AC81-71925DF989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2D64A0-984D-2089-D257-26C348F774F3}"/>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4" name="Footer Placeholder 3">
            <a:extLst>
              <a:ext uri="{FF2B5EF4-FFF2-40B4-BE49-F238E27FC236}">
                <a16:creationId xmlns:a16="http://schemas.microsoft.com/office/drawing/2014/main" id="{577D7EE4-0A42-B493-683F-87AAD0C93C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BBA782-8C8D-0963-CAB1-69558EDE2556}"/>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1887137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710B40-C577-D5EF-501B-60F6C4BF1EA0}"/>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3" name="Footer Placeholder 2">
            <a:extLst>
              <a:ext uri="{FF2B5EF4-FFF2-40B4-BE49-F238E27FC236}">
                <a16:creationId xmlns:a16="http://schemas.microsoft.com/office/drawing/2014/main" id="{896F27AE-6A77-1FD5-B168-7B9ADA032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85675C-BD95-A3FB-9027-263BBB226F9F}"/>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2527195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33526-5285-C8DC-C8A3-049D29F673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9A5117-ECC6-ECC4-59DC-0DFFA6FA1D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31AE02-2C8D-9510-8835-82D16E5ADA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04C61F-0DAF-191C-2F69-4E0E2BBD3FE8}"/>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6" name="Footer Placeholder 5">
            <a:extLst>
              <a:ext uri="{FF2B5EF4-FFF2-40B4-BE49-F238E27FC236}">
                <a16:creationId xmlns:a16="http://schemas.microsoft.com/office/drawing/2014/main" id="{7B786441-10B9-B163-8DBE-FA43D707AF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96C6EA-4E7F-F4B1-857F-5E12129E0BBB}"/>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2560526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2E2CD-998D-B9F5-6BEF-68B24FC60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39C191-3729-4243-594D-8D98F5B2FD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2E27DC-635F-7B99-DB19-FDBC48D02B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6D8CC0-02CD-89FD-EB72-E9E0A71EE557}"/>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6" name="Footer Placeholder 5">
            <a:extLst>
              <a:ext uri="{FF2B5EF4-FFF2-40B4-BE49-F238E27FC236}">
                <a16:creationId xmlns:a16="http://schemas.microsoft.com/office/drawing/2014/main" id="{8122DF99-7A35-3FBC-6FDE-5EDFB7AD0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316AB1-6622-EE11-F17F-5D7AE13EE574}"/>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53542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8A73-C4A3-DC2F-1826-F5E861C9B7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5C1D48-C13E-6081-B836-A1E08AEEDA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30B9E-A7E9-A876-2276-7E53435AF7C5}"/>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5" name="Footer Placeholder 4">
            <a:extLst>
              <a:ext uri="{FF2B5EF4-FFF2-40B4-BE49-F238E27FC236}">
                <a16:creationId xmlns:a16="http://schemas.microsoft.com/office/drawing/2014/main" id="{C54299C7-2EC1-B8FF-2B4E-0ACD5D2444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198BE-B99F-B868-E434-5EB44C26CFD8}"/>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4185669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8E6811-1097-6114-AE2F-1E3205182A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0A3893-1258-025D-673A-5FEDDD2F4D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2F5A6A-AF2C-CC0F-22DF-179F30EB0E5A}"/>
              </a:ext>
            </a:extLst>
          </p:cNvPr>
          <p:cNvSpPr>
            <a:spLocks noGrp="1"/>
          </p:cNvSpPr>
          <p:nvPr>
            <p:ph type="dt" sz="half" idx="10"/>
          </p:nvPr>
        </p:nvSpPr>
        <p:spPr/>
        <p:txBody>
          <a:bodyPr/>
          <a:lstStyle/>
          <a:p>
            <a:fld id="{2D5FA98D-7782-7E40-9C36-EE46F60EC02E}" type="datetimeFigureOut">
              <a:rPr lang="en-US" smtClean="0"/>
              <a:t>9/18/25</a:t>
            </a:fld>
            <a:endParaRPr lang="en-US"/>
          </a:p>
        </p:txBody>
      </p:sp>
      <p:sp>
        <p:nvSpPr>
          <p:cNvPr id="5" name="Footer Placeholder 4">
            <a:extLst>
              <a:ext uri="{FF2B5EF4-FFF2-40B4-BE49-F238E27FC236}">
                <a16:creationId xmlns:a16="http://schemas.microsoft.com/office/drawing/2014/main" id="{9BBB0E74-4FB9-F16C-E2DD-184108CA4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0ABCC8-854C-C7E1-9971-43794211266E}"/>
              </a:ext>
            </a:extLst>
          </p:cNvPr>
          <p:cNvSpPr>
            <a:spLocks noGrp="1"/>
          </p:cNvSpPr>
          <p:nvPr>
            <p:ph type="sldNum" sz="quarter" idx="12"/>
          </p:nvPr>
        </p:nvSpPr>
        <p:spPr/>
        <p:txBody>
          <a:bodyPr/>
          <a:lstStyle/>
          <a:p>
            <a:fld id="{32E38B02-063C-BF4D-93AF-9D93B10E486D}" type="slidenum">
              <a:rPr lang="en-US" smtClean="0"/>
              <a:t>‹#›</a:t>
            </a:fld>
            <a:endParaRPr lang="en-US"/>
          </a:p>
        </p:txBody>
      </p:sp>
    </p:spTree>
    <p:extLst>
      <p:ext uri="{BB962C8B-B14F-4D97-AF65-F5344CB8AC3E}">
        <p14:creationId xmlns:p14="http://schemas.microsoft.com/office/powerpoint/2010/main" val="2130128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0CDA1A-9CB5-95CC-B339-667254EFD4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9F62A3-0D22-24D9-D6F0-B1EB881E2A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C8A9A-4483-B65A-BEEC-62B8889DC1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5FA98D-7782-7E40-9C36-EE46F60EC02E}" type="datetimeFigureOut">
              <a:rPr lang="en-US" smtClean="0"/>
              <a:t>9/18/25</a:t>
            </a:fld>
            <a:endParaRPr lang="en-US"/>
          </a:p>
        </p:txBody>
      </p:sp>
      <p:sp>
        <p:nvSpPr>
          <p:cNvPr id="5" name="Footer Placeholder 4">
            <a:extLst>
              <a:ext uri="{FF2B5EF4-FFF2-40B4-BE49-F238E27FC236}">
                <a16:creationId xmlns:a16="http://schemas.microsoft.com/office/drawing/2014/main" id="{4CD53B4F-7A6F-7D30-041E-79C5CD9BEF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B3B0BF-86F7-F775-012A-3569E61FC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E38B02-063C-BF4D-93AF-9D93B10E486D}" type="slidenum">
              <a:rPr lang="en-US" smtClean="0"/>
              <a:t>‹#›</a:t>
            </a:fld>
            <a:endParaRPr lang="en-US"/>
          </a:p>
        </p:txBody>
      </p:sp>
    </p:spTree>
    <p:extLst>
      <p:ext uri="{BB962C8B-B14F-4D97-AF65-F5344CB8AC3E}">
        <p14:creationId xmlns:p14="http://schemas.microsoft.com/office/powerpoint/2010/main" val="269338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wscubetech.com/resources/dsa/linked-list-data-structure" TargetMode="External"/><Relationship Id="rId2" Type="http://schemas.openxmlformats.org/officeDocument/2006/relationships/hyperlink" Target="https://www.wscubetech.com/resources/dsa/array-data-structure" TargetMode="External"/><Relationship Id="rId1" Type="http://schemas.openxmlformats.org/officeDocument/2006/relationships/slideLayout" Target="../slideLayouts/slideLayout7.xml"/><Relationship Id="rId5" Type="http://schemas.openxmlformats.org/officeDocument/2006/relationships/hyperlink" Target="https://www.wscubetech.com/resources/dsa/graph-data-structure" TargetMode="External"/><Relationship Id="rId4" Type="http://schemas.openxmlformats.org/officeDocument/2006/relationships/hyperlink" Target="https://www.wscubetech.com/resources/dsa/tree-data-structure"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wscubetech.com/resources/dsa/array-data-structure"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wscubetech.com/resources/dsa/singly-linked-list-data-structure" TargetMode="External"/><Relationship Id="rId2" Type="http://schemas.openxmlformats.org/officeDocument/2006/relationships/hyperlink" Target="https://www.wscubetech.com/resources/dsa/linked-list-data-structure" TargetMode="External"/><Relationship Id="rId1" Type="http://schemas.openxmlformats.org/officeDocument/2006/relationships/slideLayout" Target="../slideLayouts/slideLayout7.xml"/><Relationship Id="rId5" Type="http://schemas.openxmlformats.org/officeDocument/2006/relationships/hyperlink" Target="https://www.wscubetech.com/resources/dsa/circular-linked-list-data-structure" TargetMode="External"/><Relationship Id="rId4" Type="http://schemas.openxmlformats.org/officeDocument/2006/relationships/hyperlink" Target="https://www.wscubetech.com/resources/dsa/doubly-linked-list-data-structure"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wscubetech.com/resources/dsa/stack-data-structure"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wscubetech.com/resources/dsa/queue-data-structure"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www.wscubetech.com/resources/dsa/tree-data-structure"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www.wscubetech.com/resources/dsa/binary-search-tree"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wscubetech.com/resources/dsa/bfs-algorithm" TargetMode="External"/><Relationship Id="rId2" Type="http://schemas.openxmlformats.org/officeDocument/2006/relationships/hyperlink" Target="https://www.wscubetech.com/resources/dsa/dfs-algorithm"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www.wscubetech.com/resources/dsa/tree-data-structure"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wscubetech.com/resources/dsa/binary-search-tree" TargetMode="External"/><Relationship Id="rId2" Type="http://schemas.openxmlformats.org/officeDocument/2006/relationships/hyperlink" Target="https://www.wscubetech.com/resources/dsa/binary-tree" TargetMode="External"/><Relationship Id="rId1" Type="http://schemas.openxmlformats.org/officeDocument/2006/relationships/slideLayout" Target="../slideLayouts/slideLayout7.xml"/><Relationship Id="rId5" Type="http://schemas.openxmlformats.org/officeDocument/2006/relationships/hyperlink" Target="https://www.wscubetech.com/resources/dsa/b-tree" TargetMode="External"/><Relationship Id="rId4" Type="http://schemas.openxmlformats.org/officeDocument/2006/relationships/hyperlink" Target="https://www.wscubetech.com/resources/dsa/avl-tree"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www.wscubetech.com/resources/dsa/graph-data-structure"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www.wscubetech.com/resources/dsa/complete-binary-tree" TargetMode="External"/><Relationship Id="rId2" Type="http://schemas.openxmlformats.org/officeDocument/2006/relationships/hyperlink" Target="https://www.wscubetech.com/resources/dsa/heap-data-structure" TargetMode="External"/><Relationship Id="rId1" Type="http://schemas.openxmlformats.org/officeDocument/2006/relationships/slideLayout" Target="../slideLayouts/slideLayout7.xml"/><Relationship Id="rId4" Type="http://schemas.openxmlformats.org/officeDocument/2006/relationships/hyperlink" Target="https://www.wscubetech.com/resources/dsa/priority-queue-data-structur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www.wscubetech.com/resources/dsa/algorithm"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hyperlink" Target="https://www.wscubetech.com/resources/dsa/linked-list-data-structure" TargetMode="External"/><Relationship Id="rId2" Type="http://schemas.openxmlformats.org/officeDocument/2006/relationships/hyperlink" Target="https://www.wscubetech.com/resources/dsa/array-data-structure" TargetMode="External"/><Relationship Id="rId1" Type="http://schemas.openxmlformats.org/officeDocument/2006/relationships/slideLayout" Target="../slideLayouts/slideLayout7.xml"/><Relationship Id="rId4" Type="http://schemas.openxmlformats.org/officeDocument/2006/relationships/hyperlink" Target="https://www.wscubetech.com/resources/dsa/hash-table" TargetMode="External"/></Relationships>
</file>

<file path=ppt/slides/_rels/slide62.xml.rels><?xml version="1.0" encoding="UTF-8" standalone="yes"?>
<Relationships xmlns="http://schemas.openxmlformats.org/package/2006/relationships"><Relationship Id="rId2" Type="http://schemas.openxmlformats.org/officeDocument/2006/relationships/hyperlink" Target="https://www.wscubetech.com/resources/dsa/bubble-sort"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hyperlink" Target="https://www.wscubetech.com/resources/dsa/algorithm" TargetMode="External"/><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board with white text&#10;&#10;Description automatically generated">
            <a:extLst>
              <a:ext uri="{FF2B5EF4-FFF2-40B4-BE49-F238E27FC236}">
                <a16:creationId xmlns:a16="http://schemas.microsoft.com/office/drawing/2014/main" id="{13C52102-1785-DA8F-3802-5F771606FD6A}"/>
              </a:ext>
            </a:extLst>
          </p:cNvPr>
          <p:cNvPicPr>
            <a:picLocks noChangeAspect="1"/>
          </p:cNvPicPr>
          <p:nvPr/>
        </p:nvPicPr>
        <p:blipFill>
          <a:blip r:embed="rId2"/>
          <a:stretch>
            <a:fillRect/>
          </a:stretch>
        </p:blipFill>
        <p:spPr>
          <a:xfrm>
            <a:off x="1" y="0"/>
            <a:ext cx="12192000" cy="6857999"/>
          </a:xfrm>
          <a:prstGeom prst="rect">
            <a:avLst/>
          </a:prstGeom>
        </p:spPr>
      </p:pic>
    </p:spTree>
    <p:extLst>
      <p:ext uri="{BB962C8B-B14F-4D97-AF65-F5344CB8AC3E}">
        <p14:creationId xmlns:p14="http://schemas.microsoft.com/office/powerpoint/2010/main" val="4250616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8E43A9-00D6-8267-0065-72E18D1E3A48}"/>
              </a:ext>
            </a:extLst>
          </p:cNvPr>
          <p:cNvSpPr txBox="1"/>
          <p:nvPr/>
        </p:nvSpPr>
        <p:spPr>
          <a:xfrm>
            <a:off x="152399" y="307539"/>
            <a:ext cx="11748656" cy="5078313"/>
          </a:xfrm>
          <a:prstGeom prst="rect">
            <a:avLst/>
          </a:prstGeom>
          <a:noFill/>
        </p:spPr>
        <p:txBody>
          <a:bodyPr wrap="square">
            <a:spAutoFit/>
          </a:bodyPr>
          <a:lstStyle/>
          <a:p>
            <a:pPr algn="l"/>
            <a:r>
              <a:rPr lang="en-US" sz="3600" b="1" i="0" dirty="0">
                <a:solidFill>
                  <a:srgbClr val="111827"/>
                </a:solidFill>
                <a:effectLst/>
                <a:highlight>
                  <a:srgbClr val="FFFFFF"/>
                </a:highlight>
                <a:latin typeface="Inter" panose="02000503000000020004" pitchFamily="2" charset="0"/>
              </a:rPr>
              <a:t>Table of Contents</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Introduction</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What is Linear Data Structure?</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Characteristics of Linear Data Structure</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Types of Linear Data Structure</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What is Non-linear Data Structure?</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Characteristics of Non-linear Data Structures</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Types of Non-linear Data Structures</a:t>
            </a:r>
          </a:p>
          <a:p>
            <a:pPr algn="l">
              <a:buFont typeface="Arial" panose="020B0604020202020204" pitchFamily="34" charset="0"/>
              <a:buChar char="•"/>
            </a:pPr>
            <a:r>
              <a:rPr lang="en-US" sz="3600" b="0" i="0" dirty="0">
                <a:solidFill>
                  <a:srgbClr val="194CFF"/>
                </a:solidFill>
                <a:effectLst/>
                <a:highlight>
                  <a:srgbClr val="FFFFFF"/>
                </a:highlight>
                <a:latin typeface="Inter" panose="02000503000000020004" pitchFamily="2" charset="0"/>
              </a:rPr>
              <a:t>Linear vs Non-linear Data Structures</a:t>
            </a:r>
          </a:p>
        </p:txBody>
      </p:sp>
    </p:spTree>
    <p:extLst>
      <p:ext uri="{BB962C8B-B14F-4D97-AF65-F5344CB8AC3E}">
        <p14:creationId xmlns:p14="http://schemas.microsoft.com/office/powerpoint/2010/main" val="3404778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8DE14E-70CF-653F-5CCB-63CEC21C5C2B}"/>
              </a:ext>
            </a:extLst>
          </p:cNvPr>
          <p:cNvSpPr txBox="1"/>
          <p:nvPr/>
        </p:nvSpPr>
        <p:spPr>
          <a:xfrm>
            <a:off x="193964" y="348964"/>
            <a:ext cx="11845636" cy="3539430"/>
          </a:xfrm>
          <a:prstGeom prst="rect">
            <a:avLst/>
          </a:prstGeom>
          <a:noFill/>
        </p:spPr>
        <p:txBody>
          <a:bodyPr wrap="square">
            <a:spAutoFit/>
          </a:bodyPr>
          <a:lstStyle/>
          <a:p>
            <a:r>
              <a:rPr lang="en-US" sz="3200" b="0" i="0" dirty="0">
                <a:solidFill>
                  <a:srgbClr val="374151"/>
                </a:solidFill>
                <a:effectLst/>
                <a:highlight>
                  <a:srgbClr val="FFFFFF"/>
                </a:highlight>
                <a:latin typeface="Inter" panose="02000503000000020004" pitchFamily="2" charset="0"/>
              </a:rPr>
              <a:t>Understanding the difference between linear and non-linear data structures is essential in computer science. Linear data structures, like</a:t>
            </a:r>
            <a:r>
              <a:rPr lang="en-US" sz="3200" b="0" i="0" dirty="0">
                <a:solidFill>
                  <a:srgbClr val="374151"/>
                </a:solidFill>
                <a:effectLst/>
                <a:latin typeface="Inter" panose="02000503000000020004" pitchFamily="2" charset="0"/>
              </a:rPr>
              <a:t> </a:t>
            </a:r>
            <a:r>
              <a:rPr lang="en-US" sz="3200" b="1" i="0" u="none" strike="noStrike" dirty="0">
                <a:solidFill>
                  <a:srgbClr val="1E88E5"/>
                </a:solidFill>
                <a:effectLst/>
                <a:latin typeface="Inter" panose="02000503000000020004" pitchFamily="2" charset="0"/>
                <a:hlinkClick r:id="rId2"/>
              </a:rPr>
              <a:t>arrays</a:t>
            </a:r>
            <a:r>
              <a:rPr lang="en-US" sz="3200" b="0" i="0" dirty="0">
                <a:solidFill>
                  <a:srgbClr val="374151"/>
                </a:solidFill>
                <a:effectLst/>
                <a:latin typeface="Inter" panose="02000503000000020004" pitchFamily="2" charset="0"/>
              </a:rPr>
              <a:t> </a:t>
            </a:r>
            <a:r>
              <a:rPr lang="en-US" sz="3200" b="0" i="0" dirty="0">
                <a:solidFill>
                  <a:srgbClr val="374151"/>
                </a:solidFill>
                <a:effectLst/>
                <a:highlight>
                  <a:srgbClr val="FFFFFF"/>
                </a:highlight>
                <a:latin typeface="Inter" panose="02000503000000020004" pitchFamily="2" charset="0"/>
              </a:rPr>
              <a:t>and</a:t>
            </a:r>
            <a:r>
              <a:rPr lang="en-US" sz="3200" b="0" i="0" dirty="0">
                <a:solidFill>
                  <a:srgbClr val="374151"/>
                </a:solidFill>
                <a:effectLst/>
                <a:latin typeface="Inter" panose="02000503000000020004" pitchFamily="2" charset="0"/>
              </a:rPr>
              <a:t> </a:t>
            </a:r>
            <a:r>
              <a:rPr lang="en-US" sz="3200" b="1" i="0" u="none" strike="noStrike" dirty="0">
                <a:solidFill>
                  <a:srgbClr val="1E88E5"/>
                </a:solidFill>
                <a:effectLst/>
                <a:latin typeface="Inter" panose="02000503000000020004" pitchFamily="2" charset="0"/>
                <a:hlinkClick r:id="rId3"/>
              </a:rPr>
              <a:t>linked lists</a:t>
            </a:r>
            <a:r>
              <a:rPr lang="en-US" sz="3200" b="0" i="0" dirty="0">
                <a:solidFill>
                  <a:srgbClr val="374151"/>
                </a:solidFill>
                <a:effectLst/>
                <a:highlight>
                  <a:srgbClr val="FFFFFF"/>
                </a:highlight>
                <a:latin typeface="Inter" panose="02000503000000020004" pitchFamily="2" charset="0"/>
              </a:rPr>
              <a:t>, store data sequentially, while non-linear data structures, like</a:t>
            </a:r>
            <a:r>
              <a:rPr lang="en-US" sz="3200" b="0" i="0" dirty="0">
                <a:solidFill>
                  <a:srgbClr val="374151"/>
                </a:solidFill>
                <a:effectLst/>
                <a:latin typeface="Inter" panose="02000503000000020004" pitchFamily="2" charset="0"/>
              </a:rPr>
              <a:t> </a:t>
            </a:r>
            <a:r>
              <a:rPr lang="en-US" sz="3200" b="1" i="0" u="none" strike="noStrike" dirty="0">
                <a:solidFill>
                  <a:srgbClr val="1E88E5"/>
                </a:solidFill>
                <a:effectLst/>
                <a:latin typeface="Inter" panose="02000503000000020004" pitchFamily="2" charset="0"/>
                <a:hlinkClick r:id="rId4"/>
              </a:rPr>
              <a:t>trees</a:t>
            </a:r>
            <a:r>
              <a:rPr lang="en-US" sz="3200" b="0" i="0" dirty="0">
                <a:solidFill>
                  <a:srgbClr val="374151"/>
                </a:solidFill>
                <a:effectLst/>
                <a:latin typeface="Inter" panose="02000503000000020004" pitchFamily="2" charset="0"/>
              </a:rPr>
              <a:t> </a:t>
            </a:r>
            <a:r>
              <a:rPr lang="en-US" sz="3200" b="0" i="0" dirty="0">
                <a:solidFill>
                  <a:srgbClr val="374151"/>
                </a:solidFill>
                <a:effectLst/>
                <a:highlight>
                  <a:srgbClr val="FFFFFF"/>
                </a:highlight>
                <a:latin typeface="Inter" panose="02000503000000020004" pitchFamily="2" charset="0"/>
              </a:rPr>
              <a:t>and</a:t>
            </a:r>
            <a:r>
              <a:rPr lang="en-US" sz="3200" b="0" i="0" dirty="0">
                <a:solidFill>
                  <a:srgbClr val="374151"/>
                </a:solidFill>
                <a:effectLst/>
                <a:latin typeface="Inter" panose="02000503000000020004" pitchFamily="2" charset="0"/>
              </a:rPr>
              <a:t> </a:t>
            </a:r>
            <a:r>
              <a:rPr lang="en-US" sz="3200" b="1" i="0" u="none" strike="noStrike" dirty="0">
                <a:solidFill>
                  <a:srgbClr val="1E88E5"/>
                </a:solidFill>
                <a:effectLst/>
                <a:latin typeface="Inter" panose="02000503000000020004" pitchFamily="2" charset="0"/>
                <a:hlinkClick r:id="rId5"/>
              </a:rPr>
              <a:t>graphs</a:t>
            </a:r>
            <a:r>
              <a:rPr lang="en-US" sz="3200" b="0" i="0" dirty="0">
                <a:solidFill>
                  <a:srgbClr val="374151"/>
                </a:solidFill>
                <a:effectLst/>
                <a:highlight>
                  <a:srgbClr val="FFFFFF"/>
                </a:highlight>
                <a:latin typeface="Inter" panose="02000503000000020004" pitchFamily="2" charset="0"/>
              </a:rPr>
              <a:t>, organize data hierarchically or in interconnected networks. </a:t>
            </a:r>
          </a:p>
          <a:p>
            <a:endParaRPr lang="en-US" sz="3200" dirty="0">
              <a:solidFill>
                <a:srgbClr val="374151"/>
              </a:solidFill>
              <a:highlight>
                <a:srgbClr val="FFFFFF"/>
              </a:highlight>
              <a:latin typeface="Inter" panose="02000503000000020004" pitchFamily="2" charset="0"/>
            </a:endParaRPr>
          </a:p>
          <a:p>
            <a:r>
              <a:rPr lang="en-US" sz="3200" b="0" i="0" dirty="0">
                <a:solidFill>
                  <a:srgbClr val="374151"/>
                </a:solidFill>
                <a:effectLst/>
                <a:highlight>
                  <a:srgbClr val="FFFFFF"/>
                </a:highlight>
                <a:latin typeface="Inter" panose="02000503000000020004" pitchFamily="2" charset="0"/>
              </a:rPr>
              <a:t>Let’s discuss in detail: linear vs non-linear data structures.</a:t>
            </a:r>
            <a:endParaRPr lang="en-US" sz="3200" dirty="0"/>
          </a:p>
        </p:txBody>
      </p:sp>
    </p:spTree>
    <p:extLst>
      <p:ext uri="{BB962C8B-B14F-4D97-AF65-F5344CB8AC3E}">
        <p14:creationId xmlns:p14="http://schemas.microsoft.com/office/powerpoint/2010/main" val="2742608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48749D-CAFF-C9C8-85D7-B0D5C7E137A8}"/>
              </a:ext>
            </a:extLst>
          </p:cNvPr>
          <p:cNvPicPr>
            <a:picLocks noChangeAspect="1"/>
          </p:cNvPicPr>
          <p:nvPr/>
        </p:nvPicPr>
        <p:blipFill>
          <a:blip r:embed="rId2"/>
          <a:stretch>
            <a:fillRect/>
          </a:stretch>
        </p:blipFill>
        <p:spPr>
          <a:xfrm>
            <a:off x="346365" y="415636"/>
            <a:ext cx="11305308" cy="5735782"/>
          </a:xfrm>
          <a:prstGeom prst="rect">
            <a:avLst/>
          </a:prstGeom>
        </p:spPr>
      </p:pic>
    </p:spTree>
    <p:extLst>
      <p:ext uri="{BB962C8B-B14F-4D97-AF65-F5344CB8AC3E}">
        <p14:creationId xmlns:p14="http://schemas.microsoft.com/office/powerpoint/2010/main" val="2617129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D6F6E8-55EE-5B50-0C0C-FB5BA76B248C}"/>
              </a:ext>
            </a:extLst>
          </p:cNvPr>
          <p:cNvSpPr txBox="1"/>
          <p:nvPr/>
        </p:nvSpPr>
        <p:spPr>
          <a:xfrm>
            <a:off x="512617" y="529120"/>
            <a:ext cx="11346873" cy="4154984"/>
          </a:xfrm>
          <a:prstGeom prst="rect">
            <a:avLst/>
          </a:prstGeom>
          <a:noFill/>
        </p:spPr>
        <p:txBody>
          <a:bodyPr wrap="square">
            <a:spAutoFit/>
          </a:bodyPr>
          <a:lstStyle/>
          <a:p>
            <a:pPr algn="l"/>
            <a:r>
              <a:rPr lang="en-US" sz="3600" b="1" i="0" dirty="0">
                <a:solidFill>
                  <a:srgbClr val="111827"/>
                </a:solidFill>
                <a:effectLst/>
                <a:highlight>
                  <a:srgbClr val="FFFFFF"/>
                </a:highlight>
                <a:latin typeface="Inter" panose="02000503000000020004" pitchFamily="2" charset="0"/>
              </a:rPr>
              <a:t>What is Linear Data Structure?</a:t>
            </a:r>
          </a:p>
          <a:p>
            <a:pPr algn="l"/>
            <a:endParaRPr lang="en-US" b="0" i="0" dirty="0">
              <a:solidFill>
                <a:srgbClr val="666666"/>
              </a:solidFill>
              <a:effectLst/>
              <a:highlight>
                <a:srgbClr val="FFFFFF"/>
              </a:highlight>
              <a:latin typeface="Inter" panose="02000503000000020004" pitchFamily="2" charset="0"/>
            </a:endParaRPr>
          </a:p>
          <a:p>
            <a:pPr algn="l"/>
            <a:endParaRPr lang="en-US" dirty="0">
              <a:solidFill>
                <a:srgbClr val="666666"/>
              </a:solidFill>
              <a:highlight>
                <a:srgbClr val="FFFFFF"/>
              </a:highlight>
              <a:latin typeface="Inter" panose="02000503000000020004" pitchFamily="2" charset="0"/>
            </a:endParaRPr>
          </a:p>
          <a:p>
            <a:pPr algn="l"/>
            <a:r>
              <a:rPr lang="en-US" sz="3200" b="0" i="0" dirty="0">
                <a:solidFill>
                  <a:srgbClr val="666666"/>
                </a:solidFill>
                <a:effectLst/>
                <a:highlight>
                  <a:srgbClr val="FFFFFF"/>
                </a:highlight>
                <a:latin typeface="Inter" panose="02000503000000020004" pitchFamily="2" charset="0"/>
              </a:rPr>
              <a:t>A linear data structure is a way of organizing data where elements are arranged in a straight line, one after another. This means that each element is connected to the one before it and the one after it, forming a simple sequence.</a:t>
            </a:r>
            <a:endParaRPr lang="en-US" sz="3200" b="0" i="0" dirty="0">
              <a:solidFill>
                <a:srgbClr val="374151"/>
              </a:solidFill>
              <a:effectLst/>
              <a:highlight>
                <a:srgbClr val="FFFFFF"/>
              </a:highlight>
              <a:latin typeface="Inter" panose="02000503000000020004" pitchFamily="2" charset="0"/>
            </a:endParaRPr>
          </a:p>
          <a:p>
            <a:pPr algn="l"/>
            <a:br>
              <a:rPr lang="en-US" sz="3200" b="0" i="0" dirty="0">
                <a:solidFill>
                  <a:srgbClr val="212529"/>
                </a:solidFill>
                <a:effectLst/>
                <a:highlight>
                  <a:srgbClr val="FFFFFF"/>
                </a:highlight>
                <a:latin typeface="Inter" panose="02000503000000020004" pitchFamily="2" charset="0"/>
              </a:rPr>
            </a:br>
            <a:endParaRPr lang="en-US" sz="3200" b="0" i="0" dirty="0">
              <a:solidFill>
                <a:srgbClr val="212529"/>
              </a:solidFill>
              <a:effectLst/>
              <a:highlight>
                <a:srgbClr val="FFFFFF"/>
              </a:highlight>
              <a:latin typeface="Inter" panose="02000503000000020004" pitchFamily="2" charset="0"/>
            </a:endParaRPr>
          </a:p>
        </p:txBody>
      </p:sp>
    </p:spTree>
    <p:extLst>
      <p:ext uri="{BB962C8B-B14F-4D97-AF65-F5344CB8AC3E}">
        <p14:creationId xmlns:p14="http://schemas.microsoft.com/office/powerpoint/2010/main" val="1583394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6DE9F6-AB4E-956D-6C46-BF37E137388E}"/>
              </a:ext>
            </a:extLst>
          </p:cNvPr>
          <p:cNvSpPr txBox="1"/>
          <p:nvPr/>
        </p:nvSpPr>
        <p:spPr>
          <a:xfrm>
            <a:off x="277090" y="487372"/>
            <a:ext cx="9628909" cy="1200329"/>
          </a:xfrm>
          <a:prstGeom prst="rect">
            <a:avLst/>
          </a:prstGeom>
          <a:noFill/>
        </p:spPr>
        <p:txBody>
          <a:bodyPr wrap="square">
            <a:spAutoFit/>
          </a:bodyPr>
          <a:lstStyle/>
          <a:p>
            <a:pPr algn="l"/>
            <a:r>
              <a:rPr lang="en-US" sz="3600" b="1" i="0" dirty="0">
                <a:solidFill>
                  <a:srgbClr val="111827"/>
                </a:solidFill>
                <a:effectLst/>
                <a:highlight>
                  <a:srgbClr val="FFFFFF"/>
                </a:highlight>
                <a:latin typeface="Inter" panose="02000503000000020004" pitchFamily="2" charset="0"/>
              </a:rPr>
              <a:t>Characteristics of Linear Data Structure</a:t>
            </a:r>
          </a:p>
          <a:p>
            <a:pPr algn="l" rtl="0">
              <a:buFont typeface="Arial" panose="020B0604020202020204" pitchFamily="34" charset="0"/>
              <a:buChar char="•"/>
            </a:pPr>
            <a:br>
              <a:rPr lang="en-US" b="0" i="0" dirty="0">
                <a:solidFill>
                  <a:srgbClr val="374151"/>
                </a:solidFill>
                <a:effectLst/>
                <a:highlight>
                  <a:srgbClr val="FFFFFF"/>
                </a:highlight>
                <a:latin typeface="Inter" panose="02000503000000020004" pitchFamily="2" charset="0"/>
              </a:rPr>
            </a:br>
            <a:endParaRPr lang="en-US" b="0" i="0" dirty="0">
              <a:solidFill>
                <a:srgbClr val="374151"/>
              </a:solidFill>
              <a:effectLst/>
              <a:highlight>
                <a:srgbClr val="FFFFFF"/>
              </a:highlight>
              <a:latin typeface="Inter" panose="02000503000000020004" pitchFamily="2" charset="0"/>
            </a:endParaRPr>
          </a:p>
        </p:txBody>
      </p:sp>
      <p:sp>
        <p:nvSpPr>
          <p:cNvPr id="5" name="TextBox 4">
            <a:extLst>
              <a:ext uri="{FF2B5EF4-FFF2-40B4-BE49-F238E27FC236}">
                <a16:creationId xmlns:a16="http://schemas.microsoft.com/office/drawing/2014/main" id="{668D7BC7-310D-240B-C67E-FFE5E6DB1425}"/>
              </a:ext>
            </a:extLst>
          </p:cNvPr>
          <p:cNvSpPr txBox="1"/>
          <p:nvPr/>
        </p:nvSpPr>
        <p:spPr>
          <a:xfrm>
            <a:off x="277089" y="1087536"/>
            <a:ext cx="11166765" cy="5509200"/>
          </a:xfrm>
          <a:prstGeom prst="rect">
            <a:avLst/>
          </a:prstGeom>
          <a:noFill/>
        </p:spPr>
        <p:txBody>
          <a:bodyPr wrap="square">
            <a:spAutoFit/>
          </a:bodyPr>
          <a:lstStyle/>
          <a:p>
            <a:pPr algn="l" rtl="0">
              <a:buFont typeface="Arial" panose="020B0604020202020204" pitchFamily="34" charset="0"/>
              <a:buChar char="•"/>
            </a:pPr>
            <a:r>
              <a:rPr lang="en-US" sz="3200" b="1" i="0" dirty="0">
                <a:solidFill>
                  <a:srgbClr val="374151"/>
                </a:solidFill>
                <a:effectLst/>
                <a:highlight>
                  <a:srgbClr val="FFFFFF"/>
                </a:highlight>
                <a:latin typeface="Inter" panose="02000503000000020004" pitchFamily="2" charset="0"/>
              </a:rPr>
              <a:t>Sequential Order</a:t>
            </a:r>
            <a:r>
              <a:rPr lang="en-US" sz="3200" b="0" i="0" dirty="0">
                <a:solidFill>
                  <a:srgbClr val="374151"/>
                </a:solidFill>
                <a:effectLst/>
                <a:highlight>
                  <a:srgbClr val="FFFFFF"/>
                </a:highlight>
                <a:latin typeface="Inter" panose="02000503000000020004" pitchFamily="2" charset="0"/>
              </a:rPr>
              <a:t>: Elements are stored in a specific order, one after the other. You can easily move from one element to the next</a:t>
            </a:r>
          </a:p>
          <a:p>
            <a:pPr algn="l" rtl="0"/>
            <a:r>
              <a:rPr lang="en-US" sz="3200" b="0" i="0" dirty="0">
                <a:solidFill>
                  <a:srgbClr val="374151"/>
                </a:solidFill>
                <a:effectLst/>
                <a:highlight>
                  <a:srgbClr val="FFFFFF"/>
                </a:highlight>
                <a:latin typeface="Inter" panose="02000503000000020004" pitchFamily="2" charset="0"/>
              </a:rPr>
              <a:t>.</a:t>
            </a:r>
          </a:p>
          <a:p>
            <a:pPr algn="l" rtl="0">
              <a:buFont typeface="Arial" panose="020B0604020202020204" pitchFamily="34" charset="0"/>
              <a:buChar char="•"/>
            </a:pPr>
            <a:r>
              <a:rPr lang="en-US" sz="3200" b="1" i="0" dirty="0">
                <a:solidFill>
                  <a:srgbClr val="374151"/>
                </a:solidFill>
                <a:effectLst/>
                <a:highlight>
                  <a:srgbClr val="FFFFFF"/>
                </a:highlight>
                <a:latin typeface="Inter" panose="02000503000000020004" pitchFamily="2" charset="0"/>
              </a:rPr>
              <a:t>Single Level:</a:t>
            </a:r>
            <a:r>
              <a:rPr lang="en-US" sz="3200" b="0" i="0" dirty="0">
                <a:solidFill>
                  <a:srgbClr val="374151"/>
                </a:solidFill>
                <a:effectLst/>
                <a:highlight>
                  <a:srgbClr val="FFFFFF"/>
                </a:highlight>
                <a:latin typeface="Inter" panose="02000503000000020004" pitchFamily="2" charset="0"/>
              </a:rPr>
              <a:t> All elements are on the same level, forming a single, continuous sequence.</a:t>
            </a:r>
          </a:p>
          <a:p>
            <a:pPr algn="l" rtl="0"/>
            <a:endParaRPr lang="en-US" sz="3200" b="0" i="0" dirty="0">
              <a:solidFill>
                <a:srgbClr val="374151"/>
              </a:solidFill>
              <a:effectLst/>
              <a:highlight>
                <a:srgbClr val="FFFFFF"/>
              </a:highlight>
              <a:latin typeface="Inter" panose="02000503000000020004" pitchFamily="2" charset="0"/>
            </a:endParaRPr>
          </a:p>
          <a:p>
            <a:pPr algn="l" rtl="0">
              <a:buFont typeface="Arial" panose="020B0604020202020204" pitchFamily="34" charset="0"/>
              <a:buChar char="•"/>
            </a:pPr>
            <a:r>
              <a:rPr lang="en-US" sz="3200" b="1" i="0" dirty="0">
                <a:solidFill>
                  <a:srgbClr val="374151"/>
                </a:solidFill>
                <a:effectLst/>
                <a:highlight>
                  <a:srgbClr val="FFFFFF"/>
                </a:highlight>
                <a:latin typeface="Inter" panose="02000503000000020004" pitchFamily="2" charset="0"/>
              </a:rPr>
              <a:t>Contiguous Memory Allocation:</a:t>
            </a:r>
            <a:r>
              <a:rPr lang="en-US" sz="3200" b="0" i="0" dirty="0">
                <a:solidFill>
                  <a:srgbClr val="374151"/>
                </a:solidFill>
                <a:effectLst/>
                <a:highlight>
                  <a:srgbClr val="FFFFFF"/>
                </a:highlight>
                <a:latin typeface="Inter" panose="02000503000000020004" pitchFamily="2" charset="0"/>
              </a:rPr>
              <a:t> In some linear data structures like arrays, elements are stored next to each other in memory.</a:t>
            </a:r>
          </a:p>
          <a:p>
            <a:pPr algn="l" rtl="0"/>
            <a:endParaRPr lang="en-US" sz="3200" b="0" i="0" dirty="0">
              <a:solidFill>
                <a:srgbClr val="374151"/>
              </a:solidFill>
              <a:effectLst/>
              <a:highlight>
                <a:srgbClr val="FFFFFF"/>
              </a:highlight>
              <a:latin typeface="Inter" panose="02000503000000020004" pitchFamily="2" charset="0"/>
            </a:endParaRPr>
          </a:p>
          <a:p>
            <a:pPr algn="l">
              <a:buFont typeface="Arial" panose="020B0604020202020204" pitchFamily="34" charset="0"/>
              <a:buChar char="•"/>
            </a:pPr>
            <a:r>
              <a:rPr lang="en-US" sz="3200" b="1" i="0" dirty="0">
                <a:solidFill>
                  <a:srgbClr val="374151"/>
                </a:solidFill>
                <a:effectLst/>
                <a:highlight>
                  <a:srgbClr val="FFFFFF"/>
                </a:highlight>
                <a:latin typeface="Inter" panose="02000503000000020004" pitchFamily="2" charset="0"/>
              </a:rPr>
              <a:t>Simple Traversal: </a:t>
            </a:r>
            <a:r>
              <a:rPr lang="en-US" sz="3200" b="0" i="0" dirty="0">
                <a:solidFill>
                  <a:srgbClr val="374151"/>
                </a:solidFill>
                <a:effectLst/>
                <a:highlight>
                  <a:srgbClr val="FFFFFF"/>
                </a:highlight>
                <a:latin typeface="Inter" panose="02000503000000020004" pitchFamily="2" charset="0"/>
              </a:rPr>
              <a:t>It is easy to go through each element one by one, starting from the first element and ending at the last.</a:t>
            </a:r>
          </a:p>
        </p:txBody>
      </p:sp>
    </p:spTree>
    <p:extLst>
      <p:ext uri="{BB962C8B-B14F-4D97-AF65-F5344CB8AC3E}">
        <p14:creationId xmlns:p14="http://schemas.microsoft.com/office/powerpoint/2010/main" val="3555313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02A2E7-54FF-0422-AE18-28C148A3BB1A}"/>
              </a:ext>
            </a:extLst>
          </p:cNvPr>
          <p:cNvSpPr txBox="1"/>
          <p:nvPr/>
        </p:nvSpPr>
        <p:spPr>
          <a:xfrm>
            <a:off x="304800" y="265976"/>
            <a:ext cx="11526982" cy="3662541"/>
          </a:xfrm>
          <a:prstGeom prst="rect">
            <a:avLst/>
          </a:prstGeom>
          <a:noFill/>
        </p:spPr>
        <p:txBody>
          <a:bodyPr wrap="square">
            <a:spAutoFit/>
          </a:bodyPr>
          <a:lstStyle/>
          <a:p>
            <a:pPr algn="l"/>
            <a:r>
              <a:rPr lang="en-US" sz="3600" b="1" i="0" dirty="0">
                <a:solidFill>
                  <a:srgbClr val="111827"/>
                </a:solidFill>
                <a:effectLst/>
                <a:highlight>
                  <a:srgbClr val="FFFFFF"/>
                </a:highlight>
                <a:latin typeface="Inter" panose="02000503000000020004" pitchFamily="2" charset="0"/>
              </a:rPr>
              <a:t>Types of Linear Data Structure</a:t>
            </a:r>
          </a:p>
          <a:p>
            <a:pPr algn="l" rtl="0"/>
            <a:r>
              <a:rPr lang="en-US" b="1" i="0" dirty="0">
                <a:solidFill>
                  <a:srgbClr val="4B5563"/>
                </a:solidFill>
                <a:effectLst/>
                <a:highlight>
                  <a:srgbClr val="FFFFFF"/>
                </a:highlight>
                <a:latin typeface="Inter" panose="02000503000000020004" pitchFamily="2" charset="0"/>
              </a:rPr>
              <a:t>. </a:t>
            </a:r>
            <a:r>
              <a:rPr lang="en-US" sz="2800" b="1" i="0" dirty="0">
                <a:solidFill>
                  <a:srgbClr val="4B5563"/>
                </a:solidFill>
                <a:effectLst/>
                <a:highlight>
                  <a:srgbClr val="FFFFFF"/>
                </a:highlight>
                <a:latin typeface="Inter" panose="02000503000000020004" pitchFamily="2" charset="0"/>
              </a:rPr>
              <a:t>Arrays</a:t>
            </a:r>
          </a:p>
          <a:p>
            <a:pPr algn="l" rtl="0"/>
            <a:r>
              <a:rPr lang="en-US" sz="2800" b="0" i="0" dirty="0">
                <a:solidFill>
                  <a:srgbClr val="666666"/>
                </a:solidFill>
                <a:effectLst/>
                <a:highlight>
                  <a:srgbClr val="FFFFFF"/>
                </a:highlight>
                <a:latin typeface="Inter" panose="02000503000000020004" pitchFamily="2" charset="0"/>
              </a:rPr>
              <a:t>An</a:t>
            </a:r>
            <a:r>
              <a:rPr lang="en-US" sz="2800" b="0" i="0" dirty="0">
                <a:solidFill>
                  <a:srgbClr val="374151"/>
                </a:solidFill>
                <a:effectLst/>
                <a:highlight>
                  <a:srgbClr val="FFFFFF"/>
                </a:highlight>
                <a:latin typeface="Inter" panose="02000503000000020004" pitchFamily="2" charset="0"/>
              </a:rPr>
              <a:t> </a:t>
            </a:r>
            <a:r>
              <a:rPr lang="en-US" sz="2800" b="1" i="0" u="none" strike="noStrike" dirty="0">
                <a:solidFill>
                  <a:srgbClr val="1E88E5"/>
                </a:solidFill>
                <a:effectLst/>
                <a:highlight>
                  <a:srgbClr val="FFFFFF"/>
                </a:highlight>
                <a:latin typeface="Inter" panose="02000503000000020004" pitchFamily="2" charset="0"/>
                <a:hlinkClick r:id="rId2"/>
              </a:rPr>
              <a:t>array</a:t>
            </a:r>
            <a:r>
              <a:rPr lang="en-US" sz="2800" b="0" i="0" dirty="0">
                <a:solidFill>
                  <a:srgbClr val="374151"/>
                </a:solidFill>
                <a:effectLst/>
                <a:highlight>
                  <a:srgbClr val="FFFFFF"/>
                </a:highlight>
                <a:latin typeface="Inter" panose="02000503000000020004" pitchFamily="2" charset="0"/>
              </a:rPr>
              <a:t> </a:t>
            </a:r>
            <a:r>
              <a:rPr lang="en-US" sz="2800" b="0" i="0" dirty="0">
                <a:solidFill>
                  <a:srgbClr val="666666"/>
                </a:solidFill>
                <a:effectLst/>
                <a:highlight>
                  <a:srgbClr val="FFFFFF"/>
                </a:highlight>
                <a:latin typeface="Inter" panose="02000503000000020004" pitchFamily="2" charset="0"/>
              </a:rPr>
              <a:t>is a collection of elements stored in contiguous memory locations. All elements in an array are of the same data type.</a:t>
            </a:r>
          </a:p>
          <a:p>
            <a:pPr algn="l" rtl="0"/>
            <a:r>
              <a:rPr lang="en-US" sz="2800" b="1" i="0" dirty="0">
                <a:solidFill>
                  <a:srgbClr val="4B5563"/>
                </a:solidFill>
                <a:effectLst/>
                <a:highlight>
                  <a:srgbClr val="FFFFFF"/>
                </a:highlight>
                <a:latin typeface="Inter" panose="02000503000000020004" pitchFamily="2" charset="0"/>
              </a:rPr>
              <a:t>Characteristics:</a:t>
            </a:r>
          </a:p>
          <a:p>
            <a:pPr algn="l" rtl="0">
              <a:buFont typeface="Arial" panose="020B0604020202020204" pitchFamily="34" charset="0"/>
              <a:buChar char="•"/>
            </a:pPr>
            <a:r>
              <a:rPr lang="en-US" sz="2800" b="0" i="0" dirty="0">
                <a:solidFill>
                  <a:srgbClr val="6B7280"/>
                </a:solidFill>
                <a:effectLst/>
                <a:highlight>
                  <a:srgbClr val="FFFFFF"/>
                </a:highlight>
                <a:latin typeface="Inter" panose="02000503000000020004" pitchFamily="2" charset="0"/>
              </a:rPr>
              <a:t>Fixed size, determined at the time of array creation.</a:t>
            </a:r>
          </a:p>
          <a:p>
            <a:pPr algn="l" rtl="0">
              <a:buFont typeface="Arial" panose="020B0604020202020204" pitchFamily="34" charset="0"/>
              <a:buChar char="•"/>
            </a:pPr>
            <a:r>
              <a:rPr lang="en-US" sz="2800" b="0" i="0" dirty="0">
                <a:solidFill>
                  <a:srgbClr val="6B7280"/>
                </a:solidFill>
                <a:effectLst/>
                <a:highlight>
                  <a:srgbClr val="FFFFFF"/>
                </a:highlight>
                <a:latin typeface="Inter" panose="02000503000000020004" pitchFamily="2" charset="0"/>
              </a:rPr>
              <a:t>Direct access to elements using an index (0-based indexing).</a:t>
            </a:r>
          </a:p>
          <a:p>
            <a:pPr algn="l" rtl="0"/>
            <a:r>
              <a:rPr lang="en-US" sz="2800" b="1" i="0" dirty="0">
                <a:solidFill>
                  <a:srgbClr val="4B5563"/>
                </a:solidFill>
                <a:effectLst/>
                <a:highlight>
                  <a:srgbClr val="FFFFFF"/>
                </a:highlight>
                <a:latin typeface="Inter" panose="02000503000000020004" pitchFamily="2" charset="0"/>
              </a:rPr>
              <a:t>Example:</a:t>
            </a:r>
          </a:p>
        </p:txBody>
      </p:sp>
      <p:sp>
        <p:nvSpPr>
          <p:cNvPr id="5" name="TextBox 4">
            <a:extLst>
              <a:ext uri="{FF2B5EF4-FFF2-40B4-BE49-F238E27FC236}">
                <a16:creationId xmlns:a16="http://schemas.microsoft.com/office/drawing/2014/main" id="{AFF0475D-8609-797C-315C-4E0B3728F301}"/>
              </a:ext>
            </a:extLst>
          </p:cNvPr>
          <p:cNvSpPr txBox="1"/>
          <p:nvPr/>
        </p:nvSpPr>
        <p:spPr>
          <a:xfrm>
            <a:off x="443345" y="4602126"/>
            <a:ext cx="10806546" cy="923330"/>
          </a:xfrm>
          <a:prstGeom prst="rect">
            <a:avLst/>
          </a:prstGeom>
          <a:noFill/>
        </p:spPr>
        <p:txBody>
          <a:bodyPr wrap="square">
            <a:spAutoFit/>
          </a:bodyPr>
          <a:lstStyle/>
          <a:p>
            <a:r>
              <a:rPr lang="en-US" b="0" i="0" dirty="0" err="1">
                <a:solidFill>
                  <a:srgbClr val="4FCAFB"/>
                </a:solidFill>
                <a:effectLst/>
                <a:highlight>
                  <a:srgbClr val="383B40"/>
                </a:highlight>
                <a:latin typeface="SFMono-Regular"/>
              </a:rPr>
              <a:t>arr</a:t>
            </a:r>
            <a:r>
              <a:rPr lang="en-US" b="0" i="0" dirty="0">
                <a:solidFill>
                  <a:srgbClr val="4FCAFB"/>
                </a:solidFill>
                <a:effectLst/>
                <a:highlight>
                  <a:srgbClr val="383B40"/>
                </a:highlight>
                <a:latin typeface="SFMono-Regular"/>
              </a:rPr>
              <a:t> = [</a:t>
            </a:r>
            <a:r>
              <a:rPr lang="en-US" b="0" i="0" dirty="0">
                <a:solidFill>
                  <a:srgbClr val="D36363"/>
                </a:solidFill>
                <a:effectLst/>
                <a:latin typeface="SFMono-Regular"/>
              </a:rPr>
              <a:t>1</a:t>
            </a:r>
            <a:r>
              <a:rPr lang="en-US" b="0" i="0" dirty="0">
                <a:solidFill>
                  <a:srgbClr val="4FCAFB"/>
                </a:solidFill>
                <a:effectLst/>
                <a:highlight>
                  <a:srgbClr val="383B40"/>
                </a:highlight>
                <a:latin typeface="SFMono-Regular"/>
              </a:rPr>
              <a:t>, </a:t>
            </a:r>
            <a:r>
              <a:rPr lang="en-US" b="0" i="0" dirty="0">
                <a:solidFill>
                  <a:srgbClr val="D36363"/>
                </a:solidFill>
                <a:effectLst/>
                <a:latin typeface="SFMono-Regular"/>
              </a:rPr>
              <a:t>2</a:t>
            </a:r>
            <a:r>
              <a:rPr lang="en-US" b="0" i="0" dirty="0">
                <a:solidFill>
                  <a:srgbClr val="4FCAFB"/>
                </a:solidFill>
                <a:effectLst/>
                <a:highlight>
                  <a:srgbClr val="383B40"/>
                </a:highlight>
                <a:latin typeface="SFMono-Regular"/>
              </a:rPr>
              <a:t>, </a:t>
            </a:r>
            <a:r>
              <a:rPr lang="en-US" b="0" i="0" dirty="0">
                <a:solidFill>
                  <a:srgbClr val="D36363"/>
                </a:solidFill>
                <a:effectLst/>
                <a:latin typeface="SFMono-Regular"/>
              </a:rPr>
              <a:t>3</a:t>
            </a:r>
            <a:r>
              <a:rPr lang="en-US" b="0" i="0" dirty="0">
                <a:solidFill>
                  <a:srgbClr val="4FCAFB"/>
                </a:solidFill>
                <a:effectLst/>
                <a:highlight>
                  <a:srgbClr val="383B40"/>
                </a:highlight>
                <a:latin typeface="SFMono-Regular"/>
              </a:rPr>
              <a:t>, </a:t>
            </a:r>
            <a:r>
              <a:rPr lang="en-US" b="0" i="0" dirty="0">
                <a:solidFill>
                  <a:srgbClr val="D36363"/>
                </a:solidFill>
                <a:effectLst/>
                <a:latin typeface="SFMono-Regular"/>
              </a:rPr>
              <a:t>4</a:t>
            </a:r>
            <a:r>
              <a:rPr lang="en-US" b="0" i="0" dirty="0">
                <a:solidFill>
                  <a:srgbClr val="4FCAFB"/>
                </a:solidFill>
                <a:effectLst/>
                <a:highlight>
                  <a:srgbClr val="383B40"/>
                </a:highlight>
                <a:latin typeface="SFMono-Regular"/>
              </a:rPr>
              <a:t>, </a:t>
            </a:r>
            <a:r>
              <a:rPr lang="en-US" b="0" i="0" dirty="0">
                <a:solidFill>
                  <a:srgbClr val="D36363"/>
                </a:solidFill>
                <a:effectLst/>
                <a:latin typeface="SFMono-Regular"/>
              </a:rPr>
              <a:t>5</a:t>
            </a:r>
            <a:r>
              <a:rPr lang="en-US" b="0" i="0" dirty="0">
                <a:solidFill>
                  <a:srgbClr val="4FCAFB"/>
                </a:solidFill>
                <a:effectLst/>
                <a:highlight>
                  <a:srgbClr val="383B40"/>
                </a:highlight>
                <a:latin typeface="SFMono-Regular"/>
              </a:rPr>
              <a:t>] # </a:t>
            </a:r>
            <a:r>
              <a:rPr lang="en-US" b="0" i="0" dirty="0">
                <a:solidFill>
                  <a:srgbClr val="FFFFAA"/>
                </a:solidFill>
                <a:effectLst/>
                <a:highlight>
                  <a:srgbClr val="000000"/>
                </a:highlight>
                <a:latin typeface="SFMono-Regular"/>
              </a:rPr>
              <a:t>Array</a:t>
            </a:r>
            <a:r>
              <a:rPr lang="en-US" b="0" i="0" dirty="0">
                <a:solidFill>
                  <a:srgbClr val="4FCAFB"/>
                </a:solidFill>
                <a:effectLst/>
                <a:highlight>
                  <a:srgbClr val="000000"/>
                </a:highlight>
                <a:latin typeface="SFMono-Regular"/>
              </a:rPr>
              <a:t> </a:t>
            </a:r>
            <a:r>
              <a:rPr lang="en-US" b="0" i="0" dirty="0">
                <a:solidFill>
                  <a:srgbClr val="F8E81C"/>
                </a:solidFill>
                <a:effectLst/>
                <a:highlight>
                  <a:srgbClr val="000000"/>
                </a:highlight>
                <a:latin typeface="SFMono-Regular"/>
              </a:rPr>
              <a:t>with</a:t>
            </a:r>
            <a:r>
              <a:rPr lang="en-US" b="0" i="0" dirty="0">
                <a:solidFill>
                  <a:srgbClr val="4FCAFB"/>
                </a:solidFill>
                <a:effectLst/>
                <a:highlight>
                  <a:srgbClr val="000000"/>
                </a:highlight>
                <a:latin typeface="SFMono-Regular"/>
              </a:rPr>
              <a:t> </a:t>
            </a:r>
            <a:r>
              <a:rPr lang="en-US" b="0" i="0" dirty="0">
                <a:solidFill>
                  <a:srgbClr val="D36363"/>
                </a:solidFill>
                <a:effectLst/>
                <a:highlight>
                  <a:srgbClr val="000000"/>
                </a:highlight>
                <a:latin typeface="SFMono-Regular"/>
              </a:rPr>
              <a:t>5</a:t>
            </a:r>
            <a:r>
              <a:rPr lang="en-US" b="0" i="0" dirty="0">
                <a:solidFill>
                  <a:srgbClr val="4FCAFB"/>
                </a:solidFill>
                <a:effectLst/>
                <a:highlight>
                  <a:srgbClr val="000000"/>
                </a:highlight>
                <a:latin typeface="SFMono-Regular"/>
              </a:rPr>
              <a:t> elements</a:t>
            </a:r>
          </a:p>
          <a:p>
            <a:endParaRPr lang="en-US" dirty="0">
              <a:solidFill>
                <a:srgbClr val="4FCAFB"/>
              </a:solidFill>
              <a:highlight>
                <a:srgbClr val="000000"/>
              </a:highlight>
              <a:latin typeface="SFMono-Regular"/>
            </a:endParaRPr>
          </a:p>
          <a:p>
            <a:r>
              <a:rPr lang="en-US" b="0" i="0" dirty="0">
                <a:solidFill>
                  <a:srgbClr val="4FCAFB"/>
                </a:solidFill>
                <a:effectLst/>
                <a:highlight>
                  <a:srgbClr val="000000"/>
                </a:highlight>
                <a:latin typeface="SFMono-Regular"/>
              </a:rPr>
              <a:t> </a:t>
            </a:r>
            <a:r>
              <a:rPr lang="en-US" b="0" i="0" dirty="0">
                <a:solidFill>
                  <a:srgbClr val="4FCAFB"/>
                </a:solidFill>
                <a:effectLst/>
                <a:highlight>
                  <a:srgbClr val="383B40"/>
                </a:highlight>
                <a:latin typeface="SFMono-Regular"/>
              </a:rPr>
              <a:t>print(</a:t>
            </a:r>
            <a:r>
              <a:rPr lang="en-US" b="0" i="0" dirty="0" err="1">
                <a:solidFill>
                  <a:srgbClr val="4FCAFB"/>
                </a:solidFill>
                <a:effectLst/>
                <a:highlight>
                  <a:srgbClr val="383B40"/>
                </a:highlight>
                <a:latin typeface="SFMono-Regular"/>
              </a:rPr>
              <a:t>arr</a:t>
            </a:r>
            <a:r>
              <a:rPr lang="en-US" b="0" i="0" dirty="0">
                <a:solidFill>
                  <a:srgbClr val="4FCAFB"/>
                </a:solidFill>
                <a:effectLst/>
                <a:highlight>
                  <a:srgbClr val="383B40"/>
                </a:highlight>
                <a:latin typeface="SFMono-Regular"/>
              </a:rPr>
              <a:t>[</a:t>
            </a:r>
            <a:r>
              <a:rPr lang="en-US" b="0" i="0" dirty="0">
                <a:solidFill>
                  <a:srgbClr val="D36363"/>
                </a:solidFill>
                <a:effectLst/>
                <a:latin typeface="SFMono-Regular"/>
              </a:rPr>
              <a:t>2</a:t>
            </a:r>
            <a:r>
              <a:rPr lang="en-US" b="0" i="0" dirty="0">
                <a:solidFill>
                  <a:srgbClr val="4FCAFB"/>
                </a:solidFill>
                <a:effectLst/>
                <a:highlight>
                  <a:srgbClr val="383B40"/>
                </a:highlight>
                <a:latin typeface="SFMono-Regular"/>
              </a:rPr>
              <a:t>]) # Accessing the third element</a:t>
            </a:r>
            <a:endParaRPr lang="en-US" dirty="0"/>
          </a:p>
        </p:txBody>
      </p:sp>
    </p:spTree>
    <p:extLst>
      <p:ext uri="{BB962C8B-B14F-4D97-AF65-F5344CB8AC3E}">
        <p14:creationId xmlns:p14="http://schemas.microsoft.com/office/powerpoint/2010/main" val="1964366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A89E41-A9CE-174F-E45C-35A4624E48E4}"/>
              </a:ext>
            </a:extLst>
          </p:cNvPr>
          <p:cNvSpPr txBox="1"/>
          <p:nvPr/>
        </p:nvSpPr>
        <p:spPr>
          <a:xfrm>
            <a:off x="152399" y="737030"/>
            <a:ext cx="11804073" cy="4093428"/>
          </a:xfrm>
          <a:prstGeom prst="rect">
            <a:avLst/>
          </a:prstGeom>
          <a:noFill/>
        </p:spPr>
        <p:txBody>
          <a:bodyPr wrap="square">
            <a:spAutoFit/>
          </a:bodyPr>
          <a:lstStyle/>
          <a:p>
            <a:pPr algn="l" rtl="0"/>
            <a:r>
              <a:rPr lang="en-US" sz="3600" b="1" i="0" dirty="0">
                <a:solidFill>
                  <a:srgbClr val="4B5563"/>
                </a:solidFill>
                <a:effectLst/>
                <a:highlight>
                  <a:srgbClr val="FFFFFF"/>
                </a:highlight>
                <a:latin typeface="Inter" panose="02000503000000020004" pitchFamily="2" charset="0"/>
              </a:rPr>
              <a:t>2. Linked Lists</a:t>
            </a:r>
          </a:p>
          <a:p>
            <a:pPr algn="l" rtl="0"/>
            <a:r>
              <a:rPr lang="en-US" sz="3200" b="0" i="0" dirty="0">
                <a:solidFill>
                  <a:srgbClr val="666666"/>
                </a:solidFill>
                <a:effectLst/>
                <a:highlight>
                  <a:srgbClr val="FFFFFF"/>
                </a:highlight>
                <a:latin typeface="Inter" panose="02000503000000020004" pitchFamily="2" charset="0"/>
              </a:rPr>
              <a:t>A</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linked list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is a collection of nodes where each node contains data and a reference (or link) to the next node in the sequence.</a:t>
            </a:r>
          </a:p>
          <a:p>
            <a:pPr algn="l" rtl="0"/>
            <a:r>
              <a:rPr lang="en-US" sz="3200" b="1" i="0" dirty="0">
                <a:solidFill>
                  <a:srgbClr val="4B5563"/>
                </a:solidFill>
                <a:effectLst/>
                <a:highlight>
                  <a:srgbClr val="FFFFFF"/>
                </a:highlight>
                <a:latin typeface="Inter" panose="02000503000000020004" pitchFamily="2" charset="0"/>
              </a:rPr>
              <a:t>Types:</a:t>
            </a:r>
          </a:p>
          <a:p>
            <a:pPr algn="l"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3"/>
              </a:rPr>
              <a:t>Singly Linked List</a:t>
            </a:r>
            <a:r>
              <a:rPr lang="en-US" sz="3200" b="1" i="0" dirty="0">
                <a:solidFill>
                  <a:srgbClr val="6B7280"/>
                </a:solidFill>
                <a:effectLst/>
                <a:highlight>
                  <a:srgbClr val="FFFFFF"/>
                </a:highlight>
                <a:latin typeface="Inter" panose="02000503000000020004" pitchFamily="2" charset="0"/>
              </a:rPr>
              <a: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Each node points to the next node.</a:t>
            </a:r>
          </a:p>
          <a:p>
            <a:pPr algn="l"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4"/>
              </a:rPr>
              <a:t>Doubly Linked List</a:t>
            </a:r>
            <a:r>
              <a:rPr lang="en-US" sz="3200" b="1" i="0" dirty="0">
                <a:solidFill>
                  <a:srgbClr val="6B7280"/>
                </a:solidFill>
                <a:effectLst/>
                <a:highlight>
                  <a:srgbClr val="FFFFFF"/>
                </a:highlight>
                <a:latin typeface="Inter" panose="02000503000000020004" pitchFamily="2" charset="0"/>
              </a:rPr>
              <a: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Each node points to both the next and the previous nodes.</a:t>
            </a:r>
          </a:p>
          <a:p>
            <a:pPr algn="l"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5"/>
              </a:rPr>
              <a:t>Circular Linked List</a:t>
            </a:r>
            <a:r>
              <a:rPr lang="en-US" sz="3200" b="1" i="0" dirty="0">
                <a:solidFill>
                  <a:srgbClr val="6B7280"/>
                </a:solidFill>
                <a:effectLst/>
                <a:highlight>
                  <a:srgbClr val="FFFFFF"/>
                </a:highlight>
                <a:latin typeface="Inter" panose="02000503000000020004" pitchFamily="2" charset="0"/>
              </a:rPr>
              <a: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The last node points back to the first node.</a:t>
            </a:r>
          </a:p>
        </p:txBody>
      </p:sp>
    </p:spTree>
    <p:extLst>
      <p:ext uri="{BB962C8B-B14F-4D97-AF65-F5344CB8AC3E}">
        <p14:creationId xmlns:p14="http://schemas.microsoft.com/office/powerpoint/2010/main" val="2124608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6C4E7-3A6A-0923-23E4-6E47F9895CF4}"/>
              </a:ext>
            </a:extLst>
          </p:cNvPr>
          <p:cNvSpPr txBox="1"/>
          <p:nvPr/>
        </p:nvSpPr>
        <p:spPr>
          <a:xfrm>
            <a:off x="221672" y="362866"/>
            <a:ext cx="11970327" cy="2800767"/>
          </a:xfrm>
          <a:prstGeom prst="rect">
            <a:avLst/>
          </a:prstGeom>
          <a:noFill/>
        </p:spPr>
        <p:txBody>
          <a:bodyPr wrap="square">
            <a:spAutoFit/>
          </a:bodyPr>
          <a:lstStyle/>
          <a:p>
            <a:pPr algn="l" rtl="0"/>
            <a:r>
              <a:rPr lang="en-US" sz="3600" b="1" i="0" dirty="0">
                <a:solidFill>
                  <a:srgbClr val="4B5563"/>
                </a:solidFill>
                <a:effectLst/>
                <a:highlight>
                  <a:srgbClr val="FFFFFF"/>
                </a:highlight>
                <a:latin typeface="Inter" panose="02000503000000020004" pitchFamily="2" charset="0"/>
              </a:rPr>
              <a:t>3. Stacks</a:t>
            </a:r>
          </a:p>
          <a:p>
            <a:pPr algn="l" rtl="0"/>
            <a:r>
              <a:rPr lang="en-US" sz="2800" b="0" i="0" dirty="0">
                <a:solidFill>
                  <a:srgbClr val="666666"/>
                </a:solidFill>
                <a:effectLst/>
                <a:highlight>
                  <a:srgbClr val="FFFFFF"/>
                </a:highlight>
                <a:latin typeface="Inter" panose="02000503000000020004" pitchFamily="2" charset="0"/>
              </a:rPr>
              <a:t>A</a:t>
            </a:r>
            <a:r>
              <a:rPr lang="en-US" sz="2800" b="0" i="0" dirty="0">
                <a:solidFill>
                  <a:srgbClr val="374151"/>
                </a:solidFill>
                <a:effectLst/>
                <a:highlight>
                  <a:srgbClr val="FFFFFF"/>
                </a:highlight>
                <a:latin typeface="Inter" panose="02000503000000020004" pitchFamily="2" charset="0"/>
              </a:rPr>
              <a:t> </a:t>
            </a:r>
            <a:r>
              <a:rPr lang="en-US" sz="2800" b="1" i="0" u="none" strike="noStrike" dirty="0">
                <a:solidFill>
                  <a:srgbClr val="1E88E5"/>
                </a:solidFill>
                <a:effectLst/>
                <a:highlight>
                  <a:srgbClr val="FFFFFF"/>
                </a:highlight>
                <a:latin typeface="Inter" panose="02000503000000020004" pitchFamily="2" charset="0"/>
                <a:hlinkClick r:id="rId2"/>
              </a:rPr>
              <a:t>stack</a:t>
            </a:r>
            <a:r>
              <a:rPr lang="en-US" sz="2800" b="0" i="0" dirty="0">
                <a:solidFill>
                  <a:srgbClr val="374151"/>
                </a:solidFill>
                <a:effectLst/>
                <a:highlight>
                  <a:srgbClr val="FFFFFF"/>
                </a:highlight>
                <a:latin typeface="Inter" panose="02000503000000020004" pitchFamily="2" charset="0"/>
              </a:rPr>
              <a:t> </a:t>
            </a:r>
            <a:r>
              <a:rPr lang="en-US" sz="2800" b="0" i="0" dirty="0">
                <a:solidFill>
                  <a:srgbClr val="666666"/>
                </a:solidFill>
                <a:effectLst/>
                <a:highlight>
                  <a:srgbClr val="FFFFFF"/>
                </a:highlight>
                <a:latin typeface="Inter" panose="02000503000000020004" pitchFamily="2" charset="0"/>
              </a:rPr>
              <a:t>is a linear data structure that follows the Last In, First Out (LIFO) principle. Elements are added and removed from the same end, called the "top".</a:t>
            </a:r>
          </a:p>
          <a:p>
            <a:pPr algn="l" rtl="0"/>
            <a:r>
              <a:rPr lang="en-US" sz="2800" b="1" i="0" dirty="0">
                <a:solidFill>
                  <a:srgbClr val="4B5563"/>
                </a:solidFill>
                <a:effectLst/>
                <a:highlight>
                  <a:srgbClr val="FFFFFF"/>
                </a:highlight>
                <a:latin typeface="Inter" panose="02000503000000020004" pitchFamily="2" charset="0"/>
              </a:rPr>
              <a:t>Characteristics:</a:t>
            </a:r>
          </a:p>
          <a:p>
            <a:pPr algn="l" rtl="0">
              <a:buFont typeface="Arial" panose="020B0604020202020204" pitchFamily="34" charset="0"/>
              <a:buChar char="•"/>
            </a:pPr>
            <a:r>
              <a:rPr lang="en-US" sz="2800" b="0" i="0" dirty="0">
                <a:solidFill>
                  <a:srgbClr val="6B7280"/>
                </a:solidFill>
                <a:effectLst/>
                <a:highlight>
                  <a:srgbClr val="FFFFFF"/>
                </a:highlight>
                <a:latin typeface="Inter" panose="02000503000000020004" pitchFamily="2" charset="0"/>
              </a:rPr>
              <a:t>Only the top element can be accessed, added, or removed.</a:t>
            </a:r>
          </a:p>
          <a:p>
            <a:pPr algn="l" rtl="0">
              <a:buFont typeface="Arial" panose="020B0604020202020204" pitchFamily="34" charset="0"/>
              <a:buChar char="•"/>
            </a:pPr>
            <a:r>
              <a:rPr lang="en-US" sz="2800" b="0" i="0" dirty="0">
                <a:solidFill>
                  <a:srgbClr val="6B7280"/>
                </a:solidFill>
                <a:effectLst/>
                <a:highlight>
                  <a:srgbClr val="FFFFFF"/>
                </a:highlight>
                <a:latin typeface="Inter" panose="02000503000000020004" pitchFamily="2" charset="0"/>
              </a:rPr>
              <a:t>Useful for tasks like reversing a string, parsing expressions, etc.</a:t>
            </a:r>
          </a:p>
        </p:txBody>
      </p:sp>
    </p:spTree>
    <p:extLst>
      <p:ext uri="{BB962C8B-B14F-4D97-AF65-F5344CB8AC3E}">
        <p14:creationId xmlns:p14="http://schemas.microsoft.com/office/powerpoint/2010/main" val="963994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55EFB4-8A59-D0F7-4702-27E8CB8BAB07}"/>
              </a:ext>
            </a:extLst>
          </p:cNvPr>
          <p:cNvSpPr txBox="1"/>
          <p:nvPr/>
        </p:nvSpPr>
        <p:spPr>
          <a:xfrm>
            <a:off x="193964" y="307493"/>
            <a:ext cx="11804072" cy="4031873"/>
          </a:xfrm>
          <a:prstGeom prst="rect">
            <a:avLst/>
          </a:prstGeom>
          <a:noFill/>
        </p:spPr>
        <p:txBody>
          <a:bodyPr wrap="square">
            <a:spAutoFit/>
          </a:bodyPr>
          <a:lstStyle/>
          <a:p>
            <a:pPr algn="l" rtl="0"/>
            <a:r>
              <a:rPr lang="en-US" sz="3200" b="1" i="0" dirty="0">
                <a:solidFill>
                  <a:srgbClr val="4B5563"/>
                </a:solidFill>
                <a:effectLst/>
                <a:highlight>
                  <a:srgbClr val="FFFFFF"/>
                </a:highlight>
                <a:latin typeface="Inter" panose="02000503000000020004" pitchFamily="2" charset="0"/>
              </a:rPr>
              <a:t>4. Queues</a:t>
            </a:r>
          </a:p>
          <a:p>
            <a:pPr algn="l" rtl="0"/>
            <a:r>
              <a:rPr lang="en-US" sz="3200" b="0" i="0" dirty="0">
                <a:solidFill>
                  <a:srgbClr val="666666"/>
                </a:solidFill>
                <a:effectLst/>
                <a:highlight>
                  <a:srgbClr val="FFFFFF"/>
                </a:highlight>
                <a:latin typeface="Inter" panose="02000503000000020004" pitchFamily="2" charset="0"/>
              </a:rPr>
              <a:t>A</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queue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is a linear data structure that follows the First In, First Out (FIFO) principle. Elements are added at the rear and removed from the front.</a:t>
            </a:r>
          </a:p>
          <a:p>
            <a:pPr algn="l" rtl="0"/>
            <a:r>
              <a:rPr lang="en-US" sz="3200" b="1" i="0" dirty="0">
                <a:solidFill>
                  <a:srgbClr val="4B5563"/>
                </a:solidFill>
                <a:effectLst/>
                <a:highlight>
                  <a:srgbClr val="FFFFFF"/>
                </a:highlight>
                <a:latin typeface="Inter" panose="02000503000000020004" pitchFamily="2" charset="0"/>
              </a:rPr>
              <a:t>Characteristics:</a:t>
            </a:r>
          </a:p>
          <a:p>
            <a:pPr algn="l"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Elements are processed in the order they were added.</a:t>
            </a:r>
          </a:p>
          <a:p>
            <a:pPr algn="l"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Useful for tasks like task scheduling, managing requests in a server, etc.</a:t>
            </a:r>
          </a:p>
        </p:txBody>
      </p:sp>
    </p:spTree>
    <p:extLst>
      <p:ext uri="{BB962C8B-B14F-4D97-AF65-F5344CB8AC3E}">
        <p14:creationId xmlns:p14="http://schemas.microsoft.com/office/powerpoint/2010/main" val="474176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B40628-6733-CA37-5AF3-A459770F15DD}"/>
              </a:ext>
            </a:extLst>
          </p:cNvPr>
          <p:cNvSpPr txBox="1"/>
          <p:nvPr/>
        </p:nvSpPr>
        <p:spPr>
          <a:xfrm>
            <a:off x="1731818" y="293407"/>
            <a:ext cx="8506691" cy="646331"/>
          </a:xfrm>
          <a:prstGeom prst="rect">
            <a:avLst/>
          </a:prstGeom>
          <a:noFill/>
        </p:spPr>
        <p:txBody>
          <a:bodyPr wrap="square">
            <a:spAutoFit/>
          </a:bodyPr>
          <a:lstStyle/>
          <a:p>
            <a:pPr algn="l"/>
            <a:r>
              <a:rPr lang="en-US" sz="3600" b="1" i="0" dirty="0">
                <a:solidFill>
                  <a:srgbClr val="111827"/>
                </a:solidFill>
                <a:effectLst/>
                <a:highlight>
                  <a:srgbClr val="FFFFFF"/>
                </a:highlight>
                <a:latin typeface="Inter" panose="02000503000000020004" pitchFamily="2" charset="0"/>
              </a:rPr>
              <a:t>What is Non-linear Data Structure?</a:t>
            </a:r>
          </a:p>
        </p:txBody>
      </p:sp>
      <p:sp>
        <p:nvSpPr>
          <p:cNvPr id="5" name="TextBox 4">
            <a:extLst>
              <a:ext uri="{FF2B5EF4-FFF2-40B4-BE49-F238E27FC236}">
                <a16:creationId xmlns:a16="http://schemas.microsoft.com/office/drawing/2014/main" id="{D82890FD-6D8F-49AD-811E-2BE50B9CD401}"/>
              </a:ext>
            </a:extLst>
          </p:cNvPr>
          <p:cNvSpPr txBox="1"/>
          <p:nvPr/>
        </p:nvSpPr>
        <p:spPr>
          <a:xfrm>
            <a:off x="290945" y="1637484"/>
            <a:ext cx="11610110" cy="3539430"/>
          </a:xfrm>
          <a:prstGeom prst="rect">
            <a:avLst/>
          </a:prstGeom>
          <a:noFill/>
        </p:spPr>
        <p:txBody>
          <a:bodyPr wrap="square">
            <a:spAutoFit/>
          </a:bodyPr>
          <a:lstStyle/>
          <a:p>
            <a:pPr algn="just" rtl="0"/>
            <a:r>
              <a:rPr lang="en-US" sz="3200" b="0" i="0" dirty="0">
                <a:solidFill>
                  <a:srgbClr val="666666"/>
                </a:solidFill>
                <a:effectLst/>
                <a:highlight>
                  <a:srgbClr val="FFFFFF"/>
                </a:highlight>
                <a:latin typeface="Inter" panose="02000503000000020004" pitchFamily="2" charset="0"/>
              </a:rPr>
              <a:t>A non-linear data structure is a type of data structure where elements are not arranged sequentially or in a linear order. Instead, they are organized in a hierarchical or interconnected manner, forming complex relationships between elements. </a:t>
            </a:r>
          </a:p>
          <a:p>
            <a:pPr algn="just" rtl="0"/>
            <a:r>
              <a:rPr lang="en-US" sz="3200" b="0" i="0" dirty="0">
                <a:solidFill>
                  <a:srgbClr val="666666"/>
                </a:solidFill>
                <a:effectLst/>
                <a:highlight>
                  <a:srgbClr val="FFFFFF"/>
                </a:highlight>
                <a:latin typeface="Inter" panose="02000503000000020004" pitchFamily="2" charset="0"/>
              </a:rPr>
              <a:t>This structure allows for more flexible and efficient data organization, especially for representing relationships and hierarchical data.</a:t>
            </a:r>
          </a:p>
        </p:txBody>
      </p:sp>
    </p:spTree>
    <p:extLst>
      <p:ext uri="{BB962C8B-B14F-4D97-AF65-F5344CB8AC3E}">
        <p14:creationId xmlns:p14="http://schemas.microsoft.com/office/powerpoint/2010/main" val="1020753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BD2F56-D0D1-D63B-F331-13198DDFC868}"/>
              </a:ext>
            </a:extLst>
          </p:cNvPr>
          <p:cNvSpPr txBox="1"/>
          <p:nvPr/>
        </p:nvSpPr>
        <p:spPr>
          <a:xfrm>
            <a:off x="900545" y="196334"/>
            <a:ext cx="9060874" cy="646331"/>
          </a:xfrm>
          <a:prstGeom prst="rect">
            <a:avLst/>
          </a:prstGeom>
          <a:noFill/>
        </p:spPr>
        <p:txBody>
          <a:bodyPr wrap="square">
            <a:spAutoFit/>
          </a:bodyPr>
          <a:lstStyle/>
          <a:p>
            <a:pPr algn="l"/>
            <a:r>
              <a:rPr lang="en-US" sz="3600" b="1" i="0" dirty="0">
                <a:solidFill>
                  <a:srgbClr val="111827"/>
                </a:solidFill>
                <a:effectLst/>
                <a:highlight>
                  <a:srgbClr val="FFFFFF"/>
                </a:highlight>
                <a:latin typeface="Inter" panose="02000503000000020004" pitchFamily="2" charset="0"/>
              </a:rPr>
              <a:t>Characteristics of Non-linear Data Structures</a:t>
            </a:r>
          </a:p>
        </p:txBody>
      </p:sp>
      <p:sp>
        <p:nvSpPr>
          <p:cNvPr id="5" name="TextBox 4">
            <a:extLst>
              <a:ext uri="{FF2B5EF4-FFF2-40B4-BE49-F238E27FC236}">
                <a16:creationId xmlns:a16="http://schemas.microsoft.com/office/drawing/2014/main" id="{17272C60-F253-540B-DDA6-812F3D14E06F}"/>
              </a:ext>
            </a:extLst>
          </p:cNvPr>
          <p:cNvSpPr txBox="1"/>
          <p:nvPr/>
        </p:nvSpPr>
        <p:spPr>
          <a:xfrm>
            <a:off x="284018" y="1166842"/>
            <a:ext cx="11623964" cy="5016758"/>
          </a:xfrm>
          <a:prstGeom prst="rect">
            <a:avLst/>
          </a:prstGeom>
          <a:noFill/>
        </p:spPr>
        <p:txBody>
          <a:bodyPr wrap="square">
            <a:spAutoFit/>
          </a:bodyPr>
          <a:lstStyle/>
          <a:p>
            <a:pPr algn="just" rtl="0"/>
            <a:r>
              <a:rPr lang="en-US" b="1" i="0" dirty="0">
                <a:solidFill>
                  <a:srgbClr val="4B5563"/>
                </a:solidFill>
                <a:effectLst/>
                <a:highlight>
                  <a:srgbClr val="FFFFFF"/>
                </a:highlight>
                <a:latin typeface="Inter" panose="02000503000000020004" pitchFamily="2" charset="0"/>
              </a:rPr>
              <a:t>1. </a:t>
            </a:r>
            <a:r>
              <a:rPr lang="en-US" sz="3200" b="1" i="0" dirty="0">
                <a:solidFill>
                  <a:srgbClr val="4B5563"/>
                </a:solidFill>
                <a:effectLst/>
                <a:highlight>
                  <a:srgbClr val="FFFFFF"/>
                </a:highlight>
                <a:latin typeface="Inter" panose="02000503000000020004" pitchFamily="2" charset="0"/>
              </a:rPr>
              <a:t>Hierarchical Structure:</a:t>
            </a:r>
          </a:p>
          <a:p>
            <a:pPr algn="just" rtl="0"/>
            <a:r>
              <a:rPr lang="en-US" sz="3200" b="0" i="0" dirty="0">
                <a:solidFill>
                  <a:srgbClr val="666666"/>
                </a:solidFill>
                <a:effectLst/>
                <a:highlight>
                  <a:srgbClr val="FFFFFF"/>
                </a:highlight>
                <a:latin typeface="Inter" panose="02000503000000020004" pitchFamily="2" charset="0"/>
              </a:rPr>
              <a:t>Elements are arranged in a hierarchy, with a parent-child relationship. This is especially true for</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tree data structures</a:t>
            </a:r>
            <a:r>
              <a:rPr lang="en-US" sz="3200" b="0" i="0" dirty="0">
                <a:solidFill>
                  <a:srgbClr val="666666"/>
                </a:solidFill>
                <a:effectLst/>
                <a:highlight>
                  <a:srgbClr val="FFFFFF"/>
                </a:highlight>
                <a:latin typeface="Inter" panose="02000503000000020004" pitchFamily="2" charset="0"/>
              </a:rPr>
              <a:t>.</a:t>
            </a:r>
          </a:p>
          <a:p>
            <a:pPr algn="just" rtl="0"/>
            <a:r>
              <a:rPr lang="en-US" sz="3200" b="1" i="0" dirty="0">
                <a:solidFill>
                  <a:srgbClr val="666666"/>
                </a:solidFill>
                <a:effectLst/>
                <a:highlight>
                  <a:srgbClr val="FFFFFF"/>
                </a:highlight>
                <a:latin typeface="Inter" panose="02000503000000020004" pitchFamily="2" charset="0"/>
              </a:rPr>
              <a:t>Examples:</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Trees, where nodes represent elements, and edges represent relationships between nodes.</a:t>
            </a:r>
          </a:p>
          <a:p>
            <a:pPr algn="just" rtl="0"/>
            <a:endParaRPr lang="en-US" sz="3200" b="0" i="0" dirty="0">
              <a:solidFill>
                <a:srgbClr val="666666"/>
              </a:solidFill>
              <a:effectLst/>
              <a:highlight>
                <a:srgbClr val="FFFFFF"/>
              </a:highlight>
              <a:latin typeface="Inter" panose="02000503000000020004" pitchFamily="2" charset="0"/>
            </a:endParaRPr>
          </a:p>
          <a:p>
            <a:pPr algn="just" rtl="0"/>
            <a:r>
              <a:rPr lang="en-US" sz="3200" b="1" i="0" dirty="0">
                <a:solidFill>
                  <a:srgbClr val="4B5563"/>
                </a:solidFill>
                <a:effectLst/>
                <a:highlight>
                  <a:srgbClr val="FFFFFF"/>
                </a:highlight>
                <a:latin typeface="Inter" panose="02000503000000020004" pitchFamily="2" charset="0"/>
              </a:rPr>
              <a:t>2. Multiple Levels:</a:t>
            </a:r>
          </a:p>
          <a:p>
            <a:pPr algn="just" rtl="0"/>
            <a:r>
              <a:rPr lang="en-US" sz="3200" b="0" i="0" dirty="0">
                <a:solidFill>
                  <a:srgbClr val="666666"/>
                </a:solidFill>
                <a:effectLst/>
                <a:highlight>
                  <a:srgbClr val="FFFFFF"/>
                </a:highlight>
                <a:latin typeface="Inter" panose="02000503000000020004" pitchFamily="2" charset="0"/>
              </a:rPr>
              <a:t>Non-linear data structures can have multiple levels of elements, unlike linear data structures which have a single level.</a:t>
            </a:r>
          </a:p>
          <a:p>
            <a:pPr algn="just" rtl="0"/>
            <a:r>
              <a:rPr lang="en-US" sz="3200" b="1" i="0" dirty="0">
                <a:solidFill>
                  <a:srgbClr val="666666"/>
                </a:solidFill>
                <a:effectLst/>
                <a:highlight>
                  <a:srgbClr val="FFFFFF"/>
                </a:highlight>
                <a:latin typeface="Inter" panose="02000503000000020004" pitchFamily="2" charset="0"/>
              </a:rPr>
              <a:t>Example: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A tree with multiple levels of nodes</a:t>
            </a:r>
          </a:p>
        </p:txBody>
      </p:sp>
    </p:spTree>
    <p:extLst>
      <p:ext uri="{BB962C8B-B14F-4D97-AF65-F5344CB8AC3E}">
        <p14:creationId xmlns:p14="http://schemas.microsoft.com/office/powerpoint/2010/main" val="3895928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FEA41F-8219-1879-F5F2-352DE4907576}"/>
              </a:ext>
            </a:extLst>
          </p:cNvPr>
          <p:cNvSpPr txBox="1"/>
          <p:nvPr/>
        </p:nvSpPr>
        <p:spPr>
          <a:xfrm>
            <a:off x="110837" y="446222"/>
            <a:ext cx="11748654" cy="6494085"/>
          </a:xfrm>
          <a:prstGeom prst="rect">
            <a:avLst/>
          </a:prstGeom>
          <a:noFill/>
        </p:spPr>
        <p:txBody>
          <a:bodyPr wrap="square">
            <a:spAutoFit/>
          </a:bodyPr>
          <a:lstStyle/>
          <a:p>
            <a:pPr algn="just" rtl="0"/>
            <a:r>
              <a:rPr lang="en-US" sz="3200" b="1" i="0" dirty="0">
                <a:solidFill>
                  <a:srgbClr val="4B5563"/>
                </a:solidFill>
                <a:effectLst/>
                <a:highlight>
                  <a:srgbClr val="FFFFFF"/>
                </a:highlight>
                <a:latin typeface="Inter" panose="02000503000000020004" pitchFamily="2" charset="0"/>
              </a:rPr>
              <a:t>3. Dynamic Relationships:</a:t>
            </a:r>
          </a:p>
          <a:p>
            <a:pPr algn="just" rtl="0"/>
            <a:r>
              <a:rPr lang="en-US" sz="3200" b="0" i="0" dirty="0">
                <a:solidFill>
                  <a:srgbClr val="666666"/>
                </a:solidFill>
                <a:effectLst/>
                <a:highlight>
                  <a:srgbClr val="FFFFFF"/>
                </a:highlight>
                <a:latin typeface="Inter" panose="02000503000000020004" pitchFamily="2" charset="0"/>
              </a:rPr>
              <a:t>Elements can have multiple connections, creating complex relationships.</a:t>
            </a:r>
          </a:p>
          <a:p>
            <a:pPr algn="just" rtl="0"/>
            <a:r>
              <a:rPr lang="en-US" sz="3200" b="1" i="0" dirty="0">
                <a:solidFill>
                  <a:srgbClr val="666666"/>
                </a:solidFill>
                <a:effectLst/>
                <a:highlight>
                  <a:srgbClr val="FFFFFF"/>
                </a:highlight>
                <a:latin typeface="Inter" panose="02000503000000020004" pitchFamily="2" charset="0"/>
              </a:rPr>
              <a:t>Examples:</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Graphs, where nodes can be connected to many other nodes, forming networks.</a:t>
            </a:r>
          </a:p>
          <a:p>
            <a:pPr algn="just" rtl="0"/>
            <a:endParaRPr lang="en-US" sz="3200" b="0" i="0" dirty="0">
              <a:solidFill>
                <a:srgbClr val="666666"/>
              </a:solidFill>
              <a:effectLst/>
              <a:highlight>
                <a:srgbClr val="FFFFFF"/>
              </a:highlight>
              <a:latin typeface="Inter" panose="02000503000000020004" pitchFamily="2" charset="0"/>
            </a:endParaRPr>
          </a:p>
          <a:p>
            <a:pPr algn="just" rtl="0"/>
            <a:r>
              <a:rPr lang="en-US" sz="3200" b="1" i="0" dirty="0">
                <a:solidFill>
                  <a:srgbClr val="4B5563"/>
                </a:solidFill>
                <a:effectLst/>
                <a:highlight>
                  <a:srgbClr val="FFFFFF"/>
                </a:highlight>
                <a:latin typeface="Inter" panose="02000503000000020004" pitchFamily="2" charset="0"/>
              </a:rPr>
              <a:t>4. Efficient Data Retrieval:</a:t>
            </a:r>
          </a:p>
          <a:p>
            <a:pPr algn="just" rtl="0"/>
            <a:r>
              <a:rPr lang="en-US" sz="3200" b="0" i="0" dirty="0">
                <a:solidFill>
                  <a:srgbClr val="666666"/>
                </a:solidFill>
                <a:effectLst/>
                <a:highlight>
                  <a:srgbClr val="FFFFFF"/>
                </a:highlight>
                <a:latin typeface="Inter" panose="02000503000000020004" pitchFamily="2" charset="0"/>
              </a:rPr>
              <a:t>Non-linear data structures allow for efficient data retrieval and manipulation, particularly when dealing with hierarchical data.</a:t>
            </a:r>
          </a:p>
          <a:p>
            <a:pPr algn="just" rtl="0"/>
            <a:r>
              <a:rPr lang="en-US" sz="3200" b="1" i="0" dirty="0">
                <a:solidFill>
                  <a:srgbClr val="666666"/>
                </a:solidFill>
                <a:effectLst/>
                <a:highlight>
                  <a:srgbClr val="FFFFFF"/>
                </a:highlight>
                <a:latin typeface="Inter" panose="02000503000000020004" pitchFamily="2" charset="0"/>
              </a:rPr>
              <a:t>Example: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Searching for an element in a balanced</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binary search tree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is faster compared to a linear search in an array.</a:t>
            </a:r>
          </a:p>
          <a:p>
            <a:pPr algn="just"/>
            <a:br>
              <a:rPr lang="en-US" sz="3200" dirty="0"/>
            </a:br>
            <a:endParaRPr lang="en-US" sz="3200" dirty="0"/>
          </a:p>
        </p:txBody>
      </p:sp>
    </p:spTree>
    <p:extLst>
      <p:ext uri="{BB962C8B-B14F-4D97-AF65-F5344CB8AC3E}">
        <p14:creationId xmlns:p14="http://schemas.microsoft.com/office/powerpoint/2010/main" val="817350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44787A-BD5B-FBCF-557A-A708B4805E79}"/>
              </a:ext>
            </a:extLst>
          </p:cNvPr>
          <p:cNvSpPr txBox="1"/>
          <p:nvPr/>
        </p:nvSpPr>
        <p:spPr>
          <a:xfrm>
            <a:off x="193963" y="390758"/>
            <a:ext cx="11817928" cy="6001643"/>
          </a:xfrm>
          <a:prstGeom prst="rect">
            <a:avLst/>
          </a:prstGeom>
          <a:noFill/>
        </p:spPr>
        <p:txBody>
          <a:bodyPr wrap="square">
            <a:spAutoFit/>
          </a:bodyPr>
          <a:lstStyle/>
          <a:p>
            <a:pPr algn="just" rtl="0"/>
            <a:r>
              <a:rPr lang="en-US" sz="3200" b="1" i="0" dirty="0">
                <a:solidFill>
                  <a:srgbClr val="4B5563"/>
                </a:solidFill>
                <a:effectLst/>
                <a:highlight>
                  <a:srgbClr val="FFFFFF"/>
                </a:highlight>
                <a:latin typeface="Inter" panose="02000503000000020004" pitchFamily="2" charset="0"/>
              </a:rPr>
              <a:t>5. Non-contiguous Memory Allocation:</a:t>
            </a:r>
          </a:p>
          <a:p>
            <a:pPr algn="just" rtl="0"/>
            <a:r>
              <a:rPr lang="en-US" sz="3200" b="0" i="0" dirty="0">
                <a:solidFill>
                  <a:srgbClr val="666666"/>
                </a:solidFill>
                <a:effectLst/>
                <a:highlight>
                  <a:srgbClr val="FFFFFF"/>
                </a:highlight>
                <a:latin typeface="Inter" panose="02000503000000020004" pitchFamily="2" charset="0"/>
              </a:rPr>
              <a:t>Elements in non-linear data structures are typically stored in non-contiguous memory locations. This allows for flexible and dynamic storage.</a:t>
            </a:r>
          </a:p>
          <a:p>
            <a:pPr algn="just" rtl="0"/>
            <a:r>
              <a:rPr lang="en-US" sz="3200" b="1" i="0" dirty="0">
                <a:solidFill>
                  <a:srgbClr val="666666"/>
                </a:solidFill>
                <a:effectLst/>
                <a:highlight>
                  <a:srgbClr val="FFFFFF"/>
                </a:highlight>
                <a:latin typeface="Inter" panose="02000503000000020004" pitchFamily="2" charset="0"/>
              </a:rPr>
              <a:t>Example: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Nodes in a</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linked list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or</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tree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are stored in different memory locations and connected via pointers.</a:t>
            </a:r>
          </a:p>
          <a:p>
            <a:pPr algn="just" rtl="0"/>
            <a:endParaRPr lang="en-US" sz="3200" b="0" i="0" dirty="0">
              <a:solidFill>
                <a:srgbClr val="666666"/>
              </a:solidFill>
              <a:effectLst/>
              <a:highlight>
                <a:srgbClr val="FFFFFF"/>
              </a:highlight>
              <a:latin typeface="Inter" panose="02000503000000020004" pitchFamily="2" charset="0"/>
            </a:endParaRPr>
          </a:p>
          <a:p>
            <a:pPr algn="just" rtl="0"/>
            <a:r>
              <a:rPr lang="en-US" sz="3200" b="1" i="0" dirty="0">
                <a:solidFill>
                  <a:srgbClr val="4B5563"/>
                </a:solidFill>
                <a:effectLst/>
                <a:highlight>
                  <a:srgbClr val="FFFFFF"/>
                </a:highlight>
                <a:latin typeface="Inter" panose="02000503000000020004" pitchFamily="2" charset="0"/>
              </a:rPr>
              <a:t>6. Traversal Methods:</a:t>
            </a:r>
          </a:p>
          <a:p>
            <a:pPr algn="just" rtl="0"/>
            <a:r>
              <a:rPr lang="en-US" sz="3200" b="0" i="0" dirty="0">
                <a:solidFill>
                  <a:srgbClr val="666666"/>
                </a:solidFill>
                <a:effectLst/>
                <a:highlight>
                  <a:srgbClr val="FFFFFF"/>
                </a:highlight>
                <a:latin typeface="Inter" panose="02000503000000020004" pitchFamily="2" charset="0"/>
              </a:rPr>
              <a:t>Various traversal methods are used to navigate through non-linear data structures.</a:t>
            </a:r>
          </a:p>
          <a:p>
            <a:pPr algn="just" rtl="0"/>
            <a:r>
              <a:rPr lang="en-US" sz="3200" b="1" i="0" dirty="0">
                <a:solidFill>
                  <a:srgbClr val="666666"/>
                </a:solidFill>
                <a:effectLst/>
                <a:highlight>
                  <a:srgbClr val="FFFFFF"/>
                </a:highlight>
                <a:latin typeface="Inter" panose="02000503000000020004" pitchFamily="2" charset="0"/>
              </a:rPr>
              <a:t>Examples:</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94CFF"/>
                </a:solidFill>
                <a:effectLst/>
                <a:highlight>
                  <a:srgbClr val="FFFFFF"/>
                </a:highlight>
                <a:latin typeface="Inter" panose="02000503000000020004" pitchFamily="2" charset="0"/>
                <a:hlinkClick r:id="rId2"/>
              </a:rPr>
              <a:t>Depth-First Search (DFS)</a:t>
            </a:r>
            <a:r>
              <a:rPr lang="en-US" sz="3200" b="0" i="0" dirty="0">
                <a:solidFill>
                  <a:srgbClr val="666666"/>
                </a:solidFill>
                <a:effectLst/>
                <a:highlight>
                  <a:srgbClr val="FFFFFF"/>
                </a:highlight>
                <a:latin typeface="Inter" panose="02000503000000020004" pitchFamily="2" charset="0"/>
              </a:rPr>
              <a:t> and </a:t>
            </a:r>
            <a:r>
              <a:rPr lang="en-US" sz="3200" b="1" i="0" u="none" strike="noStrike" dirty="0">
                <a:solidFill>
                  <a:srgbClr val="194CFF"/>
                </a:solidFill>
                <a:effectLst/>
                <a:highlight>
                  <a:srgbClr val="FFFFFF"/>
                </a:highlight>
                <a:latin typeface="Inter" panose="02000503000000020004" pitchFamily="2" charset="0"/>
                <a:hlinkClick r:id="rId3"/>
              </a:rPr>
              <a:t>Breadth-First Search (BFS)</a:t>
            </a:r>
            <a:r>
              <a:rPr lang="en-US" sz="3200" b="0" i="0" u="none" strike="noStrike" dirty="0">
                <a:solidFill>
                  <a:srgbClr val="194CFF"/>
                </a:solidFill>
                <a:effectLst/>
                <a:highlight>
                  <a:srgbClr val="FFFFFF"/>
                </a:highlight>
                <a:latin typeface="Inter" panose="02000503000000020004" pitchFamily="2" charset="0"/>
                <a:hlinkClick r:id="rId3"/>
              </a:rPr>
              <a:t> </a:t>
            </a:r>
            <a:r>
              <a:rPr lang="en-US" sz="3200" b="0" i="0" dirty="0">
                <a:solidFill>
                  <a:srgbClr val="666666"/>
                </a:solidFill>
                <a:effectLst/>
                <a:highlight>
                  <a:srgbClr val="FFFFFF"/>
                </a:highlight>
                <a:latin typeface="Inter" panose="02000503000000020004" pitchFamily="2" charset="0"/>
              </a:rPr>
              <a:t>for graphs, In-order, Pre-order, and Post-order for trees.</a:t>
            </a:r>
          </a:p>
        </p:txBody>
      </p:sp>
    </p:spTree>
    <p:extLst>
      <p:ext uri="{BB962C8B-B14F-4D97-AF65-F5344CB8AC3E}">
        <p14:creationId xmlns:p14="http://schemas.microsoft.com/office/powerpoint/2010/main" val="429066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1EA0FC-BA28-6E68-7C6B-B114F666DC9C}"/>
              </a:ext>
            </a:extLst>
          </p:cNvPr>
          <p:cNvSpPr txBox="1"/>
          <p:nvPr/>
        </p:nvSpPr>
        <p:spPr>
          <a:xfrm>
            <a:off x="263237" y="432092"/>
            <a:ext cx="11804072" cy="2554545"/>
          </a:xfrm>
          <a:prstGeom prst="rect">
            <a:avLst/>
          </a:prstGeom>
          <a:noFill/>
        </p:spPr>
        <p:txBody>
          <a:bodyPr wrap="square">
            <a:spAutoFit/>
          </a:bodyPr>
          <a:lstStyle/>
          <a:p>
            <a:pPr algn="just" rtl="0"/>
            <a:r>
              <a:rPr lang="en-US" b="1" i="0" dirty="0">
                <a:solidFill>
                  <a:srgbClr val="4B5563"/>
                </a:solidFill>
                <a:effectLst/>
                <a:highlight>
                  <a:srgbClr val="FFFFFF"/>
                </a:highlight>
                <a:latin typeface="Inter" panose="02000503000000020004" pitchFamily="2" charset="0"/>
              </a:rPr>
              <a:t>7</a:t>
            </a:r>
            <a:r>
              <a:rPr lang="en-US" sz="3200" b="1" i="0" dirty="0">
                <a:solidFill>
                  <a:srgbClr val="4B5563"/>
                </a:solidFill>
                <a:effectLst/>
                <a:highlight>
                  <a:srgbClr val="FFFFFF"/>
                </a:highlight>
                <a:latin typeface="Inter" panose="02000503000000020004" pitchFamily="2" charset="0"/>
              </a:rPr>
              <a:t>. Complex Operations:</a:t>
            </a:r>
          </a:p>
          <a:p>
            <a:pPr algn="just" rtl="0"/>
            <a:r>
              <a:rPr lang="en-US" sz="3200" b="0" i="0" dirty="0">
                <a:solidFill>
                  <a:srgbClr val="666666"/>
                </a:solidFill>
                <a:effectLst/>
                <a:highlight>
                  <a:srgbClr val="FFFFFF"/>
                </a:highlight>
                <a:latin typeface="Inter" panose="02000503000000020004" pitchFamily="2" charset="0"/>
              </a:rPr>
              <a:t>Operations like insertion, deletion, and traversal can be more complex compared to linear data structures due to the hierarchical or networked nature.</a:t>
            </a:r>
          </a:p>
          <a:p>
            <a:pPr algn="just"/>
            <a:r>
              <a:rPr lang="en-US" sz="3200" b="1" i="0" dirty="0">
                <a:solidFill>
                  <a:srgbClr val="666666"/>
                </a:solidFill>
                <a:effectLst/>
                <a:highlight>
                  <a:srgbClr val="FFFFFF"/>
                </a:highlight>
                <a:latin typeface="Inter" panose="02000503000000020004" pitchFamily="2" charset="0"/>
              </a:rPr>
              <a:t>Example: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Balancing a</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binary search tree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after insertion or deletion.</a:t>
            </a:r>
          </a:p>
        </p:txBody>
      </p:sp>
    </p:spTree>
    <p:extLst>
      <p:ext uri="{BB962C8B-B14F-4D97-AF65-F5344CB8AC3E}">
        <p14:creationId xmlns:p14="http://schemas.microsoft.com/office/powerpoint/2010/main" val="822083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737938-5CEA-7560-1AA9-3F28AD91A171}"/>
              </a:ext>
            </a:extLst>
          </p:cNvPr>
          <p:cNvSpPr txBox="1"/>
          <p:nvPr/>
        </p:nvSpPr>
        <p:spPr>
          <a:xfrm>
            <a:off x="1593273" y="362588"/>
            <a:ext cx="8589818" cy="646331"/>
          </a:xfrm>
          <a:prstGeom prst="rect">
            <a:avLst/>
          </a:prstGeom>
          <a:noFill/>
        </p:spPr>
        <p:txBody>
          <a:bodyPr wrap="square">
            <a:spAutoFit/>
          </a:bodyPr>
          <a:lstStyle/>
          <a:p>
            <a:pPr algn="l"/>
            <a:r>
              <a:rPr lang="en-US" sz="3600" b="1" i="0" dirty="0">
                <a:solidFill>
                  <a:srgbClr val="111827"/>
                </a:solidFill>
                <a:effectLst/>
                <a:highlight>
                  <a:srgbClr val="FFFFFF"/>
                </a:highlight>
                <a:latin typeface="Inter" panose="02000503000000020004" pitchFamily="2" charset="0"/>
              </a:rPr>
              <a:t>Types of Non-linear Data Structures</a:t>
            </a:r>
          </a:p>
        </p:txBody>
      </p:sp>
      <p:sp>
        <p:nvSpPr>
          <p:cNvPr id="5" name="TextBox 4">
            <a:extLst>
              <a:ext uri="{FF2B5EF4-FFF2-40B4-BE49-F238E27FC236}">
                <a16:creationId xmlns:a16="http://schemas.microsoft.com/office/drawing/2014/main" id="{30C54002-FD60-2D48-A6E6-98B74FF8C1CE}"/>
              </a:ext>
            </a:extLst>
          </p:cNvPr>
          <p:cNvSpPr txBox="1"/>
          <p:nvPr/>
        </p:nvSpPr>
        <p:spPr>
          <a:xfrm>
            <a:off x="443345" y="1554401"/>
            <a:ext cx="11526982" cy="4524315"/>
          </a:xfrm>
          <a:prstGeom prst="rect">
            <a:avLst/>
          </a:prstGeom>
          <a:noFill/>
        </p:spPr>
        <p:txBody>
          <a:bodyPr wrap="square">
            <a:spAutoFit/>
          </a:bodyPr>
          <a:lstStyle/>
          <a:p>
            <a:pPr algn="l" rtl="0"/>
            <a:r>
              <a:rPr lang="en-US" b="1" i="0" dirty="0">
                <a:solidFill>
                  <a:srgbClr val="4B5563"/>
                </a:solidFill>
                <a:effectLst/>
                <a:highlight>
                  <a:srgbClr val="FFFFFF"/>
                </a:highlight>
                <a:latin typeface="Inter" panose="02000503000000020004" pitchFamily="2" charset="0"/>
              </a:rPr>
              <a:t>.</a:t>
            </a:r>
            <a:r>
              <a:rPr lang="en-US" sz="3200" b="1" i="0" dirty="0">
                <a:solidFill>
                  <a:srgbClr val="4B5563"/>
                </a:solidFill>
                <a:effectLst/>
                <a:highlight>
                  <a:srgbClr val="FFFFFF"/>
                </a:highlight>
                <a:latin typeface="Inter" panose="02000503000000020004" pitchFamily="2" charset="0"/>
              </a:rPr>
              <a:t>1 Trees</a:t>
            </a:r>
          </a:p>
          <a:p>
            <a:pPr algn="l" rtl="0"/>
            <a:r>
              <a:rPr lang="en-US" sz="3200" b="0" i="0" dirty="0">
                <a:solidFill>
                  <a:srgbClr val="666666"/>
                </a:solidFill>
                <a:effectLst/>
                <a:highlight>
                  <a:srgbClr val="FFFFFF"/>
                </a:highlight>
                <a:latin typeface="Inter" panose="02000503000000020004" pitchFamily="2" charset="0"/>
              </a:rPr>
              <a:t>A</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tree</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is a hierarchical data structure consisting of nodes, with a single node acting as the root. Each node has zero or more child nodes, forming a parent-child relationship.</a:t>
            </a:r>
          </a:p>
          <a:p>
            <a:pPr algn="l" rtl="0"/>
            <a:endParaRPr lang="en-US" sz="3200" b="0" i="0" dirty="0">
              <a:solidFill>
                <a:srgbClr val="666666"/>
              </a:solidFill>
              <a:effectLst/>
              <a:highlight>
                <a:srgbClr val="FFFFFF"/>
              </a:highlight>
              <a:latin typeface="Inter" panose="02000503000000020004" pitchFamily="2" charset="0"/>
            </a:endParaRPr>
          </a:p>
          <a:p>
            <a:pPr algn="l" rtl="0"/>
            <a:r>
              <a:rPr lang="en-US" sz="3200" b="1" i="0" dirty="0">
                <a:solidFill>
                  <a:srgbClr val="4B5563"/>
                </a:solidFill>
                <a:effectLst/>
                <a:highlight>
                  <a:srgbClr val="FFFFFF"/>
                </a:highlight>
                <a:latin typeface="Inter" panose="02000503000000020004" pitchFamily="2" charset="0"/>
              </a:rPr>
              <a:t>Characteristics:</a:t>
            </a:r>
          </a:p>
          <a:p>
            <a:pPr algn="l"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Hierarchical structure with a root node.</a:t>
            </a:r>
          </a:p>
          <a:p>
            <a:pPr algn="l"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Each node can have multiple children but only one parent.</a:t>
            </a:r>
          </a:p>
          <a:p>
            <a:pPr algn="l"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No cycles, forming a single connected component.</a:t>
            </a:r>
          </a:p>
        </p:txBody>
      </p:sp>
    </p:spTree>
    <p:extLst>
      <p:ext uri="{BB962C8B-B14F-4D97-AF65-F5344CB8AC3E}">
        <p14:creationId xmlns:p14="http://schemas.microsoft.com/office/powerpoint/2010/main" val="2626227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CA817E-8E3D-510E-73A1-0DCD153AD0EB}"/>
              </a:ext>
            </a:extLst>
          </p:cNvPr>
          <p:cNvSpPr txBox="1"/>
          <p:nvPr/>
        </p:nvSpPr>
        <p:spPr>
          <a:xfrm>
            <a:off x="568036" y="695650"/>
            <a:ext cx="11471564" cy="5570756"/>
          </a:xfrm>
          <a:prstGeom prst="rect">
            <a:avLst/>
          </a:prstGeom>
          <a:noFill/>
        </p:spPr>
        <p:txBody>
          <a:bodyPr wrap="square">
            <a:spAutoFit/>
          </a:bodyPr>
          <a:lstStyle/>
          <a:p>
            <a:pPr algn="l" rtl="0"/>
            <a:r>
              <a:rPr lang="en-US" sz="3200" b="1" i="0" dirty="0">
                <a:solidFill>
                  <a:srgbClr val="4B5563"/>
                </a:solidFill>
                <a:effectLst/>
                <a:highlight>
                  <a:srgbClr val="FFFFFF"/>
                </a:highlight>
                <a:latin typeface="Inter" panose="02000503000000020004" pitchFamily="2" charset="0"/>
              </a:rPr>
              <a:t>Main Types:</a:t>
            </a:r>
          </a:p>
          <a:p>
            <a:pPr algn="l"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2"/>
              </a:rPr>
              <a:t>Binary Tree</a:t>
            </a:r>
            <a:r>
              <a:rPr lang="en-US" sz="3200" b="1" i="0" dirty="0">
                <a:solidFill>
                  <a:srgbClr val="6B7280"/>
                </a:solidFill>
                <a:effectLst/>
                <a:highlight>
                  <a:srgbClr val="FFFFFF"/>
                </a:highlight>
                <a:latin typeface="Inter" panose="02000503000000020004" pitchFamily="2" charset="0"/>
              </a:rPr>
              <a: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Each node has at most two children (left and right).</a:t>
            </a:r>
          </a:p>
          <a:p>
            <a:pPr algn="l"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3"/>
              </a:rPr>
              <a:t>Binary Search Tree (BST)</a:t>
            </a:r>
            <a:r>
              <a:rPr lang="en-US" sz="3200" b="1" i="0" dirty="0">
                <a:solidFill>
                  <a:srgbClr val="6B7280"/>
                </a:solidFill>
                <a:effectLst/>
                <a:highlight>
                  <a:srgbClr val="FFFFFF"/>
                </a:highlight>
                <a:latin typeface="Inter" panose="02000503000000020004" pitchFamily="2" charset="0"/>
              </a:rPr>
              <a: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A binary tree where the left child contains values less than the parent node, and the right child contains values greater than the parent node.</a:t>
            </a:r>
          </a:p>
          <a:p>
            <a:pPr algn="l"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4"/>
              </a:rPr>
              <a:t>AVL Tree</a:t>
            </a:r>
            <a:r>
              <a:rPr lang="en-US" sz="3200" b="1" i="0" dirty="0">
                <a:solidFill>
                  <a:srgbClr val="6B7280"/>
                </a:solidFill>
                <a:effectLst/>
                <a:highlight>
                  <a:srgbClr val="FFFFFF"/>
                </a:highlight>
                <a:latin typeface="Inter" panose="02000503000000020004" pitchFamily="2" charset="0"/>
              </a:rPr>
              <a: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A self-balancing binary search tree where the height difference between left and right subtrees is at most one.</a:t>
            </a:r>
          </a:p>
          <a:p>
            <a:pPr algn="l"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5"/>
              </a:rPr>
              <a:t>B-tree</a:t>
            </a:r>
            <a:r>
              <a:rPr lang="en-US" sz="3200" b="1" i="0" dirty="0">
                <a:solidFill>
                  <a:srgbClr val="6B7280"/>
                </a:solidFill>
                <a:effectLst/>
                <a:highlight>
                  <a:srgbClr val="FFFFFF"/>
                </a:highlight>
                <a:latin typeface="Inter" panose="02000503000000020004" pitchFamily="2" charset="0"/>
              </a:rPr>
              <a:t>:</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A self-balancing tree data structure that maintains sorted data and allows for efficient insertion, deletion, and search operations.</a:t>
            </a:r>
          </a:p>
          <a:p>
            <a:br>
              <a:rPr lang="en-US" dirty="0"/>
            </a:br>
            <a:endParaRPr lang="en-US" dirty="0"/>
          </a:p>
        </p:txBody>
      </p:sp>
    </p:spTree>
    <p:extLst>
      <p:ext uri="{BB962C8B-B14F-4D97-AF65-F5344CB8AC3E}">
        <p14:creationId xmlns:p14="http://schemas.microsoft.com/office/powerpoint/2010/main" val="938642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5C7A6D-2D37-4DF8-4DA9-6C041C6AACC6}"/>
              </a:ext>
            </a:extLst>
          </p:cNvPr>
          <p:cNvSpPr txBox="1"/>
          <p:nvPr/>
        </p:nvSpPr>
        <p:spPr>
          <a:xfrm>
            <a:off x="401782" y="557150"/>
            <a:ext cx="11540836" cy="6063198"/>
          </a:xfrm>
          <a:prstGeom prst="rect">
            <a:avLst/>
          </a:prstGeom>
          <a:noFill/>
        </p:spPr>
        <p:txBody>
          <a:bodyPr wrap="square">
            <a:spAutoFit/>
          </a:bodyPr>
          <a:lstStyle/>
          <a:p>
            <a:pPr algn="just" rtl="0"/>
            <a:r>
              <a:rPr lang="en-US" b="1" i="0" dirty="0">
                <a:solidFill>
                  <a:srgbClr val="4B5563"/>
                </a:solidFill>
                <a:effectLst/>
                <a:highlight>
                  <a:srgbClr val="FFFFFF"/>
                </a:highlight>
                <a:latin typeface="Inter" panose="02000503000000020004" pitchFamily="2" charset="0"/>
              </a:rPr>
              <a:t>2. </a:t>
            </a:r>
            <a:r>
              <a:rPr lang="en-US" sz="3200" b="1" i="0" dirty="0">
                <a:solidFill>
                  <a:srgbClr val="4B5563"/>
                </a:solidFill>
                <a:effectLst/>
                <a:highlight>
                  <a:srgbClr val="FFFFFF"/>
                </a:highlight>
                <a:latin typeface="Inter" panose="02000503000000020004" pitchFamily="2" charset="0"/>
              </a:rPr>
              <a:t>Graphs</a:t>
            </a:r>
          </a:p>
          <a:p>
            <a:pPr algn="just" rtl="0"/>
            <a:r>
              <a:rPr lang="en-US" sz="3200" b="0" i="0" dirty="0">
                <a:solidFill>
                  <a:srgbClr val="666666"/>
                </a:solidFill>
                <a:effectLst/>
                <a:highlight>
                  <a:srgbClr val="FFFFFF"/>
                </a:highlight>
                <a:latin typeface="Inter" panose="02000503000000020004" pitchFamily="2" charset="0"/>
              </a:rPr>
              <a:t>A</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graph</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is a collection of nodes (vertices) connected by edges. Graphs can be used to represent various networks such as social networks, computer networks, and transportation systems.</a:t>
            </a:r>
          </a:p>
          <a:p>
            <a:pPr algn="just" rtl="0"/>
            <a:r>
              <a:rPr lang="en-US" sz="3200" b="1" i="0" dirty="0">
                <a:solidFill>
                  <a:srgbClr val="4B5563"/>
                </a:solidFill>
                <a:effectLst/>
                <a:highlight>
                  <a:srgbClr val="FFFFFF"/>
                </a:highlight>
                <a:latin typeface="Inter" panose="02000503000000020004" pitchFamily="2" charset="0"/>
              </a:rPr>
              <a:t>Characteristics:</a:t>
            </a:r>
          </a:p>
          <a:p>
            <a:pPr algn="just"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Nodes (vertices) connected by edges.</a:t>
            </a:r>
          </a:p>
          <a:p>
            <a:pPr algn="just"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Can be directed (edges have direction) or undirected (edges do not have direction).</a:t>
            </a:r>
          </a:p>
          <a:p>
            <a:pPr algn="just"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Can be weighted (edges have weights) or unweighted (edges do not have weights).</a:t>
            </a:r>
          </a:p>
          <a:p>
            <a:pPr algn="just"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Can contain cycles or be acyclic.</a:t>
            </a:r>
          </a:p>
          <a:p>
            <a:br>
              <a:rPr lang="en-US" dirty="0"/>
            </a:br>
            <a:endParaRPr lang="en-US" dirty="0"/>
          </a:p>
        </p:txBody>
      </p:sp>
    </p:spTree>
    <p:extLst>
      <p:ext uri="{BB962C8B-B14F-4D97-AF65-F5344CB8AC3E}">
        <p14:creationId xmlns:p14="http://schemas.microsoft.com/office/powerpoint/2010/main" val="3711736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37A9B4-1D3D-E7B6-D417-49B04C824A8A}"/>
              </a:ext>
            </a:extLst>
          </p:cNvPr>
          <p:cNvSpPr txBox="1"/>
          <p:nvPr/>
        </p:nvSpPr>
        <p:spPr>
          <a:xfrm>
            <a:off x="429491" y="432183"/>
            <a:ext cx="11430000" cy="3600986"/>
          </a:xfrm>
          <a:prstGeom prst="rect">
            <a:avLst/>
          </a:prstGeom>
          <a:noFill/>
        </p:spPr>
        <p:txBody>
          <a:bodyPr wrap="square">
            <a:spAutoFit/>
          </a:bodyPr>
          <a:lstStyle/>
          <a:p>
            <a:pPr algn="l" rtl="0"/>
            <a:r>
              <a:rPr lang="en-US" sz="3200" b="1" i="0" dirty="0">
                <a:solidFill>
                  <a:srgbClr val="4B5563"/>
                </a:solidFill>
                <a:effectLst/>
                <a:highlight>
                  <a:srgbClr val="FFFFFF"/>
                </a:highlight>
                <a:latin typeface="Inter" panose="02000503000000020004" pitchFamily="2" charset="0"/>
              </a:rPr>
              <a:t>Types:</a:t>
            </a:r>
          </a:p>
          <a:p>
            <a:pPr algn="l" rtl="0">
              <a:buFont typeface="Arial" panose="020B0604020202020204" pitchFamily="34" charset="0"/>
              <a:buChar char="•"/>
            </a:pPr>
            <a:r>
              <a:rPr lang="en-US" sz="3200" b="1" i="0" dirty="0">
                <a:solidFill>
                  <a:srgbClr val="6B7280"/>
                </a:solidFill>
                <a:effectLst/>
                <a:highlight>
                  <a:srgbClr val="FFFFFF"/>
                </a:highlight>
                <a:latin typeface="Inter" panose="02000503000000020004" pitchFamily="2" charset="0"/>
              </a:rPr>
              <a:t>Directed Graph (Digraph):</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Edges have a direction.</a:t>
            </a:r>
          </a:p>
          <a:p>
            <a:pPr algn="l" rtl="0">
              <a:buFont typeface="Arial" panose="020B0604020202020204" pitchFamily="34" charset="0"/>
              <a:buChar char="•"/>
            </a:pPr>
            <a:r>
              <a:rPr lang="en-US" sz="3200" b="1" i="0" dirty="0">
                <a:solidFill>
                  <a:srgbClr val="6B7280"/>
                </a:solidFill>
                <a:effectLst/>
                <a:highlight>
                  <a:srgbClr val="FFFFFF"/>
                </a:highlight>
                <a:latin typeface="Inter" panose="02000503000000020004" pitchFamily="2" charset="0"/>
              </a:rPr>
              <a:t>Undirected Graph:</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Edges do not have a direction.</a:t>
            </a:r>
          </a:p>
          <a:p>
            <a:pPr algn="l" rtl="0">
              <a:buFont typeface="Arial" panose="020B0604020202020204" pitchFamily="34" charset="0"/>
              <a:buChar char="•"/>
            </a:pPr>
            <a:r>
              <a:rPr lang="en-US" sz="3200" b="1" i="0" dirty="0">
                <a:solidFill>
                  <a:srgbClr val="6B7280"/>
                </a:solidFill>
                <a:effectLst/>
                <a:highlight>
                  <a:srgbClr val="FFFFFF"/>
                </a:highlight>
                <a:latin typeface="Inter" panose="02000503000000020004" pitchFamily="2" charset="0"/>
              </a:rPr>
              <a:t>Weighted Graph:</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Edges have weights representing costs or distances.</a:t>
            </a:r>
          </a:p>
          <a:p>
            <a:pPr algn="l" rtl="0">
              <a:buFont typeface="Arial" panose="020B0604020202020204" pitchFamily="34" charset="0"/>
              <a:buChar char="•"/>
            </a:pPr>
            <a:r>
              <a:rPr lang="en-US" sz="3200" b="1" i="0" dirty="0">
                <a:solidFill>
                  <a:srgbClr val="6B7280"/>
                </a:solidFill>
                <a:effectLst/>
                <a:highlight>
                  <a:srgbClr val="FFFFFF"/>
                </a:highlight>
                <a:latin typeface="Inter" panose="02000503000000020004" pitchFamily="2" charset="0"/>
              </a:rPr>
              <a:t>Unweighted Graph:</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Edges do not have weights.</a:t>
            </a:r>
          </a:p>
          <a:p>
            <a:br>
              <a:rPr lang="en-US" dirty="0"/>
            </a:br>
            <a:endParaRPr lang="en-US" dirty="0"/>
          </a:p>
        </p:txBody>
      </p:sp>
    </p:spTree>
    <p:extLst>
      <p:ext uri="{BB962C8B-B14F-4D97-AF65-F5344CB8AC3E}">
        <p14:creationId xmlns:p14="http://schemas.microsoft.com/office/powerpoint/2010/main" val="729576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C5C970-40EC-D369-C7B2-0C058D2401C7}"/>
              </a:ext>
            </a:extLst>
          </p:cNvPr>
          <p:cNvSpPr txBox="1"/>
          <p:nvPr/>
        </p:nvSpPr>
        <p:spPr>
          <a:xfrm>
            <a:off x="187036" y="0"/>
            <a:ext cx="11817927" cy="5016758"/>
          </a:xfrm>
          <a:prstGeom prst="rect">
            <a:avLst/>
          </a:prstGeom>
          <a:noFill/>
        </p:spPr>
        <p:txBody>
          <a:bodyPr wrap="square">
            <a:spAutoFit/>
          </a:bodyPr>
          <a:lstStyle/>
          <a:p>
            <a:pPr algn="just" rtl="0"/>
            <a:r>
              <a:rPr lang="en-US" sz="3200" b="1" i="0" dirty="0">
                <a:solidFill>
                  <a:srgbClr val="4B5563"/>
                </a:solidFill>
                <a:effectLst/>
                <a:highlight>
                  <a:srgbClr val="FFFFFF"/>
                </a:highlight>
                <a:latin typeface="Inter" panose="02000503000000020004" pitchFamily="2" charset="0"/>
              </a:rPr>
              <a:t>3. Heaps</a:t>
            </a:r>
          </a:p>
          <a:p>
            <a:pPr algn="just" rtl="0"/>
            <a:r>
              <a:rPr lang="en-US" sz="3200" b="0" i="0" dirty="0">
                <a:solidFill>
                  <a:srgbClr val="666666"/>
                </a:solidFill>
                <a:effectLst/>
                <a:highlight>
                  <a:srgbClr val="FFFFFF"/>
                </a:highlight>
                <a:latin typeface="Inter" panose="02000503000000020004" pitchFamily="2" charset="0"/>
              </a:rPr>
              <a:t>A</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heap</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is a specialized tree-based data structure that satisfies the heap property. In a max-heap, the key at the root must be the maximum among all keys present in the binary heap. In a min-heap, the key at the root must be the minimum.</a:t>
            </a:r>
          </a:p>
          <a:p>
            <a:pPr algn="just" rtl="0"/>
            <a:r>
              <a:rPr lang="en-US" sz="3200" b="1" i="0" dirty="0">
                <a:solidFill>
                  <a:srgbClr val="4B5563"/>
                </a:solidFill>
                <a:effectLst/>
                <a:highlight>
                  <a:srgbClr val="FFFFFF"/>
                </a:highlight>
                <a:latin typeface="Inter" panose="02000503000000020004" pitchFamily="2" charset="0"/>
              </a:rPr>
              <a:t>Characteristics:</a:t>
            </a:r>
          </a:p>
          <a:p>
            <a:pPr algn="just" rtl="0">
              <a:buFont typeface="Arial" panose="020B0604020202020204" pitchFamily="34" charset="0"/>
              <a:buChar char="•"/>
            </a:pPr>
            <a:r>
              <a:rPr lang="en-US" sz="3200" b="1" i="0" u="none" strike="noStrike" dirty="0">
                <a:solidFill>
                  <a:srgbClr val="1E88E5"/>
                </a:solidFill>
                <a:effectLst/>
                <a:highlight>
                  <a:srgbClr val="FFFFFF"/>
                </a:highlight>
                <a:latin typeface="Inter" panose="02000503000000020004" pitchFamily="2" charset="0"/>
                <a:hlinkClick r:id="rId3"/>
              </a:rPr>
              <a:t>Complete binary tree</a:t>
            </a:r>
            <a:r>
              <a:rPr lang="en-US" sz="3200" b="0" i="0" dirty="0">
                <a:solidFill>
                  <a:srgbClr val="6B7280"/>
                </a:solidFill>
                <a:effectLst/>
                <a:highlight>
                  <a:srgbClr val="FFFFFF"/>
                </a:highlight>
                <a:latin typeface="Inter" panose="02000503000000020004" pitchFamily="2" charset="0"/>
              </a:rPr>
              <a:t>.</a:t>
            </a:r>
          </a:p>
          <a:p>
            <a:pPr algn="just"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The root node is either the maximum (max-heap) or minimum (min-heap) element.</a:t>
            </a:r>
          </a:p>
          <a:p>
            <a:pPr algn="just" rtl="0">
              <a:buFont typeface="Arial" panose="020B0604020202020204" pitchFamily="34" charset="0"/>
              <a:buChar char="•"/>
            </a:pPr>
            <a:r>
              <a:rPr lang="en-US" sz="3200" b="0" i="0" dirty="0">
                <a:solidFill>
                  <a:srgbClr val="6B7280"/>
                </a:solidFill>
                <a:effectLst/>
                <a:highlight>
                  <a:srgbClr val="FFFFFF"/>
                </a:highlight>
                <a:latin typeface="Inter" panose="02000503000000020004" pitchFamily="2" charset="0"/>
              </a:rPr>
              <a:t>Used primarily in implementing</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4"/>
              </a:rPr>
              <a:t>priority queues</a:t>
            </a:r>
            <a:r>
              <a:rPr lang="en-US" sz="3200" b="0" i="0" dirty="0">
                <a:solidFill>
                  <a:srgbClr val="6B7280"/>
                </a:solidFill>
                <a:effectLst/>
                <a:highlight>
                  <a:srgbClr val="FFFFFF"/>
                </a:highlight>
                <a:latin typeface="Inter" panose="02000503000000020004" pitchFamily="2" charset="0"/>
              </a:rPr>
              <a:t>.</a:t>
            </a:r>
          </a:p>
        </p:txBody>
      </p:sp>
    </p:spTree>
    <p:extLst>
      <p:ext uri="{BB962C8B-B14F-4D97-AF65-F5344CB8AC3E}">
        <p14:creationId xmlns:p14="http://schemas.microsoft.com/office/powerpoint/2010/main" val="311355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81533E-66BC-780D-A748-3B28947ABF4E}"/>
              </a:ext>
            </a:extLst>
          </p:cNvPr>
          <p:cNvSpPr txBox="1"/>
          <p:nvPr/>
        </p:nvSpPr>
        <p:spPr>
          <a:xfrm>
            <a:off x="401781" y="515173"/>
            <a:ext cx="11651673" cy="2554545"/>
          </a:xfrm>
          <a:prstGeom prst="rect">
            <a:avLst/>
          </a:prstGeom>
          <a:noFill/>
        </p:spPr>
        <p:txBody>
          <a:bodyPr wrap="square">
            <a:spAutoFit/>
          </a:bodyPr>
          <a:lstStyle/>
          <a:p>
            <a:pPr algn="just" rtl="0"/>
            <a:r>
              <a:rPr lang="en-US" sz="3200" b="1" i="0" dirty="0">
                <a:solidFill>
                  <a:srgbClr val="4B5563"/>
                </a:solidFill>
                <a:effectLst/>
                <a:highlight>
                  <a:srgbClr val="FFFFFF"/>
                </a:highlight>
                <a:latin typeface="Inter" panose="02000503000000020004" pitchFamily="2" charset="0"/>
              </a:rPr>
              <a:t>Types:</a:t>
            </a:r>
          </a:p>
          <a:p>
            <a:pPr algn="just" rtl="0">
              <a:buFont typeface="Arial" panose="020B0604020202020204" pitchFamily="34" charset="0"/>
              <a:buChar char="•"/>
            </a:pPr>
            <a:r>
              <a:rPr lang="en-US" sz="3200" b="1" i="0" dirty="0">
                <a:solidFill>
                  <a:srgbClr val="6B7280"/>
                </a:solidFill>
                <a:effectLst/>
                <a:highlight>
                  <a:srgbClr val="FFFFFF"/>
                </a:highlight>
                <a:latin typeface="Inter" panose="02000503000000020004" pitchFamily="2" charset="0"/>
              </a:rPr>
              <a:t>Max-Heap:</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The parent node is always greater than or equal to its children.</a:t>
            </a:r>
          </a:p>
          <a:p>
            <a:pPr algn="just" rtl="0">
              <a:buFont typeface="Arial" panose="020B0604020202020204" pitchFamily="34" charset="0"/>
              <a:buChar char="•"/>
            </a:pPr>
            <a:r>
              <a:rPr lang="en-US" sz="3200" b="1" i="0" dirty="0">
                <a:solidFill>
                  <a:srgbClr val="6B7280"/>
                </a:solidFill>
                <a:effectLst/>
                <a:highlight>
                  <a:srgbClr val="FFFFFF"/>
                </a:highlight>
                <a:latin typeface="Inter" panose="02000503000000020004" pitchFamily="2" charset="0"/>
              </a:rPr>
              <a:t>Min-Heap:</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B7280"/>
                </a:solidFill>
                <a:effectLst/>
                <a:highlight>
                  <a:srgbClr val="FFFFFF"/>
                </a:highlight>
                <a:latin typeface="Inter" panose="02000503000000020004" pitchFamily="2" charset="0"/>
              </a:rPr>
              <a:t>The parent node is always less than or equal to its children.</a:t>
            </a:r>
          </a:p>
        </p:txBody>
      </p:sp>
    </p:spTree>
    <p:extLst>
      <p:ext uri="{BB962C8B-B14F-4D97-AF65-F5344CB8AC3E}">
        <p14:creationId xmlns:p14="http://schemas.microsoft.com/office/powerpoint/2010/main" val="3929211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9AF0C30-9E74-2B55-A9F4-E28035AF573C}"/>
              </a:ext>
            </a:extLst>
          </p:cNvPr>
          <p:cNvSpPr txBox="1"/>
          <p:nvPr/>
        </p:nvSpPr>
        <p:spPr>
          <a:xfrm>
            <a:off x="6739128" y="638089"/>
            <a:ext cx="4818888" cy="147680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b="1" i="0" kern="1200">
                <a:solidFill>
                  <a:schemeClr val="tx1"/>
                </a:solidFill>
                <a:effectLst/>
                <a:highlight>
                  <a:srgbClr val="FFFFFF"/>
                </a:highlight>
                <a:latin typeface="+mj-lt"/>
                <a:ea typeface="+mj-ea"/>
                <a:cs typeface="+mj-cs"/>
              </a:rPr>
              <a:t>Linear vs Non-linear Data Structures</a:t>
            </a:r>
          </a:p>
        </p:txBody>
      </p:sp>
      <p:pic>
        <p:nvPicPr>
          <p:cNvPr id="9" name="Picture 8">
            <a:extLst>
              <a:ext uri="{FF2B5EF4-FFF2-40B4-BE49-F238E27FC236}">
                <a16:creationId xmlns:a16="http://schemas.microsoft.com/office/drawing/2014/main" id="{220F5A47-BAD3-A1A7-1781-6EE95842C662}"/>
              </a:ext>
            </a:extLst>
          </p:cNvPr>
          <p:cNvPicPr>
            <a:picLocks noChangeAspect="1"/>
          </p:cNvPicPr>
          <p:nvPr/>
        </p:nvPicPr>
        <p:blipFill>
          <a:blip r:embed="rId2"/>
          <a:stretch>
            <a:fillRect/>
          </a:stretch>
        </p:blipFill>
        <p:spPr>
          <a:xfrm>
            <a:off x="655168" y="640080"/>
            <a:ext cx="5410504" cy="5577840"/>
          </a:xfrm>
          <a:prstGeom prst="rect">
            <a:avLst/>
          </a:prstGeom>
        </p:spPr>
      </p:pic>
      <p:sp>
        <p:nvSpPr>
          <p:cNvPr id="19"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C279EC3-C937-EAE6-A77D-76A3A88EF61B}"/>
              </a:ext>
            </a:extLst>
          </p:cNvPr>
          <p:cNvSpPr txBox="1"/>
          <p:nvPr/>
        </p:nvSpPr>
        <p:spPr>
          <a:xfrm>
            <a:off x="6739128" y="2664886"/>
            <a:ext cx="4818888" cy="3550789"/>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0" i="0">
                <a:effectLst/>
                <a:highlight>
                  <a:srgbClr val="FFFFFF"/>
                </a:highlight>
              </a:rPr>
              <a:t>Below is the tabular comparison to understand the difference between linear data structure and non-linear data structure:</a:t>
            </a:r>
          </a:p>
        </p:txBody>
      </p:sp>
    </p:spTree>
    <p:extLst>
      <p:ext uri="{BB962C8B-B14F-4D97-AF65-F5344CB8AC3E}">
        <p14:creationId xmlns:p14="http://schemas.microsoft.com/office/powerpoint/2010/main" val="2252053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6BCFD99-5455-ED6D-C475-DEE9B995C3C8}"/>
              </a:ext>
            </a:extLst>
          </p:cNvPr>
          <p:cNvPicPr>
            <a:picLocks noChangeAspect="1"/>
          </p:cNvPicPr>
          <p:nvPr/>
        </p:nvPicPr>
        <p:blipFill>
          <a:blip r:embed="rId2"/>
          <a:stretch>
            <a:fillRect/>
          </a:stretch>
        </p:blipFill>
        <p:spPr>
          <a:xfrm>
            <a:off x="3658659" y="643467"/>
            <a:ext cx="4874681" cy="5571066"/>
          </a:xfrm>
          <a:prstGeom prst="rect">
            <a:avLst/>
          </a:prstGeom>
        </p:spPr>
      </p:pic>
    </p:spTree>
    <p:extLst>
      <p:ext uri="{BB962C8B-B14F-4D97-AF65-F5344CB8AC3E}">
        <p14:creationId xmlns:p14="http://schemas.microsoft.com/office/powerpoint/2010/main" val="215588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white grid with black text&#10;&#10;Description automatically generated">
            <a:extLst>
              <a:ext uri="{FF2B5EF4-FFF2-40B4-BE49-F238E27FC236}">
                <a16:creationId xmlns:a16="http://schemas.microsoft.com/office/drawing/2014/main" id="{7B8F9F87-A186-4B62-043D-B1BE416663C4}"/>
              </a:ext>
            </a:extLst>
          </p:cNvPr>
          <p:cNvPicPr>
            <a:picLocks noChangeAspect="1"/>
          </p:cNvPicPr>
          <p:nvPr/>
        </p:nvPicPr>
        <p:blipFill>
          <a:blip r:embed="rId2"/>
          <a:stretch>
            <a:fillRect/>
          </a:stretch>
        </p:blipFill>
        <p:spPr>
          <a:xfrm>
            <a:off x="1187570" y="643466"/>
            <a:ext cx="9816860" cy="5571067"/>
          </a:xfrm>
          <a:prstGeom prst="rect">
            <a:avLst/>
          </a:prstGeom>
        </p:spPr>
      </p:pic>
    </p:spTree>
    <p:extLst>
      <p:ext uri="{BB962C8B-B14F-4D97-AF65-F5344CB8AC3E}">
        <p14:creationId xmlns:p14="http://schemas.microsoft.com/office/powerpoint/2010/main" val="976915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4D6EAA-98DD-0D7D-ABC7-51F6A740F42B}"/>
              </a:ext>
            </a:extLst>
          </p:cNvPr>
          <p:cNvSpPr txBox="1"/>
          <p:nvPr/>
        </p:nvSpPr>
        <p:spPr>
          <a:xfrm>
            <a:off x="2272145" y="168624"/>
            <a:ext cx="7800109" cy="584775"/>
          </a:xfrm>
          <a:prstGeom prst="rect">
            <a:avLst/>
          </a:prstGeom>
          <a:noFill/>
        </p:spPr>
        <p:txBody>
          <a:bodyPr wrap="square">
            <a:spAutoFit/>
          </a:bodyPr>
          <a:lstStyle/>
          <a:p>
            <a:pPr algn="just"/>
            <a:r>
              <a:rPr lang="en-US" sz="3200" b="1" i="0" dirty="0">
                <a:solidFill>
                  <a:srgbClr val="111827"/>
                </a:solidFill>
                <a:effectLst/>
                <a:highlight>
                  <a:srgbClr val="FFFFFF"/>
                </a:highlight>
                <a:latin typeface="Inter" panose="02000503000000020004" pitchFamily="2" charset="0"/>
              </a:rPr>
              <a:t>Asymptotic Notation in Data Structure</a:t>
            </a:r>
          </a:p>
        </p:txBody>
      </p:sp>
      <p:sp>
        <p:nvSpPr>
          <p:cNvPr id="5" name="TextBox 4">
            <a:extLst>
              <a:ext uri="{FF2B5EF4-FFF2-40B4-BE49-F238E27FC236}">
                <a16:creationId xmlns:a16="http://schemas.microsoft.com/office/drawing/2014/main" id="{3D635951-3EAE-D873-AE2E-242671542722}"/>
              </a:ext>
            </a:extLst>
          </p:cNvPr>
          <p:cNvSpPr txBox="1"/>
          <p:nvPr/>
        </p:nvSpPr>
        <p:spPr>
          <a:xfrm>
            <a:off x="387926" y="1346630"/>
            <a:ext cx="11540837" cy="3970318"/>
          </a:xfrm>
          <a:prstGeom prst="rect">
            <a:avLst/>
          </a:prstGeom>
          <a:noFill/>
        </p:spPr>
        <p:txBody>
          <a:bodyPr wrap="square">
            <a:spAutoFit/>
          </a:bodyPr>
          <a:lstStyle/>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Introduction</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What is Asymptotic Notation? (Definition)</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Types of Asymptotic Notation in Data Structure</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How to Calculate Asymptotic Notation of Algorithm?</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Simplifying Terms and Ignoring Lower Order Terms</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Common Asymptotic Notations and Their Importance</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Best, Worst, and Average Case Analysis</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Applications of Algorithm Asymptotic Notation</a:t>
            </a:r>
          </a:p>
          <a:p>
            <a:pPr algn="l">
              <a:buFont typeface="Arial" panose="020B0604020202020204" pitchFamily="34" charset="0"/>
              <a:buChar char="•"/>
            </a:pPr>
            <a:r>
              <a:rPr lang="en-US" sz="2800" b="0" i="0" dirty="0">
                <a:solidFill>
                  <a:srgbClr val="194CFF"/>
                </a:solidFill>
                <a:effectLst/>
                <a:highlight>
                  <a:srgbClr val="FFFFFF"/>
                </a:highlight>
                <a:latin typeface="Inter" panose="02000503000000020004" pitchFamily="2" charset="0"/>
              </a:rPr>
              <a:t>Limitations of Asymptotic Notation</a:t>
            </a:r>
          </a:p>
        </p:txBody>
      </p:sp>
    </p:spTree>
    <p:extLst>
      <p:ext uri="{BB962C8B-B14F-4D97-AF65-F5344CB8AC3E}">
        <p14:creationId xmlns:p14="http://schemas.microsoft.com/office/powerpoint/2010/main" val="2987892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3754E2-F26B-7996-92A4-F1294E2B9FF5}"/>
              </a:ext>
            </a:extLst>
          </p:cNvPr>
          <p:cNvSpPr txBox="1"/>
          <p:nvPr/>
        </p:nvSpPr>
        <p:spPr>
          <a:xfrm>
            <a:off x="554181" y="653995"/>
            <a:ext cx="11360727" cy="5570756"/>
          </a:xfrm>
          <a:prstGeom prst="rect">
            <a:avLst/>
          </a:prstGeom>
          <a:noFill/>
        </p:spPr>
        <p:txBody>
          <a:bodyPr wrap="square">
            <a:spAutoFit/>
          </a:bodyPr>
          <a:lstStyle/>
          <a:p>
            <a:pPr algn="just" rtl="0"/>
            <a:r>
              <a:rPr lang="en-US" sz="3200" b="0" i="0" dirty="0">
                <a:solidFill>
                  <a:srgbClr val="666666"/>
                </a:solidFill>
                <a:effectLst/>
                <a:highlight>
                  <a:srgbClr val="FFFFFF"/>
                </a:highlight>
                <a:latin typeface="Inter" panose="02000503000000020004" pitchFamily="2" charset="0"/>
              </a:rPr>
              <a:t>Understanding how to measure the efficiency of</a:t>
            </a:r>
            <a:r>
              <a:rPr lang="en-US" sz="3200" b="0" i="0" dirty="0">
                <a:solidFill>
                  <a:srgbClr val="374151"/>
                </a:solidFill>
                <a:effectLst/>
                <a:highlight>
                  <a:srgbClr val="FFFFFF"/>
                </a:highlight>
                <a:latin typeface="Inter" panose="02000503000000020004" pitchFamily="2" charset="0"/>
              </a:rPr>
              <a:t> </a:t>
            </a:r>
            <a:r>
              <a:rPr lang="en-US" sz="3200" b="1" i="0" u="none" strike="noStrike" dirty="0">
                <a:solidFill>
                  <a:srgbClr val="1E88E5"/>
                </a:solidFill>
                <a:effectLst/>
                <a:highlight>
                  <a:srgbClr val="FFFFFF"/>
                </a:highlight>
                <a:latin typeface="Inter" panose="02000503000000020004" pitchFamily="2" charset="0"/>
                <a:hlinkClick r:id="rId2"/>
              </a:rPr>
              <a:t>algorithms</a:t>
            </a:r>
            <a:r>
              <a:rPr lang="en-US" sz="3200" b="0" i="0" dirty="0">
                <a:solidFill>
                  <a:srgbClr val="374151"/>
                </a:solidFill>
                <a:effectLst/>
                <a:highlight>
                  <a:srgbClr val="FFFFFF"/>
                </a:highlight>
                <a:latin typeface="Inter" panose="02000503000000020004" pitchFamily="2" charset="0"/>
              </a:rPr>
              <a:t> </a:t>
            </a:r>
            <a:r>
              <a:rPr lang="en-US" sz="3200" b="0" i="0" dirty="0">
                <a:solidFill>
                  <a:srgbClr val="666666"/>
                </a:solidFill>
                <a:effectLst/>
                <a:highlight>
                  <a:srgbClr val="FFFFFF"/>
                </a:highlight>
                <a:latin typeface="Inter" panose="02000503000000020004" pitchFamily="2" charset="0"/>
              </a:rPr>
              <a:t>is crucial in computer science. Asymptotic Notation in Data Structure helps describe the running time or space requirements of an algorithm as the input size grows. </a:t>
            </a:r>
          </a:p>
          <a:p>
            <a:pPr algn="just" rtl="0"/>
            <a:endParaRPr lang="en-US" sz="3200" b="0" i="0" dirty="0">
              <a:solidFill>
                <a:srgbClr val="666666"/>
              </a:solidFill>
              <a:effectLst/>
              <a:highlight>
                <a:srgbClr val="FFFFFF"/>
              </a:highlight>
              <a:latin typeface="Inter" panose="02000503000000020004" pitchFamily="2" charset="0"/>
            </a:endParaRPr>
          </a:p>
          <a:p>
            <a:pPr algn="just" rtl="0"/>
            <a:r>
              <a:rPr lang="en-US" sz="3200" b="0" i="0" dirty="0">
                <a:solidFill>
                  <a:srgbClr val="666666"/>
                </a:solidFill>
                <a:effectLst/>
                <a:highlight>
                  <a:srgbClr val="FFFFFF"/>
                </a:highlight>
                <a:latin typeface="Inter" panose="02000503000000020004" pitchFamily="2" charset="0"/>
              </a:rPr>
              <a:t>Let’s learn the basics of asymptotic notation, including Big O, Omega, and Theta notations. Here, we have provided clear explanations and practical examples to help you understand how to analyze and compare the performance of different algorithms effectively.</a:t>
            </a:r>
          </a:p>
          <a:p>
            <a:pPr algn="l"/>
            <a:br>
              <a:rPr lang="en-US" b="0" i="0" dirty="0">
                <a:solidFill>
                  <a:srgbClr val="212529"/>
                </a:solidFill>
                <a:effectLst/>
                <a:highlight>
                  <a:srgbClr val="FFFFFF"/>
                </a:highlight>
                <a:latin typeface="Inter" panose="02000503000000020004" pitchFamily="2" charset="0"/>
              </a:rPr>
            </a:br>
            <a:endParaRPr lang="en-US" b="0" i="0" dirty="0">
              <a:solidFill>
                <a:srgbClr val="212529"/>
              </a:solidFill>
              <a:effectLst/>
              <a:highlight>
                <a:srgbClr val="FFFFFF"/>
              </a:highlight>
              <a:latin typeface="Inter" panose="02000503000000020004" pitchFamily="2" charset="0"/>
            </a:endParaRPr>
          </a:p>
        </p:txBody>
      </p:sp>
    </p:spTree>
    <p:extLst>
      <p:ext uri="{BB962C8B-B14F-4D97-AF65-F5344CB8AC3E}">
        <p14:creationId xmlns:p14="http://schemas.microsoft.com/office/powerpoint/2010/main" val="89238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ext on a white background&#10;&#10;Description automatically generated">
            <a:extLst>
              <a:ext uri="{FF2B5EF4-FFF2-40B4-BE49-F238E27FC236}">
                <a16:creationId xmlns:a16="http://schemas.microsoft.com/office/drawing/2014/main" id="{3C1113ED-9641-EF17-5E09-25B894FF037A}"/>
              </a:ext>
            </a:extLst>
          </p:cNvPr>
          <p:cNvPicPr>
            <a:picLocks noChangeAspect="1"/>
          </p:cNvPicPr>
          <p:nvPr/>
        </p:nvPicPr>
        <p:blipFill>
          <a:blip r:embed="rId2"/>
          <a:stretch>
            <a:fillRect/>
          </a:stretch>
        </p:blipFill>
        <p:spPr>
          <a:xfrm>
            <a:off x="706582" y="1601354"/>
            <a:ext cx="10169236" cy="4411519"/>
          </a:xfrm>
          <a:prstGeom prst="rect">
            <a:avLst/>
          </a:prstGeom>
        </p:spPr>
      </p:pic>
      <p:sp>
        <p:nvSpPr>
          <p:cNvPr id="5" name="TextBox 4">
            <a:extLst>
              <a:ext uri="{FF2B5EF4-FFF2-40B4-BE49-F238E27FC236}">
                <a16:creationId xmlns:a16="http://schemas.microsoft.com/office/drawing/2014/main" id="{EC2B6B1C-B58B-905D-DA25-4EE7B4C1FDE8}"/>
              </a:ext>
            </a:extLst>
          </p:cNvPr>
          <p:cNvSpPr txBox="1"/>
          <p:nvPr/>
        </p:nvSpPr>
        <p:spPr>
          <a:xfrm>
            <a:off x="1066800" y="265606"/>
            <a:ext cx="9102436" cy="646331"/>
          </a:xfrm>
          <a:prstGeom prst="rect">
            <a:avLst/>
          </a:prstGeom>
          <a:noFill/>
        </p:spPr>
        <p:txBody>
          <a:bodyPr wrap="square">
            <a:spAutoFit/>
          </a:bodyPr>
          <a:lstStyle/>
          <a:p>
            <a:pPr algn="l"/>
            <a:r>
              <a:rPr lang="en-US" sz="3600" b="1" i="0">
                <a:solidFill>
                  <a:srgbClr val="111827"/>
                </a:solidFill>
                <a:effectLst/>
                <a:highlight>
                  <a:srgbClr val="FFFFFF"/>
                </a:highlight>
                <a:latin typeface="Inter" panose="02000503000000020004" pitchFamily="2" charset="0"/>
              </a:rPr>
              <a:t>What is Asymptotic Notation? (Definition)</a:t>
            </a:r>
            <a:endParaRPr lang="en-US" sz="3600" b="1" i="0" dirty="0">
              <a:solidFill>
                <a:srgbClr val="111827"/>
              </a:solidFill>
              <a:effectLst/>
              <a:highlight>
                <a:srgbClr val="FFFFFF"/>
              </a:highlight>
              <a:latin typeface="Inter" panose="02000503000000020004" pitchFamily="2" charset="0"/>
            </a:endParaRPr>
          </a:p>
        </p:txBody>
      </p:sp>
    </p:spTree>
    <p:extLst>
      <p:ext uri="{BB962C8B-B14F-4D97-AF65-F5344CB8AC3E}">
        <p14:creationId xmlns:p14="http://schemas.microsoft.com/office/powerpoint/2010/main" val="3283007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08799B-5258-9604-76B5-40ADDC66F4CD}"/>
              </a:ext>
            </a:extLst>
          </p:cNvPr>
          <p:cNvSpPr txBox="1"/>
          <p:nvPr/>
        </p:nvSpPr>
        <p:spPr>
          <a:xfrm>
            <a:off x="2258291" y="113298"/>
            <a:ext cx="9393381" cy="1200329"/>
          </a:xfrm>
          <a:prstGeom prst="rect">
            <a:avLst/>
          </a:prstGeom>
          <a:noFill/>
        </p:spPr>
        <p:txBody>
          <a:bodyPr wrap="square">
            <a:spAutoFit/>
          </a:bodyPr>
          <a:lstStyle/>
          <a:p>
            <a:pPr algn="l"/>
            <a:r>
              <a:rPr lang="en-US" sz="3600" b="1" i="0">
                <a:solidFill>
                  <a:srgbClr val="111827"/>
                </a:solidFill>
                <a:effectLst/>
                <a:highlight>
                  <a:srgbClr val="FFFFFF"/>
                </a:highlight>
                <a:latin typeface="Inter" panose="02000503000000020004" pitchFamily="2" charset="0"/>
              </a:rPr>
              <a:t>Types of Asymptotic Notation in Data Structure</a:t>
            </a:r>
          </a:p>
          <a:p>
            <a:pPr algn="l"/>
            <a:br>
              <a:rPr lang="en-US" b="0" i="0">
                <a:solidFill>
                  <a:srgbClr val="212529"/>
                </a:solidFill>
                <a:effectLst/>
                <a:highlight>
                  <a:srgbClr val="FFFFFF"/>
                </a:highlight>
                <a:latin typeface="Inter" panose="02000503000000020004" pitchFamily="2" charset="0"/>
              </a:rPr>
            </a:br>
            <a:endParaRPr lang="en-US" b="0" i="0" dirty="0">
              <a:solidFill>
                <a:srgbClr val="212529"/>
              </a:solidFill>
              <a:effectLst/>
              <a:highlight>
                <a:srgbClr val="FFFFFF"/>
              </a:highlight>
              <a:latin typeface="Inter" panose="02000503000000020004" pitchFamily="2" charset="0"/>
            </a:endParaRPr>
          </a:p>
        </p:txBody>
      </p:sp>
      <p:pic>
        <p:nvPicPr>
          <p:cNvPr id="5" name="Picture 4" descr="A screenshot of a computer&#10;&#10;Description automatically generated">
            <a:extLst>
              <a:ext uri="{FF2B5EF4-FFF2-40B4-BE49-F238E27FC236}">
                <a16:creationId xmlns:a16="http://schemas.microsoft.com/office/drawing/2014/main" id="{641475E2-39B8-6613-4B34-6AB0108902E4}"/>
              </a:ext>
            </a:extLst>
          </p:cNvPr>
          <p:cNvPicPr>
            <a:picLocks noChangeAspect="1"/>
          </p:cNvPicPr>
          <p:nvPr/>
        </p:nvPicPr>
        <p:blipFill>
          <a:blip r:embed="rId2"/>
          <a:stretch>
            <a:fillRect/>
          </a:stretch>
        </p:blipFill>
        <p:spPr>
          <a:xfrm>
            <a:off x="1025236" y="883805"/>
            <a:ext cx="10626436" cy="5341438"/>
          </a:xfrm>
          <a:prstGeom prst="rect">
            <a:avLst/>
          </a:prstGeom>
        </p:spPr>
      </p:pic>
    </p:spTree>
    <p:extLst>
      <p:ext uri="{BB962C8B-B14F-4D97-AF65-F5344CB8AC3E}">
        <p14:creationId xmlns:p14="http://schemas.microsoft.com/office/powerpoint/2010/main" val="3501744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B23F92F3-DB6D-40CE-18EF-DA13409360E4}"/>
              </a:ext>
            </a:extLst>
          </p:cNvPr>
          <p:cNvPicPr>
            <a:picLocks noChangeAspect="1"/>
          </p:cNvPicPr>
          <p:nvPr/>
        </p:nvPicPr>
        <p:blipFill>
          <a:blip r:embed="rId2"/>
          <a:srcRect b="1948"/>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1923710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BD7AA81C-92A5-7954-14E4-A92E3F839CCE}"/>
              </a:ext>
            </a:extLst>
          </p:cNvPr>
          <p:cNvPicPr>
            <a:picLocks noChangeAspect="1"/>
          </p:cNvPicPr>
          <p:nvPr/>
        </p:nvPicPr>
        <p:blipFill>
          <a:blip r:embed="rId2"/>
          <a:srcRect t="222" b="4859"/>
          <a:stretch>
            <a:fillRect/>
          </a:stretch>
        </p:blipFill>
        <p:spPr>
          <a:xfrm>
            <a:off x="20" y="1282"/>
            <a:ext cx="12191980" cy="6856718"/>
          </a:xfrm>
          <a:prstGeom prst="rect">
            <a:avLst/>
          </a:prstGeom>
        </p:spPr>
      </p:pic>
    </p:spTree>
    <p:extLst>
      <p:ext uri="{BB962C8B-B14F-4D97-AF65-F5344CB8AC3E}">
        <p14:creationId xmlns:p14="http://schemas.microsoft.com/office/powerpoint/2010/main" val="1111706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1D73CFD-E4A7-E265-EC92-B2E346D8A10A}"/>
              </a:ext>
            </a:extLst>
          </p:cNvPr>
          <p:cNvPicPr>
            <a:picLocks noChangeAspect="1"/>
          </p:cNvPicPr>
          <p:nvPr/>
        </p:nvPicPr>
        <p:blipFill>
          <a:blip r:embed="rId2"/>
          <a:stretch>
            <a:fillRect/>
          </a:stretch>
        </p:blipFill>
        <p:spPr>
          <a:xfrm>
            <a:off x="2093575" y="457200"/>
            <a:ext cx="8004849" cy="5943600"/>
          </a:xfrm>
          <a:prstGeom prst="rect">
            <a:avLst/>
          </a:prstGeom>
        </p:spPr>
      </p:pic>
    </p:spTree>
    <p:extLst>
      <p:ext uri="{BB962C8B-B14F-4D97-AF65-F5344CB8AC3E}">
        <p14:creationId xmlns:p14="http://schemas.microsoft.com/office/powerpoint/2010/main" val="2636076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EE1D5A-B4F2-CA46-AB5C-C42BC93323EE}"/>
              </a:ext>
            </a:extLst>
          </p:cNvPr>
          <p:cNvPicPr>
            <a:picLocks noChangeAspect="1"/>
          </p:cNvPicPr>
          <p:nvPr/>
        </p:nvPicPr>
        <p:blipFill>
          <a:blip r:embed="rId2"/>
          <a:stretch>
            <a:fillRect/>
          </a:stretch>
        </p:blipFill>
        <p:spPr>
          <a:xfrm>
            <a:off x="1403350" y="876300"/>
            <a:ext cx="7772400" cy="4228017"/>
          </a:xfrm>
          <a:prstGeom prst="rect">
            <a:avLst/>
          </a:prstGeom>
        </p:spPr>
      </p:pic>
    </p:spTree>
    <p:extLst>
      <p:ext uri="{BB962C8B-B14F-4D97-AF65-F5344CB8AC3E}">
        <p14:creationId xmlns:p14="http://schemas.microsoft.com/office/powerpoint/2010/main" val="1687956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4C638C3-F35B-1627-71F7-CB08EC148665}"/>
              </a:ext>
            </a:extLst>
          </p:cNvPr>
          <p:cNvPicPr>
            <a:picLocks noChangeAspect="1"/>
          </p:cNvPicPr>
          <p:nvPr/>
        </p:nvPicPr>
        <p:blipFill>
          <a:blip r:embed="rId2"/>
          <a:stretch>
            <a:fillRect/>
          </a:stretch>
        </p:blipFill>
        <p:spPr>
          <a:xfrm>
            <a:off x="1384300" y="1365250"/>
            <a:ext cx="7772400" cy="3404353"/>
          </a:xfrm>
          <a:prstGeom prst="rect">
            <a:avLst/>
          </a:prstGeom>
        </p:spPr>
      </p:pic>
    </p:spTree>
    <p:extLst>
      <p:ext uri="{BB962C8B-B14F-4D97-AF65-F5344CB8AC3E}">
        <p14:creationId xmlns:p14="http://schemas.microsoft.com/office/powerpoint/2010/main" val="1723760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507C810-624F-A8E6-50D2-44CB30393B60}"/>
              </a:ext>
            </a:extLst>
          </p:cNvPr>
          <p:cNvPicPr>
            <a:picLocks noChangeAspect="1"/>
          </p:cNvPicPr>
          <p:nvPr/>
        </p:nvPicPr>
        <p:blipFill>
          <a:blip r:embed="rId2"/>
          <a:stretch>
            <a:fillRect/>
          </a:stretch>
        </p:blipFill>
        <p:spPr>
          <a:xfrm>
            <a:off x="665018" y="0"/>
            <a:ext cx="10861964" cy="6553200"/>
          </a:xfrm>
          <a:prstGeom prst="rect">
            <a:avLst/>
          </a:prstGeom>
        </p:spPr>
      </p:pic>
    </p:spTree>
    <p:extLst>
      <p:ext uri="{BB962C8B-B14F-4D97-AF65-F5344CB8AC3E}">
        <p14:creationId xmlns:p14="http://schemas.microsoft.com/office/powerpoint/2010/main" val="2205927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34CA9EB-DAE3-05A2-DB8F-C94F8A0FC5D8}"/>
              </a:ext>
            </a:extLst>
          </p:cNvPr>
          <p:cNvPicPr>
            <a:picLocks noChangeAspect="1"/>
          </p:cNvPicPr>
          <p:nvPr/>
        </p:nvPicPr>
        <p:blipFill>
          <a:blip r:embed="rId2"/>
          <a:stretch>
            <a:fillRect/>
          </a:stretch>
        </p:blipFill>
        <p:spPr>
          <a:xfrm>
            <a:off x="692727" y="560532"/>
            <a:ext cx="11000509" cy="5736936"/>
          </a:xfrm>
          <a:prstGeom prst="rect">
            <a:avLst/>
          </a:prstGeom>
        </p:spPr>
      </p:pic>
    </p:spTree>
    <p:extLst>
      <p:ext uri="{BB962C8B-B14F-4D97-AF65-F5344CB8AC3E}">
        <p14:creationId xmlns:p14="http://schemas.microsoft.com/office/powerpoint/2010/main" val="2196479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E26285D6-527E-4D14-63F9-FCA448593D05}"/>
              </a:ext>
            </a:extLst>
          </p:cNvPr>
          <p:cNvPicPr>
            <a:picLocks noChangeAspect="1"/>
          </p:cNvPicPr>
          <p:nvPr/>
        </p:nvPicPr>
        <p:blipFill>
          <a:blip r:embed="rId2"/>
          <a:stretch>
            <a:fillRect/>
          </a:stretch>
        </p:blipFill>
        <p:spPr>
          <a:xfrm>
            <a:off x="997527" y="277091"/>
            <a:ext cx="10266218" cy="5777345"/>
          </a:xfrm>
          <a:prstGeom prst="rect">
            <a:avLst/>
          </a:prstGeom>
        </p:spPr>
      </p:pic>
    </p:spTree>
    <p:extLst>
      <p:ext uri="{BB962C8B-B14F-4D97-AF65-F5344CB8AC3E}">
        <p14:creationId xmlns:p14="http://schemas.microsoft.com/office/powerpoint/2010/main" val="4116271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table with text on it&#10;&#10;Description automatically generated">
            <a:extLst>
              <a:ext uri="{FF2B5EF4-FFF2-40B4-BE49-F238E27FC236}">
                <a16:creationId xmlns:a16="http://schemas.microsoft.com/office/drawing/2014/main" id="{DC462307-1133-A95F-B11A-93784696BAB0}"/>
              </a:ext>
            </a:extLst>
          </p:cNvPr>
          <p:cNvPicPr>
            <a:picLocks noChangeAspect="1"/>
          </p:cNvPicPr>
          <p:nvPr/>
        </p:nvPicPr>
        <p:blipFill>
          <a:blip r:embed="rId2"/>
          <a:stretch>
            <a:fillRect/>
          </a:stretch>
        </p:blipFill>
        <p:spPr>
          <a:xfrm>
            <a:off x="950024" y="457200"/>
            <a:ext cx="10291952" cy="5943600"/>
          </a:xfrm>
          <a:prstGeom prst="rect">
            <a:avLst/>
          </a:prstGeom>
        </p:spPr>
      </p:pic>
    </p:spTree>
    <p:extLst>
      <p:ext uri="{BB962C8B-B14F-4D97-AF65-F5344CB8AC3E}">
        <p14:creationId xmlns:p14="http://schemas.microsoft.com/office/powerpoint/2010/main" val="2179861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report&#10;&#10;Description automatically generated">
            <a:extLst>
              <a:ext uri="{FF2B5EF4-FFF2-40B4-BE49-F238E27FC236}">
                <a16:creationId xmlns:a16="http://schemas.microsoft.com/office/drawing/2014/main" id="{8C0C23CE-3014-0262-251A-F7962E4AAE76}"/>
              </a:ext>
            </a:extLst>
          </p:cNvPr>
          <p:cNvPicPr>
            <a:picLocks noChangeAspect="1"/>
          </p:cNvPicPr>
          <p:nvPr/>
        </p:nvPicPr>
        <p:blipFill>
          <a:blip r:embed="rId2"/>
          <a:stretch>
            <a:fillRect/>
          </a:stretch>
        </p:blipFill>
        <p:spPr>
          <a:xfrm>
            <a:off x="1676966" y="457200"/>
            <a:ext cx="8838067" cy="5943600"/>
          </a:xfrm>
          <a:prstGeom prst="rect">
            <a:avLst/>
          </a:prstGeom>
        </p:spPr>
      </p:pic>
    </p:spTree>
    <p:extLst>
      <p:ext uri="{BB962C8B-B14F-4D97-AF65-F5344CB8AC3E}">
        <p14:creationId xmlns:p14="http://schemas.microsoft.com/office/powerpoint/2010/main" val="579131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black text&#10;&#10;Description automatically generated">
            <a:extLst>
              <a:ext uri="{FF2B5EF4-FFF2-40B4-BE49-F238E27FC236}">
                <a16:creationId xmlns:a16="http://schemas.microsoft.com/office/drawing/2014/main" id="{E3CF7C89-7D1A-23BB-5A99-AFBA0CB46AB3}"/>
              </a:ext>
            </a:extLst>
          </p:cNvPr>
          <p:cNvPicPr>
            <a:picLocks noChangeAspect="1"/>
          </p:cNvPicPr>
          <p:nvPr/>
        </p:nvPicPr>
        <p:blipFill>
          <a:blip r:embed="rId2"/>
          <a:stretch>
            <a:fillRect/>
          </a:stretch>
        </p:blipFill>
        <p:spPr>
          <a:xfrm>
            <a:off x="554182" y="637309"/>
            <a:ext cx="10764982" cy="5361709"/>
          </a:xfrm>
          <a:prstGeom prst="rect">
            <a:avLst/>
          </a:prstGeom>
        </p:spPr>
      </p:pic>
    </p:spTree>
    <p:extLst>
      <p:ext uri="{BB962C8B-B14F-4D97-AF65-F5344CB8AC3E}">
        <p14:creationId xmlns:p14="http://schemas.microsoft.com/office/powerpoint/2010/main" val="1528867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text with black text&#10;&#10;Description automatically generated">
            <a:extLst>
              <a:ext uri="{FF2B5EF4-FFF2-40B4-BE49-F238E27FC236}">
                <a16:creationId xmlns:a16="http://schemas.microsoft.com/office/drawing/2014/main" id="{EDF00BD9-2342-09E7-D6B7-00F749908727}"/>
              </a:ext>
            </a:extLst>
          </p:cNvPr>
          <p:cNvPicPr>
            <a:picLocks noChangeAspect="1"/>
          </p:cNvPicPr>
          <p:nvPr/>
        </p:nvPicPr>
        <p:blipFill>
          <a:blip r:embed="rId2"/>
          <a:stretch>
            <a:fillRect/>
          </a:stretch>
        </p:blipFill>
        <p:spPr>
          <a:xfrm>
            <a:off x="457200" y="1356741"/>
            <a:ext cx="11277600" cy="4144517"/>
          </a:xfrm>
          <a:prstGeom prst="rect">
            <a:avLst/>
          </a:prstGeom>
        </p:spPr>
      </p:pic>
    </p:spTree>
    <p:extLst>
      <p:ext uri="{BB962C8B-B14F-4D97-AF65-F5344CB8AC3E}">
        <p14:creationId xmlns:p14="http://schemas.microsoft.com/office/powerpoint/2010/main" val="1490967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B3C3F1D-C940-FF7F-811A-926BF3FC4805}"/>
              </a:ext>
            </a:extLst>
          </p:cNvPr>
          <p:cNvPicPr>
            <a:picLocks noChangeAspect="1"/>
          </p:cNvPicPr>
          <p:nvPr/>
        </p:nvPicPr>
        <p:blipFill>
          <a:blip r:embed="rId2"/>
          <a:stretch>
            <a:fillRect/>
          </a:stretch>
        </p:blipFill>
        <p:spPr>
          <a:xfrm>
            <a:off x="235527" y="0"/>
            <a:ext cx="11236037" cy="6650182"/>
          </a:xfrm>
          <a:prstGeom prst="rect">
            <a:avLst/>
          </a:prstGeom>
        </p:spPr>
      </p:pic>
    </p:spTree>
    <p:extLst>
      <p:ext uri="{BB962C8B-B14F-4D97-AF65-F5344CB8AC3E}">
        <p14:creationId xmlns:p14="http://schemas.microsoft.com/office/powerpoint/2010/main" val="599027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2D4B163-1BF7-4481-D458-5E25EEE896B5}"/>
              </a:ext>
            </a:extLst>
          </p:cNvPr>
          <p:cNvPicPr>
            <a:picLocks noChangeAspect="1"/>
          </p:cNvPicPr>
          <p:nvPr/>
        </p:nvPicPr>
        <p:blipFill>
          <a:blip r:embed="rId2"/>
          <a:stretch>
            <a:fillRect/>
          </a:stretch>
        </p:blipFill>
        <p:spPr>
          <a:xfrm>
            <a:off x="318655" y="0"/>
            <a:ext cx="10612581" cy="6564085"/>
          </a:xfrm>
          <a:prstGeom prst="rect">
            <a:avLst/>
          </a:prstGeom>
        </p:spPr>
      </p:pic>
    </p:spTree>
    <p:extLst>
      <p:ext uri="{BB962C8B-B14F-4D97-AF65-F5344CB8AC3E}">
        <p14:creationId xmlns:p14="http://schemas.microsoft.com/office/powerpoint/2010/main" val="2339017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B3FAE2-EC05-AF56-2483-3B3A2D692D91}"/>
              </a:ext>
            </a:extLst>
          </p:cNvPr>
          <p:cNvPicPr>
            <a:picLocks noChangeAspect="1"/>
          </p:cNvPicPr>
          <p:nvPr/>
        </p:nvPicPr>
        <p:blipFill>
          <a:blip r:embed="rId2"/>
          <a:stretch>
            <a:fillRect/>
          </a:stretch>
        </p:blipFill>
        <p:spPr>
          <a:xfrm>
            <a:off x="512618" y="1079499"/>
            <a:ext cx="11180618" cy="5099627"/>
          </a:xfrm>
          <a:prstGeom prst="rect">
            <a:avLst/>
          </a:prstGeom>
        </p:spPr>
      </p:pic>
    </p:spTree>
    <p:extLst>
      <p:ext uri="{BB962C8B-B14F-4D97-AF65-F5344CB8AC3E}">
        <p14:creationId xmlns:p14="http://schemas.microsoft.com/office/powerpoint/2010/main" val="23110072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744BA1-AA31-C0D0-8141-F9F561C5490B}"/>
              </a:ext>
            </a:extLst>
          </p:cNvPr>
          <p:cNvSpPr txBox="1"/>
          <p:nvPr/>
        </p:nvSpPr>
        <p:spPr>
          <a:xfrm>
            <a:off x="263237" y="260814"/>
            <a:ext cx="11042072" cy="2677656"/>
          </a:xfrm>
          <a:prstGeom prst="rect">
            <a:avLst/>
          </a:prstGeom>
          <a:noFill/>
        </p:spPr>
        <p:txBody>
          <a:bodyPr wrap="square">
            <a:spAutoFit/>
          </a:bodyPr>
          <a:lstStyle/>
          <a:p>
            <a:pPr algn="l"/>
            <a:r>
              <a:rPr lang="en-US" sz="3600" b="0" i="0" dirty="0">
                <a:solidFill>
                  <a:srgbClr val="111827"/>
                </a:solidFill>
                <a:effectLst/>
                <a:latin typeface="Inter" panose="02000503000000020004" pitchFamily="2" charset="0"/>
              </a:rPr>
              <a:t>What is asymptotic analysis?</a:t>
            </a:r>
          </a:p>
          <a:p>
            <a:pPr algn="l"/>
            <a:endParaRPr lang="en-US" sz="3600" b="0" i="0" dirty="0">
              <a:solidFill>
                <a:srgbClr val="111827"/>
              </a:solidFill>
              <a:effectLst/>
              <a:latin typeface="Inter" panose="02000503000000020004" pitchFamily="2" charset="0"/>
            </a:endParaRPr>
          </a:p>
          <a:p>
            <a:pPr algn="just"/>
            <a:r>
              <a:rPr lang="en-US" sz="2400" b="0" i="0" dirty="0">
                <a:solidFill>
                  <a:srgbClr val="374151"/>
                </a:solidFill>
                <a:effectLst/>
                <a:latin typeface="Inter" panose="02000503000000020004" pitchFamily="2" charset="0"/>
              </a:rPr>
              <a:t>Asymptotic analysis is a method used to describe the efficiency of an algorithm as the input size grows. It focuses on the growth rate of the algorithm's running time or space requirements, providing a way to compare the performance of different algorithms in a theoretical, platform-independent manner.</a:t>
            </a:r>
          </a:p>
        </p:txBody>
      </p:sp>
    </p:spTree>
    <p:extLst>
      <p:ext uri="{BB962C8B-B14F-4D97-AF65-F5344CB8AC3E}">
        <p14:creationId xmlns:p14="http://schemas.microsoft.com/office/powerpoint/2010/main" val="29305921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A1D568-EB38-98F4-FE62-8D6578E5C27C}"/>
              </a:ext>
            </a:extLst>
          </p:cNvPr>
          <p:cNvSpPr txBox="1"/>
          <p:nvPr/>
        </p:nvSpPr>
        <p:spPr>
          <a:xfrm>
            <a:off x="304801" y="321301"/>
            <a:ext cx="11180618" cy="3170099"/>
          </a:xfrm>
          <a:prstGeom prst="rect">
            <a:avLst/>
          </a:prstGeom>
          <a:noFill/>
        </p:spPr>
        <p:txBody>
          <a:bodyPr wrap="square">
            <a:spAutoFit/>
          </a:bodyPr>
          <a:lstStyle/>
          <a:p>
            <a:pPr algn="l"/>
            <a:r>
              <a:rPr lang="en-US" sz="2800" b="0" i="0" dirty="0">
                <a:solidFill>
                  <a:srgbClr val="111827"/>
                </a:solidFill>
                <a:effectLst/>
                <a:latin typeface="Inter" panose="02000503000000020004" pitchFamily="2" charset="0"/>
              </a:rPr>
              <a:t>Why is asymptotic analysis important?</a:t>
            </a:r>
          </a:p>
          <a:p>
            <a:pPr algn="l"/>
            <a:endParaRPr lang="en-US" sz="2800" dirty="0">
              <a:solidFill>
                <a:srgbClr val="111827"/>
              </a:solidFill>
              <a:latin typeface="Inter" panose="02000503000000020004" pitchFamily="2" charset="0"/>
            </a:endParaRPr>
          </a:p>
          <a:p>
            <a:pPr algn="l"/>
            <a:endParaRPr lang="en-US" sz="2400" b="0" i="0" dirty="0">
              <a:solidFill>
                <a:srgbClr val="111827"/>
              </a:solidFill>
              <a:effectLst/>
              <a:latin typeface="Inter" panose="02000503000000020004" pitchFamily="2" charset="0"/>
            </a:endParaRPr>
          </a:p>
          <a:p>
            <a:pPr algn="l"/>
            <a:r>
              <a:rPr lang="en-US" sz="2400" b="0" i="0" dirty="0">
                <a:solidFill>
                  <a:srgbClr val="374151"/>
                </a:solidFill>
                <a:effectLst/>
                <a:latin typeface="Inter" panose="02000503000000020004" pitchFamily="2" charset="0"/>
              </a:rPr>
              <a:t>Asymptotic analysis helps to understand and compare the performance of algorithms for large input sizes. It provides a way to predict how an algorithm will scale, enabling developers to choose the most efficient algorithm for their needs. This is crucial for optimizing software and ensuring that applications run efficiently, especially with large datasets.</a:t>
            </a:r>
          </a:p>
        </p:txBody>
      </p:sp>
    </p:spTree>
    <p:extLst>
      <p:ext uri="{BB962C8B-B14F-4D97-AF65-F5344CB8AC3E}">
        <p14:creationId xmlns:p14="http://schemas.microsoft.com/office/powerpoint/2010/main" val="40208224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56B609-D791-6B27-C9E0-EDC1DB4900EB}"/>
              </a:ext>
            </a:extLst>
          </p:cNvPr>
          <p:cNvSpPr txBox="1"/>
          <p:nvPr/>
        </p:nvSpPr>
        <p:spPr>
          <a:xfrm>
            <a:off x="471055" y="1083209"/>
            <a:ext cx="11042072" cy="2431435"/>
          </a:xfrm>
          <a:prstGeom prst="rect">
            <a:avLst/>
          </a:prstGeom>
          <a:noFill/>
        </p:spPr>
        <p:txBody>
          <a:bodyPr wrap="square">
            <a:spAutoFit/>
          </a:bodyPr>
          <a:lstStyle/>
          <a:p>
            <a:pPr algn="l"/>
            <a:r>
              <a:rPr lang="en-US" sz="2800" b="0" i="0" dirty="0">
                <a:solidFill>
                  <a:srgbClr val="111827"/>
                </a:solidFill>
                <a:effectLst/>
                <a:latin typeface="Inter" panose="02000503000000020004" pitchFamily="2" charset="0"/>
              </a:rPr>
              <a:t>What does Big O notation represent?</a:t>
            </a:r>
          </a:p>
          <a:p>
            <a:pPr algn="l"/>
            <a:endParaRPr lang="en-US" sz="2800" b="0" i="0" dirty="0">
              <a:solidFill>
                <a:srgbClr val="111827"/>
              </a:solidFill>
              <a:effectLst/>
              <a:latin typeface="Inter" panose="02000503000000020004" pitchFamily="2" charset="0"/>
            </a:endParaRPr>
          </a:p>
          <a:p>
            <a:pPr algn="just"/>
            <a:r>
              <a:rPr lang="en-US" sz="2400" b="0" i="0" dirty="0">
                <a:solidFill>
                  <a:srgbClr val="374151"/>
                </a:solidFill>
                <a:effectLst/>
                <a:latin typeface="Inter" panose="02000503000000020004" pitchFamily="2" charset="0"/>
              </a:rPr>
              <a:t>Big O notation represents the upper bound of an algorithm's running time. It provides a worst-case scenario, showing the maximum amount of time or space an algorithm will require as the input size grows. For example, O(n) indicates that the running time grows linearly with the input size.</a:t>
            </a:r>
          </a:p>
        </p:txBody>
      </p:sp>
    </p:spTree>
    <p:extLst>
      <p:ext uri="{BB962C8B-B14F-4D97-AF65-F5344CB8AC3E}">
        <p14:creationId xmlns:p14="http://schemas.microsoft.com/office/powerpoint/2010/main" val="15424602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D9236C-6A06-157B-42F9-D7969E6EEA58}"/>
              </a:ext>
            </a:extLst>
          </p:cNvPr>
          <p:cNvSpPr txBox="1"/>
          <p:nvPr/>
        </p:nvSpPr>
        <p:spPr>
          <a:xfrm>
            <a:off x="387926" y="473654"/>
            <a:ext cx="11152909" cy="2431435"/>
          </a:xfrm>
          <a:prstGeom prst="rect">
            <a:avLst/>
          </a:prstGeom>
          <a:noFill/>
        </p:spPr>
        <p:txBody>
          <a:bodyPr wrap="square">
            <a:spAutoFit/>
          </a:bodyPr>
          <a:lstStyle/>
          <a:p>
            <a:pPr algn="l"/>
            <a:r>
              <a:rPr lang="en-US" sz="2800" b="0" i="0" dirty="0">
                <a:solidFill>
                  <a:srgbClr val="111827"/>
                </a:solidFill>
                <a:effectLst/>
                <a:latin typeface="Inter" panose="02000503000000020004" pitchFamily="2" charset="0"/>
              </a:rPr>
              <a:t>How is Omega (</a:t>
            </a:r>
            <a:r>
              <a:rPr lang="el-GR" sz="2800" b="0" i="0" dirty="0">
                <a:solidFill>
                  <a:srgbClr val="111827"/>
                </a:solidFill>
                <a:effectLst/>
                <a:latin typeface="Inter" panose="02000503000000020004" pitchFamily="2" charset="0"/>
              </a:rPr>
              <a:t>Ω) </a:t>
            </a:r>
            <a:r>
              <a:rPr lang="en-US" sz="2800" b="0" i="0" dirty="0">
                <a:solidFill>
                  <a:srgbClr val="111827"/>
                </a:solidFill>
                <a:effectLst/>
                <a:latin typeface="Inter" panose="02000503000000020004" pitchFamily="2" charset="0"/>
              </a:rPr>
              <a:t>notation different from Big O notation?</a:t>
            </a:r>
          </a:p>
          <a:p>
            <a:pPr algn="l"/>
            <a:endParaRPr lang="en-US" sz="2800" b="0" i="0" dirty="0">
              <a:solidFill>
                <a:srgbClr val="111827"/>
              </a:solidFill>
              <a:effectLst/>
              <a:latin typeface="Inter" panose="02000503000000020004" pitchFamily="2" charset="0"/>
            </a:endParaRPr>
          </a:p>
          <a:p>
            <a:pPr algn="just"/>
            <a:r>
              <a:rPr lang="en-US" sz="2400" b="0" i="0" dirty="0">
                <a:solidFill>
                  <a:srgbClr val="374151"/>
                </a:solidFill>
                <a:effectLst/>
                <a:latin typeface="Inter" panose="02000503000000020004" pitchFamily="2" charset="0"/>
              </a:rPr>
              <a:t>Omega (</a:t>
            </a:r>
            <a:r>
              <a:rPr lang="el-GR" sz="2400" b="0" i="0" dirty="0">
                <a:solidFill>
                  <a:srgbClr val="374151"/>
                </a:solidFill>
                <a:effectLst/>
                <a:latin typeface="Inter" panose="02000503000000020004" pitchFamily="2" charset="0"/>
              </a:rPr>
              <a:t>Ω) </a:t>
            </a:r>
            <a:r>
              <a:rPr lang="en-US" sz="2400" b="0" i="0" dirty="0">
                <a:solidFill>
                  <a:srgbClr val="374151"/>
                </a:solidFill>
                <a:effectLst/>
                <a:latin typeface="Inter" panose="02000503000000020004" pitchFamily="2" charset="0"/>
              </a:rPr>
              <a:t>notation represents the lower bound of an algorithm's running time. It provides the best-case scenario, showing the minimum amount of time or space an algorithm will require as the input size grows. For example, </a:t>
            </a:r>
            <a:r>
              <a:rPr lang="el-GR" sz="2400" b="0" i="0" dirty="0">
                <a:solidFill>
                  <a:srgbClr val="374151"/>
                </a:solidFill>
                <a:effectLst/>
                <a:latin typeface="Inter" panose="02000503000000020004" pitchFamily="2" charset="0"/>
              </a:rPr>
              <a:t>Ω(</a:t>
            </a:r>
            <a:r>
              <a:rPr lang="en-US" sz="2400" b="0" i="0" dirty="0">
                <a:solidFill>
                  <a:srgbClr val="374151"/>
                </a:solidFill>
                <a:effectLst/>
                <a:latin typeface="Inter" panose="02000503000000020004" pitchFamily="2" charset="0"/>
              </a:rPr>
              <a:t>n) indicates that the running time grows at least linearly with the input size.</a:t>
            </a:r>
          </a:p>
        </p:txBody>
      </p:sp>
      <p:sp>
        <p:nvSpPr>
          <p:cNvPr id="5" name="TextBox 4">
            <a:extLst>
              <a:ext uri="{FF2B5EF4-FFF2-40B4-BE49-F238E27FC236}">
                <a16:creationId xmlns:a16="http://schemas.microsoft.com/office/drawing/2014/main" id="{EA5A3067-787C-04D1-4CA8-67B758F539DD}"/>
              </a:ext>
            </a:extLst>
          </p:cNvPr>
          <p:cNvSpPr txBox="1"/>
          <p:nvPr/>
        </p:nvSpPr>
        <p:spPr>
          <a:xfrm>
            <a:off x="519546" y="3632583"/>
            <a:ext cx="11152908" cy="2431435"/>
          </a:xfrm>
          <a:prstGeom prst="rect">
            <a:avLst/>
          </a:prstGeom>
          <a:noFill/>
        </p:spPr>
        <p:txBody>
          <a:bodyPr wrap="square">
            <a:spAutoFit/>
          </a:bodyPr>
          <a:lstStyle/>
          <a:p>
            <a:pPr algn="l"/>
            <a:r>
              <a:rPr lang="en-US" sz="2800" b="0" i="0">
                <a:solidFill>
                  <a:srgbClr val="111827"/>
                </a:solidFill>
                <a:effectLst/>
                <a:latin typeface="Inter" panose="02000503000000020004" pitchFamily="2" charset="0"/>
              </a:rPr>
              <a:t>Why is Big O notation commonly used compared to other notations?</a:t>
            </a:r>
          </a:p>
          <a:p>
            <a:pPr algn="l"/>
            <a:endParaRPr lang="en-US" sz="2800" b="0" i="0">
              <a:solidFill>
                <a:srgbClr val="111827"/>
              </a:solidFill>
              <a:effectLst/>
              <a:latin typeface="Inter" panose="02000503000000020004" pitchFamily="2" charset="0"/>
            </a:endParaRPr>
          </a:p>
          <a:p>
            <a:pPr algn="l"/>
            <a:r>
              <a:rPr lang="en-US" sz="2400" b="0" i="0">
                <a:solidFill>
                  <a:srgbClr val="374151"/>
                </a:solidFill>
                <a:effectLst/>
                <a:latin typeface="Inter" panose="02000503000000020004" pitchFamily="2" charset="0"/>
              </a:rPr>
              <a:t>Big O notation is commonly used because it provides a worst-case scenario, which is useful for guaranteeing that an algorithm will not exceed a certain time or space complexity. This is important for ensuring performance reliability and making sure that systems meet required performance standards under all conditions.</a:t>
            </a:r>
          </a:p>
        </p:txBody>
      </p:sp>
    </p:spTree>
    <p:extLst>
      <p:ext uri="{BB962C8B-B14F-4D97-AF65-F5344CB8AC3E}">
        <p14:creationId xmlns:p14="http://schemas.microsoft.com/office/powerpoint/2010/main" val="635320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81E709-F993-B32D-33B0-61F48BD3EA3B}"/>
              </a:ext>
            </a:extLst>
          </p:cNvPr>
          <p:cNvSpPr txBox="1"/>
          <p:nvPr/>
        </p:nvSpPr>
        <p:spPr>
          <a:xfrm>
            <a:off x="1496291" y="154817"/>
            <a:ext cx="10418618" cy="523220"/>
          </a:xfrm>
          <a:prstGeom prst="rect">
            <a:avLst/>
          </a:prstGeom>
          <a:noFill/>
        </p:spPr>
        <p:txBody>
          <a:bodyPr wrap="square">
            <a:spAutoFit/>
          </a:bodyPr>
          <a:lstStyle/>
          <a:p>
            <a:pPr algn="just"/>
            <a:r>
              <a:rPr lang="en-US" sz="2800" b="1" i="0" dirty="0">
                <a:solidFill>
                  <a:srgbClr val="111827"/>
                </a:solidFill>
                <a:effectLst/>
                <a:highlight>
                  <a:srgbClr val="FFFFFF"/>
                </a:highlight>
                <a:latin typeface="Inter" panose="02000503000000020004" pitchFamily="2" charset="0"/>
              </a:rPr>
              <a:t>Time Complexity in Data Structure and Algorithms (Types, Examples)</a:t>
            </a:r>
          </a:p>
        </p:txBody>
      </p:sp>
      <p:pic>
        <p:nvPicPr>
          <p:cNvPr id="5" name="Picture 4">
            <a:extLst>
              <a:ext uri="{FF2B5EF4-FFF2-40B4-BE49-F238E27FC236}">
                <a16:creationId xmlns:a16="http://schemas.microsoft.com/office/drawing/2014/main" id="{66F80F5C-4D92-A9E6-363A-2167CD936BA5}"/>
              </a:ext>
            </a:extLst>
          </p:cNvPr>
          <p:cNvPicPr>
            <a:picLocks noChangeAspect="1"/>
          </p:cNvPicPr>
          <p:nvPr/>
        </p:nvPicPr>
        <p:blipFill>
          <a:blip r:embed="rId2"/>
          <a:stretch>
            <a:fillRect/>
          </a:stretch>
        </p:blipFill>
        <p:spPr>
          <a:xfrm>
            <a:off x="706582" y="1149350"/>
            <a:ext cx="10418618" cy="5293014"/>
          </a:xfrm>
          <a:prstGeom prst="rect">
            <a:avLst/>
          </a:prstGeom>
        </p:spPr>
      </p:pic>
    </p:spTree>
    <p:extLst>
      <p:ext uri="{BB962C8B-B14F-4D97-AF65-F5344CB8AC3E}">
        <p14:creationId xmlns:p14="http://schemas.microsoft.com/office/powerpoint/2010/main" val="2294882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7F026B-B739-B5B0-23AF-5925FDFC707E}"/>
              </a:ext>
            </a:extLst>
          </p:cNvPr>
          <p:cNvPicPr>
            <a:picLocks noChangeAspect="1"/>
          </p:cNvPicPr>
          <p:nvPr/>
        </p:nvPicPr>
        <p:blipFill>
          <a:blip r:embed="rId2"/>
          <a:stretch>
            <a:fillRect/>
          </a:stretch>
        </p:blipFill>
        <p:spPr>
          <a:xfrm>
            <a:off x="969818" y="664441"/>
            <a:ext cx="10252363" cy="5529118"/>
          </a:xfrm>
          <a:prstGeom prst="rect">
            <a:avLst/>
          </a:prstGeom>
        </p:spPr>
      </p:pic>
    </p:spTree>
    <p:extLst>
      <p:ext uri="{BB962C8B-B14F-4D97-AF65-F5344CB8AC3E}">
        <p14:creationId xmlns:p14="http://schemas.microsoft.com/office/powerpoint/2010/main" val="1733555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7463A5F-EC7D-E604-9564-E7807A1F8F4A}"/>
              </a:ext>
            </a:extLst>
          </p:cNvPr>
          <p:cNvPicPr>
            <a:picLocks noChangeAspect="1"/>
          </p:cNvPicPr>
          <p:nvPr/>
        </p:nvPicPr>
        <p:blipFill>
          <a:blip r:embed="rId2"/>
          <a:stretch>
            <a:fillRect/>
          </a:stretch>
        </p:blipFill>
        <p:spPr>
          <a:xfrm>
            <a:off x="748146" y="457200"/>
            <a:ext cx="8950036" cy="5943600"/>
          </a:xfrm>
          <a:prstGeom prst="rect">
            <a:avLst/>
          </a:prstGeom>
        </p:spPr>
      </p:pic>
    </p:spTree>
    <p:extLst>
      <p:ext uri="{BB962C8B-B14F-4D97-AF65-F5344CB8AC3E}">
        <p14:creationId xmlns:p14="http://schemas.microsoft.com/office/powerpoint/2010/main" val="22867262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text with black text&#10;&#10;Description automatically generated">
            <a:extLst>
              <a:ext uri="{FF2B5EF4-FFF2-40B4-BE49-F238E27FC236}">
                <a16:creationId xmlns:a16="http://schemas.microsoft.com/office/drawing/2014/main" id="{C57EB28A-6F57-61EA-8DF6-2B070AE704BF}"/>
              </a:ext>
            </a:extLst>
          </p:cNvPr>
          <p:cNvPicPr>
            <a:picLocks noChangeAspect="1"/>
          </p:cNvPicPr>
          <p:nvPr/>
        </p:nvPicPr>
        <p:blipFill>
          <a:blip r:embed="rId2"/>
          <a:stretch>
            <a:fillRect/>
          </a:stretch>
        </p:blipFill>
        <p:spPr>
          <a:xfrm>
            <a:off x="457200" y="651892"/>
            <a:ext cx="11277600" cy="5554215"/>
          </a:xfrm>
          <a:prstGeom prst="rect">
            <a:avLst/>
          </a:prstGeom>
        </p:spPr>
      </p:pic>
    </p:spTree>
    <p:extLst>
      <p:ext uri="{BB962C8B-B14F-4D97-AF65-F5344CB8AC3E}">
        <p14:creationId xmlns:p14="http://schemas.microsoft.com/office/powerpoint/2010/main" val="15039452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different types of time&#10;&#10;Description automatically generated">
            <a:extLst>
              <a:ext uri="{FF2B5EF4-FFF2-40B4-BE49-F238E27FC236}">
                <a16:creationId xmlns:a16="http://schemas.microsoft.com/office/drawing/2014/main" id="{C9EBD151-C698-7A51-C148-AD7964D15100}"/>
              </a:ext>
            </a:extLst>
          </p:cNvPr>
          <p:cNvPicPr>
            <a:picLocks noChangeAspect="1"/>
          </p:cNvPicPr>
          <p:nvPr/>
        </p:nvPicPr>
        <p:blipFill>
          <a:blip r:embed="rId2"/>
          <a:stretch>
            <a:fillRect/>
          </a:stretch>
        </p:blipFill>
        <p:spPr>
          <a:xfrm>
            <a:off x="748145" y="235527"/>
            <a:ext cx="10099964" cy="6442363"/>
          </a:xfrm>
          <a:prstGeom prst="rect">
            <a:avLst/>
          </a:prstGeom>
        </p:spPr>
      </p:pic>
    </p:spTree>
    <p:extLst>
      <p:ext uri="{BB962C8B-B14F-4D97-AF65-F5344CB8AC3E}">
        <p14:creationId xmlns:p14="http://schemas.microsoft.com/office/powerpoint/2010/main" val="33675006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961D7C-9798-347E-5EDB-5C690626C770}"/>
              </a:ext>
            </a:extLst>
          </p:cNvPr>
          <p:cNvPicPr>
            <a:picLocks noChangeAspect="1"/>
          </p:cNvPicPr>
          <p:nvPr/>
        </p:nvPicPr>
        <p:blipFill>
          <a:blip r:embed="rId2"/>
          <a:stretch>
            <a:fillRect/>
          </a:stretch>
        </p:blipFill>
        <p:spPr>
          <a:xfrm>
            <a:off x="748145" y="651164"/>
            <a:ext cx="10141528" cy="5417127"/>
          </a:xfrm>
          <a:prstGeom prst="rect">
            <a:avLst/>
          </a:prstGeom>
        </p:spPr>
      </p:pic>
    </p:spTree>
    <p:extLst>
      <p:ext uri="{BB962C8B-B14F-4D97-AF65-F5344CB8AC3E}">
        <p14:creationId xmlns:p14="http://schemas.microsoft.com/office/powerpoint/2010/main" val="14421088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EFB55F18-A0DF-6B69-B039-C87A6F031E7F}"/>
              </a:ext>
            </a:extLst>
          </p:cNvPr>
          <p:cNvPicPr>
            <a:picLocks noChangeAspect="1"/>
          </p:cNvPicPr>
          <p:nvPr/>
        </p:nvPicPr>
        <p:blipFill>
          <a:blip r:embed="rId2"/>
          <a:stretch>
            <a:fillRect/>
          </a:stretch>
        </p:blipFill>
        <p:spPr>
          <a:xfrm>
            <a:off x="789709" y="457200"/>
            <a:ext cx="10515600" cy="6206836"/>
          </a:xfrm>
          <a:prstGeom prst="rect">
            <a:avLst/>
          </a:prstGeom>
        </p:spPr>
      </p:pic>
    </p:spTree>
    <p:extLst>
      <p:ext uri="{BB962C8B-B14F-4D97-AF65-F5344CB8AC3E}">
        <p14:creationId xmlns:p14="http://schemas.microsoft.com/office/powerpoint/2010/main" val="8225136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F163B9B1-D93D-2725-02BE-A5DCAEC83C01}"/>
              </a:ext>
            </a:extLst>
          </p:cNvPr>
          <p:cNvPicPr>
            <a:picLocks noChangeAspect="1"/>
          </p:cNvPicPr>
          <p:nvPr/>
        </p:nvPicPr>
        <p:blipFill>
          <a:blip r:embed="rId2"/>
          <a:stretch>
            <a:fillRect/>
          </a:stretch>
        </p:blipFill>
        <p:spPr>
          <a:xfrm>
            <a:off x="457200" y="471055"/>
            <a:ext cx="11277600" cy="5860471"/>
          </a:xfrm>
          <a:prstGeom prst="rect">
            <a:avLst/>
          </a:prstGeom>
        </p:spPr>
      </p:pic>
    </p:spTree>
    <p:extLst>
      <p:ext uri="{BB962C8B-B14F-4D97-AF65-F5344CB8AC3E}">
        <p14:creationId xmlns:p14="http://schemas.microsoft.com/office/powerpoint/2010/main" val="7896917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EB4140D2-83C7-630C-98A9-D6130578F957}"/>
              </a:ext>
            </a:extLst>
          </p:cNvPr>
          <p:cNvPicPr>
            <a:picLocks noChangeAspect="1"/>
          </p:cNvPicPr>
          <p:nvPr/>
        </p:nvPicPr>
        <p:blipFill>
          <a:blip r:embed="rId2"/>
          <a:stretch>
            <a:fillRect/>
          </a:stretch>
        </p:blipFill>
        <p:spPr>
          <a:xfrm>
            <a:off x="457200" y="1370838"/>
            <a:ext cx="11277600" cy="4116324"/>
          </a:xfrm>
          <a:prstGeom prst="rect">
            <a:avLst/>
          </a:prstGeom>
        </p:spPr>
      </p:pic>
    </p:spTree>
    <p:extLst>
      <p:ext uri="{BB962C8B-B14F-4D97-AF65-F5344CB8AC3E}">
        <p14:creationId xmlns:p14="http://schemas.microsoft.com/office/powerpoint/2010/main" val="34393577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36014E-26F5-A6E2-C92F-18AE0B339905}"/>
              </a:ext>
            </a:extLst>
          </p:cNvPr>
          <p:cNvPicPr>
            <a:picLocks noChangeAspect="1"/>
          </p:cNvPicPr>
          <p:nvPr/>
        </p:nvPicPr>
        <p:blipFill>
          <a:blip r:embed="rId2"/>
          <a:stretch>
            <a:fillRect/>
          </a:stretch>
        </p:blipFill>
        <p:spPr>
          <a:xfrm>
            <a:off x="734291" y="609600"/>
            <a:ext cx="9892145" cy="5430982"/>
          </a:xfrm>
          <a:prstGeom prst="rect">
            <a:avLst/>
          </a:prstGeom>
        </p:spPr>
      </p:pic>
    </p:spTree>
    <p:extLst>
      <p:ext uri="{BB962C8B-B14F-4D97-AF65-F5344CB8AC3E}">
        <p14:creationId xmlns:p14="http://schemas.microsoft.com/office/powerpoint/2010/main" val="17676506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5BB936-A1C0-B323-8A55-6C917DAB01D8}"/>
              </a:ext>
            </a:extLst>
          </p:cNvPr>
          <p:cNvPicPr>
            <a:picLocks noChangeAspect="1"/>
          </p:cNvPicPr>
          <p:nvPr/>
        </p:nvPicPr>
        <p:blipFill>
          <a:blip r:embed="rId2"/>
          <a:stretch>
            <a:fillRect/>
          </a:stretch>
        </p:blipFill>
        <p:spPr>
          <a:xfrm>
            <a:off x="831273" y="415636"/>
            <a:ext cx="10280072" cy="5624946"/>
          </a:xfrm>
          <a:prstGeom prst="rect">
            <a:avLst/>
          </a:prstGeom>
        </p:spPr>
      </p:pic>
    </p:spTree>
    <p:extLst>
      <p:ext uri="{BB962C8B-B14F-4D97-AF65-F5344CB8AC3E}">
        <p14:creationId xmlns:p14="http://schemas.microsoft.com/office/powerpoint/2010/main" val="20350198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F3F94F5-1333-A2B8-DB2B-86AE858B2636}"/>
              </a:ext>
            </a:extLst>
          </p:cNvPr>
          <p:cNvPicPr>
            <a:picLocks noChangeAspect="1"/>
          </p:cNvPicPr>
          <p:nvPr/>
        </p:nvPicPr>
        <p:blipFill>
          <a:blip r:embed="rId2"/>
          <a:stretch>
            <a:fillRect/>
          </a:stretch>
        </p:blipFill>
        <p:spPr>
          <a:xfrm>
            <a:off x="457200" y="1779652"/>
            <a:ext cx="11277600" cy="3298696"/>
          </a:xfrm>
          <a:prstGeom prst="rect">
            <a:avLst/>
          </a:prstGeom>
        </p:spPr>
      </p:pic>
    </p:spTree>
    <p:extLst>
      <p:ext uri="{BB962C8B-B14F-4D97-AF65-F5344CB8AC3E}">
        <p14:creationId xmlns:p14="http://schemas.microsoft.com/office/powerpoint/2010/main" val="20508252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A432C7-9FCB-3E3B-F846-B8B76A3A4981}"/>
              </a:ext>
            </a:extLst>
          </p:cNvPr>
          <p:cNvSpPr txBox="1"/>
          <p:nvPr/>
        </p:nvSpPr>
        <p:spPr>
          <a:xfrm>
            <a:off x="1856507" y="91057"/>
            <a:ext cx="8326582" cy="584775"/>
          </a:xfrm>
          <a:prstGeom prst="rect">
            <a:avLst/>
          </a:prstGeom>
          <a:noFill/>
        </p:spPr>
        <p:txBody>
          <a:bodyPr wrap="square">
            <a:spAutoFit/>
          </a:bodyPr>
          <a:lstStyle/>
          <a:p>
            <a:pPr algn="l"/>
            <a:r>
              <a:rPr lang="en-US" sz="3200" b="1" i="0" dirty="0">
                <a:solidFill>
                  <a:srgbClr val="111827"/>
                </a:solidFill>
                <a:effectLst/>
                <a:highlight>
                  <a:srgbClr val="FFFFFF"/>
                </a:highlight>
                <a:latin typeface="Inter" panose="02000503000000020004" pitchFamily="2" charset="0"/>
              </a:rPr>
              <a:t>Factors Affecting Time Complexity in DSA</a:t>
            </a:r>
          </a:p>
        </p:txBody>
      </p:sp>
      <p:sp>
        <p:nvSpPr>
          <p:cNvPr id="5" name="TextBox 4">
            <a:extLst>
              <a:ext uri="{FF2B5EF4-FFF2-40B4-BE49-F238E27FC236}">
                <a16:creationId xmlns:a16="http://schemas.microsoft.com/office/drawing/2014/main" id="{618E639D-6DD9-4186-997B-70F94D5B5DE9}"/>
              </a:ext>
            </a:extLst>
          </p:cNvPr>
          <p:cNvSpPr txBox="1"/>
          <p:nvPr/>
        </p:nvSpPr>
        <p:spPr>
          <a:xfrm>
            <a:off x="318653" y="972327"/>
            <a:ext cx="11402291" cy="1200329"/>
          </a:xfrm>
          <a:prstGeom prst="rect">
            <a:avLst/>
          </a:prstGeom>
          <a:noFill/>
        </p:spPr>
        <p:txBody>
          <a:bodyPr wrap="square">
            <a:spAutoFit/>
          </a:bodyPr>
          <a:lstStyle/>
          <a:p>
            <a:pPr algn="l" rtl="0"/>
            <a:r>
              <a:rPr lang="en-US" sz="2400" b="1" i="0" dirty="0">
                <a:solidFill>
                  <a:srgbClr val="4B5563"/>
                </a:solidFill>
                <a:effectLst/>
                <a:highlight>
                  <a:srgbClr val="FFFFFF"/>
                </a:highlight>
                <a:latin typeface="Inter" panose="02000503000000020004" pitchFamily="2" charset="0"/>
              </a:rPr>
              <a:t>1. Algorithmic Strategy</a:t>
            </a:r>
          </a:p>
          <a:p>
            <a:pPr algn="l" rtl="0"/>
            <a:r>
              <a:rPr lang="en-US" sz="2400" b="0" i="0" dirty="0">
                <a:solidFill>
                  <a:srgbClr val="666666"/>
                </a:solidFill>
                <a:effectLst/>
                <a:highlight>
                  <a:srgbClr val="FFFFFF"/>
                </a:highlight>
                <a:latin typeface="Inter" panose="02000503000000020004" pitchFamily="2" charset="0"/>
              </a:rPr>
              <a:t>The design and strategy of the algorithm significantly impact its time complexity. Different approaches can vary widely in efficiency:</a:t>
            </a:r>
          </a:p>
        </p:txBody>
      </p:sp>
      <p:sp>
        <p:nvSpPr>
          <p:cNvPr id="7" name="TextBox 6">
            <a:extLst>
              <a:ext uri="{FF2B5EF4-FFF2-40B4-BE49-F238E27FC236}">
                <a16:creationId xmlns:a16="http://schemas.microsoft.com/office/drawing/2014/main" id="{2E1316A1-2965-3083-CD2C-9279C10B89C4}"/>
              </a:ext>
            </a:extLst>
          </p:cNvPr>
          <p:cNvSpPr txBox="1"/>
          <p:nvPr/>
        </p:nvSpPr>
        <p:spPr>
          <a:xfrm>
            <a:off x="394854" y="2469353"/>
            <a:ext cx="11402291" cy="3416320"/>
          </a:xfrm>
          <a:prstGeom prst="rect">
            <a:avLst/>
          </a:prstGeom>
          <a:noFill/>
        </p:spPr>
        <p:txBody>
          <a:bodyPr wrap="square">
            <a:spAutoFit/>
          </a:bodyPr>
          <a:lstStyle/>
          <a:p>
            <a:pPr algn="l" rtl="0"/>
            <a:r>
              <a:rPr lang="en-US" b="1" i="0" dirty="0">
                <a:solidFill>
                  <a:srgbClr val="4B5563"/>
                </a:solidFill>
                <a:effectLst/>
                <a:highlight>
                  <a:srgbClr val="FFFFFF"/>
                </a:highlight>
                <a:latin typeface="Inter" panose="02000503000000020004" pitchFamily="2" charset="0"/>
              </a:rPr>
              <a:t>2. </a:t>
            </a:r>
            <a:r>
              <a:rPr lang="en-US" sz="2400" b="1" i="0" dirty="0">
                <a:solidFill>
                  <a:srgbClr val="4B5563"/>
                </a:solidFill>
                <a:effectLst/>
                <a:highlight>
                  <a:srgbClr val="FFFFFF"/>
                </a:highlight>
                <a:latin typeface="Inter" panose="02000503000000020004" pitchFamily="2" charset="0"/>
              </a:rPr>
              <a:t>Input Size</a:t>
            </a:r>
          </a:p>
          <a:p>
            <a:pPr algn="l" rtl="0"/>
            <a:r>
              <a:rPr lang="en-US" sz="2400" b="0" i="0" dirty="0">
                <a:solidFill>
                  <a:srgbClr val="666666"/>
                </a:solidFill>
                <a:effectLst/>
                <a:highlight>
                  <a:srgbClr val="FFFFFF"/>
                </a:highlight>
                <a:latin typeface="Inter" panose="02000503000000020004" pitchFamily="2" charset="0"/>
              </a:rPr>
              <a:t>The number of inputs to an algorithm is the most direct factor affecting its time complexity.</a:t>
            </a:r>
          </a:p>
          <a:p>
            <a:pPr algn="l" rtl="0"/>
            <a:r>
              <a:rPr lang="en-US" sz="2400" b="0" i="0" dirty="0">
                <a:solidFill>
                  <a:srgbClr val="666666"/>
                </a:solidFill>
                <a:effectLst/>
                <a:highlight>
                  <a:srgbClr val="FFFFFF"/>
                </a:highlight>
                <a:latin typeface="Inter" panose="02000503000000020004" pitchFamily="2" charset="0"/>
              </a:rPr>
              <a:t>Larger data sets increase the number of operations an algorithm must perform, which can linearly or exponentially increase the required computational time, depending on the algorithm.</a:t>
            </a:r>
          </a:p>
          <a:p>
            <a:pPr algn="l" rtl="0"/>
            <a:r>
              <a:rPr lang="en-US" sz="2400" b="1" i="0" dirty="0">
                <a:solidFill>
                  <a:srgbClr val="4B5563"/>
                </a:solidFill>
                <a:effectLst/>
                <a:highlight>
                  <a:srgbClr val="FFFFFF"/>
                </a:highlight>
                <a:latin typeface="Inter" panose="02000503000000020004" pitchFamily="2" charset="0"/>
              </a:rPr>
              <a:t>3. Data Structure Used</a:t>
            </a:r>
          </a:p>
          <a:p>
            <a:pPr algn="l" rtl="0"/>
            <a:r>
              <a:rPr lang="en-US" sz="2400" b="0" i="0" dirty="0">
                <a:solidFill>
                  <a:srgbClr val="666666"/>
                </a:solidFill>
                <a:effectLst/>
                <a:highlight>
                  <a:srgbClr val="FFFFFF"/>
                </a:highlight>
                <a:latin typeface="Inter" panose="02000503000000020004" pitchFamily="2" charset="0"/>
              </a:rPr>
              <a:t>The choice of data structure affects how data can be accessed and manipulated, which in turn affects the algorithm's performance.</a:t>
            </a:r>
          </a:p>
        </p:txBody>
      </p:sp>
    </p:spTree>
    <p:extLst>
      <p:ext uri="{BB962C8B-B14F-4D97-AF65-F5344CB8AC3E}">
        <p14:creationId xmlns:p14="http://schemas.microsoft.com/office/powerpoint/2010/main" val="42377550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E9738D-12B1-FEE3-3453-9678A810C6D1}"/>
              </a:ext>
            </a:extLst>
          </p:cNvPr>
          <p:cNvSpPr txBox="1"/>
          <p:nvPr/>
        </p:nvSpPr>
        <p:spPr>
          <a:xfrm>
            <a:off x="221670" y="1623858"/>
            <a:ext cx="11554696" cy="2862322"/>
          </a:xfrm>
          <a:prstGeom prst="rect">
            <a:avLst/>
          </a:prstGeom>
          <a:noFill/>
        </p:spPr>
        <p:txBody>
          <a:bodyPr wrap="square">
            <a:spAutoFit/>
          </a:bodyPr>
          <a:lstStyle/>
          <a:p>
            <a:pPr algn="l" rtl="0">
              <a:buFont typeface="Arial" panose="020B0604020202020204" pitchFamily="34" charset="0"/>
              <a:buChar char="•"/>
            </a:pPr>
            <a:r>
              <a:rPr lang="en-US" sz="2400" b="1" i="0" u="none" strike="noStrike" dirty="0">
                <a:solidFill>
                  <a:srgbClr val="1E88E5"/>
                </a:solidFill>
                <a:effectLst/>
                <a:highlight>
                  <a:srgbClr val="FFFFFF"/>
                </a:highlight>
                <a:latin typeface="Inter" panose="02000503000000020004" pitchFamily="2" charset="0"/>
                <a:hlinkClick r:id="rId2"/>
              </a:rPr>
              <a:t>Arrays</a:t>
            </a:r>
            <a:r>
              <a:rPr lang="en-US" sz="2400" b="0" i="0" dirty="0">
                <a:solidFill>
                  <a:srgbClr val="374151"/>
                </a:solidFill>
                <a:effectLst/>
                <a:highlight>
                  <a:srgbClr val="FFFFFF"/>
                </a:highlight>
                <a:latin typeface="Inter" panose="02000503000000020004" pitchFamily="2" charset="0"/>
              </a:rPr>
              <a:t> </a:t>
            </a:r>
            <a:r>
              <a:rPr lang="en-US" sz="2400" b="0" i="0" dirty="0">
                <a:solidFill>
                  <a:srgbClr val="6B7280"/>
                </a:solidFill>
                <a:effectLst/>
                <a:highlight>
                  <a:srgbClr val="FFFFFF"/>
                </a:highlight>
                <a:latin typeface="Inter" panose="02000503000000020004" pitchFamily="2" charset="0"/>
              </a:rPr>
              <a:t>allow random access, which can be very efficient for lookup operations but may slow down operations that involve insertion or deletion.</a:t>
            </a:r>
          </a:p>
          <a:p>
            <a:pPr algn="l" rtl="0">
              <a:buFont typeface="Arial" panose="020B0604020202020204" pitchFamily="34" charset="0"/>
              <a:buChar char="•"/>
            </a:pPr>
            <a:r>
              <a:rPr lang="en-US" sz="2400" b="1" i="0" u="none" strike="noStrike" dirty="0">
                <a:solidFill>
                  <a:srgbClr val="1E88E5"/>
                </a:solidFill>
                <a:effectLst/>
                <a:highlight>
                  <a:srgbClr val="FFFFFF"/>
                </a:highlight>
                <a:latin typeface="Inter" panose="02000503000000020004" pitchFamily="2" charset="0"/>
                <a:hlinkClick r:id="rId3"/>
              </a:rPr>
              <a:t>Linked Lists</a:t>
            </a:r>
            <a:r>
              <a:rPr lang="en-US" sz="2400" b="0" i="0" dirty="0">
                <a:solidFill>
                  <a:srgbClr val="374151"/>
                </a:solidFill>
                <a:effectLst/>
                <a:highlight>
                  <a:srgbClr val="FFFFFF"/>
                </a:highlight>
                <a:latin typeface="Inter" panose="02000503000000020004" pitchFamily="2" charset="0"/>
              </a:rPr>
              <a:t> </a:t>
            </a:r>
            <a:r>
              <a:rPr lang="en-US" sz="2400" b="0" i="0" dirty="0">
                <a:solidFill>
                  <a:srgbClr val="6B7280"/>
                </a:solidFill>
                <a:effectLst/>
                <a:highlight>
                  <a:srgbClr val="FFFFFF"/>
                </a:highlight>
                <a:latin typeface="Inter" panose="02000503000000020004" pitchFamily="2" charset="0"/>
              </a:rPr>
              <a:t>excel in scenarios where frequent insertions and deletions are necessary, as they can perform these operations more efficiently than array-based structures.</a:t>
            </a:r>
          </a:p>
          <a:p>
            <a:pPr algn="l">
              <a:buFont typeface="Arial" panose="020B0604020202020204" pitchFamily="34" charset="0"/>
              <a:buChar char="•"/>
            </a:pPr>
            <a:r>
              <a:rPr lang="en-US" sz="2400" b="1" i="0" u="none" strike="noStrike" dirty="0">
                <a:solidFill>
                  <a:srgbClr val="1E88E5"/>
                </a:solidFill>
                <a:effectLst/>
                <a:highlight>
                  <a:srgbClr val="FFFFFF"/>
                </a:highlight>
                <a:latin typeface="Inter" panose="02000503000000020004" pitchFamily="2" charset="0"/>
                <a:hlinkClick r:id="rId4"/>
              </a:rPr>
              <a:t>Hash Tables</a:t>
            </a:r>
            <a:r>
              <a:rPr lang="en-US" sz="2400" b="0" i="0" dirty="0">
                <a:solidFill>
                  <a:srgbClr val="374151"/>
                </a:solidFill>
                <a:effectLst/>
                <a:highlight>
                  <a:srgbClr val="FFFFFF"/>
                </a:highlight>
                <a:latin typeface="Inter" panose="02000503000000020004" pitchFamily="2" charset="0"/>
              </a:rPr>
              <a:t> provide average-case constant time complexity for access, insert, and delete operations, making them extremely efficient for operations that require frequent searches.</a:t>
            </a:r>
          </a:p>
          <a:p>
            <a:pPr algn="l"/>
            <a:br>
              <a:rPr lang="en-US" b="0" i="0" dirty="0">
                <a:solidFill>
                  <a:srgbClr val="212529"/>
                </a:solidFill>
                <a:effectLst/>
                <a:highlight>
                  <a:srgbClr val="FFFFFF"/>
                </a:highlight>
                <a:latin typeface="Inter" panose="02000503000000020004" pitchFamily="2" charset="0"/>
              </a:rPr>
            </a:br>
            <a:endParaRPr lang="en-US" b="0" i="0" dirty="0">
              <a:solidFill>
                <a:srgbClr val="212529"/>
              </a:solidFill>
              <a:effectLst/>
              <a:highlight>
                <a:srgbClr val="FFFFFF"/>
              </a:highlight>
              <a:latin typeface="Inter" panose="02000503000000020004" pitchFamily="2" charset="0"/>
            </a:endParaRPr>
          </a:p>
        </p:txBody>
      </p:sp>
    </p:spTree>
    <p:extLst>
      <p:ext uri="{BB962C8B-B14F-4D97-AF65-F5344CB8AC3E}">
        <p14:creationId xmlns:p14="http://schemas.microsoft.com/office/powerpoint/2010/main" val="32283751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E6C78D-3BC4-D1F9-FC44-ECE79A768AEB}"/>
              </a:ext>
            </a:extLst>
          </p:cNvPr>
          <p:cNvSpPr txBox="1"/>
          <p:nvPr/>
        </p:nvSpPr>
        <p:spPr>
          <a:xfrm>
            <a:off x="311727" y="1330037"/>
            <a:ext cx="11568545" cy="5262979"/>
          </a:xfrm>
          <a:prstGeom prst="rect">
            <a:avLst/>
          </a:prstGeom>
          <a:noFill/>
        </p:spPr>
        <p:txBody>
          <a:bodyPr wrap="square">
            <a:spAutoFit/>
          </a:bodyPr>
          <a:lstStyle/>
          <a:p>
            <a:pPr algn="just" rtl="0"/>
            <a:r>
              <a:rPr lang="en-US" b="1" i="0" dirty="0">
                <a:solidFill>
                  <a:srgbClr val="4B5563"/>
                </a:solidFill>
                <a:effectLst/>
                <a:highlight>
                  <a:srgbClr val="FFFFFF"/>
                </a:highlight>
                <a:latin typeface="Inter" panose="02000503000000020004" pitchFamily="2" charset="0"/>
              </a:rPr>
              <a:t>1</a:t>
            </a:r>
            <a:r>
              <a:rPr lang="en-US" sz="2800" b="1" i="0" dirty="0">
                <a:solidFill>
                  <a:srgbClr val="4B5563"/>
                </a:solidFill>
                <a:effectLst/>
                <a:highlight>
                  <a:srgbClr val="FFFFFF"/>
                </a:highlight>
                <a:latin typeface="Inter" panose="02000503000000020004" pitchFamily="2" charset="0"/>
              </a:rPr>
              <a:t>. Best Case Complexity</a:t>
            </a:r>
          </a:p>
          <a:p>
            <a:pPr algn="just" rtl="0"/>
            <a:r>
              <a:rPr lang="en-US" sz="2800" b="0" i="0" dirty="0">
                <a:solidFill>
                  <a:srgbClr val="666666"/>
                </a:solidFill>
                <a:effectLst/>
                <a:highlight>
                  <a:srgbClr val="FFFFFF"/>
                </a:highlight>
                <a:latin typeface="Inter" panose="02000503000000020004" pitchFamily="2" charset="0"/>
              </a:rPr>
              <a:t>The Best Case Complexity of an algorithm is the scenario where the algorithm performs the minimum possible number of steps on an input. This complexity measures the algorithm’s behavior under the most favorable conditions.</a:t>
            </a:r>
          </a:p>
          <a:p>
            <a:pPr algn="just" rtl="0"/>
            <a:endParaRPr lang="en-US" sz="2800" b="1" i="0" dirty="0">
              <a:solidFill>
                <a:srgbClr val="666666"/>
              </a:solidFill>
              <a:effectLst/>
              <a:highlight>
                <a:srgbClr val="FFFFFF"/>
              </a:highlight>
              <a:latin typeface="Inter" panose="02000503000000020004" pitchFamily="2" charset="0"/>
            </a:endParaRPr>
          </a:p>
          <a:p>
            <a:pPr algn="just" rtl="0"/>
            <a:r>
              <a:rPr lang="en-US" sz="2800" b="1" i="0" dirty="0">
                <a:solidFill>
                  <a:srgbClr val="666666"/>
                </a:solidFill>
                <a:effectLst/>
                <a:highlight>
                  <a:srgbClr val="FFFFFF"/>
                </a:highlight>
                <a:latin typeface="Inter" panose="02000503000000020004" pitchFamily="2" charset="0"/>
              </a:rPr>
              <a:t>Example:</a:t>
            </a:r>
            <a:r>
              <a:rPr lang="en-US" sz="2800" b="0" i="0" dirty="0">
                <a:solidFill>
                  <a:srgbClr val="374151"/>
                </a:solidFill>
                <a:effectLst/>
                <a:highlight>
                  <a:srgbClr val="FFFFFF"/>
                </a:highlight>
                <a:latin typeface="Inter" panose="02000503000000020004" pitchFamily="2" charset="0"/>
              </a:rPr>
              <a:t> </a:t>
            </a:r>
            <a:r>
              <a:rPr lang="en-US" sz="2800" b="0" i="0" dirty="0">
                <a:solidFill>
                  <a:srgbClr val="666666"/>
                </a:solidFill>
                <a:effectLst/>
                <a:highlight>
                  <a:srgbClr val="FFFFFF"/>
                </a:highlight>
                <a:latin typeface="Inter" panose="02000503000000020004" pitchFamily="2" charset="0"/>
              </a:rPr>
              <a:t>Let’s take the example of the Bubble Sort algorithm. If the input array is already sorted, that's the best case for</a:t>
            </a:r>
            <a:r>
              <a:rPr lang="en-US" sz="2800" b="1" i="0" dirty="0">
                <a:solidFill>
                  <a:srgbClr val="666666"/>
                </a:solidFill>
                <a:effectLst/>
                <a:highlight>
                  <a:srgbClr val="FFFFFF"/>
                </a:highlight>
                <a:latin typeface="Inter" panose="02000503000000020004" pitchFamily="2" charset="0"/>
              </a:rPr>
              <a:t> </a:t>
            </a:r>
            <a:r>
              <a:rPr lang="en-US" sz="2800" b="0" i="0" u="none" strike="noStrike" dirty="0">
                <a:solidFill>
                  <a:srgbClr val="194CFF"/>
                </a:solidFill>
                <a:effectLst/>
                <a:highlight>
                  <a:srgbClr val="FFFFFF"/>
                </a:highlight>
                <a:latin typeface="Inter" panose="02000503000000020004" pitchFamily="2" charset="0"/>
                <a:hlinkClick r:id="rId2"/>
              </a:rPr>
              <a:t>Bubble Sort</a:t>
            </a:r>
            <a:r>
              <a:rPr lang="en-US" sz="2800" b="1" i="0" dirty="0">
                <a:solidFill>
                  <a:srgbClr val="666666"/>
                </a:solidFill>
                <a:effectLst/>
                <a:highlight>
                  <a:srgbClr val="FFFFFF"/>
                </a:highlight>
                <a:latin typeface="Inter" panose="02000503000000020004" pitchFamily="2" charset="0"/>
              </a:rPr>
              <a:t>.</a:t>
            </a:r>
            <a:r>
              <a:rPr lang="en-US" sz="2800" b="0" i="0" dirty="0">
                <a:solidFill>
                  <a:srgbClr val="666666"/>
                </a:solidFill>
                <a:effectLst/>
                <a:highlight>
                  <a:srgbClr val="FFFFFF"/>
                </a:highlight>
                <a:latin typeface="Inter" panose="02000503000000020004" pitchFamily="2" charset="0"/>
              </a:rPr>
              <a:t> In this scenario, the algorithm only needs to pass through the array once to check for swaps, making the best-case time complexity O(n), where n is the number of elements in the array.</a:t>
            </a:r>
          </a:p>
          <a:p>
            <a:pPr algn="just" rtl="0"/>
            <a:r>
              <a:rPr lang="en-US" sz="2800" b="0" i="0" dirty="0">
                <a:solidFill>
                  <a:srgbClr val="666666"/>
                </a:solidFill>
                <a:effectLst/>
                <a:highlight>
                  <a:srgbClr val="FFFFFF"/>
                </a:highlight>
                <a:latin typeface="Inter" panose="02000503000000020004" pitchFamily="2" charset="0"/>
              </a:rPr>
              <a:t>The table below represents the best time complexity of data structures for various operations:</a:t>
            </a:r>
          </a:p>
        </p:txBody>
      </p:sp>
      <p:sp>
        <p:nvSpPr>
          <p:cNvPr id="5" name="TextBox 4">
            <a:extLst>
              <a:ext uri="{FF2B5EF4-FFF2-40B4-BE49-F238E27FC236}">
                <a16:creationId xmlns:a16="http://schemas.microsoft.com/office/drawing/2014/main" id="{5CC30419-C942-F213-CD12-51C651EE1E2B}"/>
              </a:ext>
            </a:extLst>
          </p:cNvPr>
          <p:cNvSpPr txBox="1"/>
          <p:nvPr/>
        </p:nvSpPr>
        <p:spPr>
          <a:xfrm>
            <a:off x="3449782" y="188039"/>
            <a:ext cx="8035636" cy="1015663"/>
          </a:xfrm>
          <a:prstGeom prst="rect">
            <a:avLst/>
          </a:prstGeom>
          <a:noFill/>
        </p:spPr>
        <p:txBody>
          <a:bodyPr wrap="square">
            <a:spAutoFit/>
          </a:bodyPr>
          <a:lstStyle/>
          <a:p>
            <a:pPr algn="l"/>
            <a:r>
              <a:rPr lang="en-US" sz="2400" b="1" i="0" dirty="0">
                <a:solidFill>
                  <a:srgbClr val="111827"/>
                </a:solidFill>
                <a:effectLst/>
                <a:highlight>
                  <a:srgbClr val="FFFFFF"/>
                </a:highlight>
                <a:latin typeface="Inter" panose="02000503000000020004" pitchFamily="2" charset="0"/>
              </a:rPr>
              <a:t>Time Complexity of All Data Structures</a:t>
            </a:r>
          </a:p>
          <a:p>
            <a:pPr algn="l"/>
            <a:br>
              <a:rPr lang="en-US" b="0" i="0" dirty="0">
                <a:solidFill>
                  <a:srgbClr val="212529"/>
                </a:solidFill>
                <a:effectLst/>
                <a:highlight>
                  <a:srgbClr val="FFFFFF"/>
                </a:highlight>
                <a:latin typeface="Inter" panose="02000503000000020004" pitchFamily="2" charset="0"/>
              </a:rPr>
            </a:br>
            <a:endParaRPr lang="en-US" b="0" i="0" dirty="0">
              <a:solidFill>
                <a:srgbClr val="212529"/>
              </a:solidFill>
              <a:effectLst/>
              <a:highlight>
                <a:srgbClr val="FFFFFF"/>
              </a:highlight>
              <a:latin typeface="Inter" panose="02000503000000020004" pitchFamily="2" charset="0"/>
            </a:endParaRPr>
          </a:p>
        </p:txBody>
      </p:sp>
    </p:spTree>
    <p:extLst>
      <p:ext uri="{BB962C8B-B14F-4D97-AF65-F5344CB8AC3E}">
        <p14:creationId xmlns:p14="http://schemas.microsoft.com/office/powerpoint/2010/main" val="24535759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76EAF577-41C6-BE59-0782-5AD01B87E9EB}"/>
              </a:ext>
            </a:extLst>
          </p:cNvPr>
          <p:cNvPicPr>
            <a:picLocks noChangeAspect="1"/>
          </p:cNvPicPr>
          <p:nvPr/>
        </p:nvPicPr>
        <p:blipFill>
          <a:blip r:embed="rId2"/>
          <a:stretch>
            <a:fillRect/>
          </a:stretch>
        </p:blipFill>
        <p:spPr>
          <a:xfrm>
            <a:off x="323440" y="637130"/>
            <a:ext cx="6506189" cy="5607882"/>
          </a:xfrm>
          <a:prstGeom prst="rect">
            <a:avLst/>
          </a:prstGeom>
        </p:spPr>
      </p:pic>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9348A6-AD50-4B7C-50DE-4894F8FA126C}"/>
              </a:ext>
            </a:extLst>
          </p:cNvPr>
          <p:cNvSpPr txBox="1"/>
          <p:nvPr/>
        </p:nvSpPr>
        <p:spPr>
          <a:xfrm>
            <a:off x="8052497" y="1056640"/>
            <a:ext cx="3197660" cy="3125746"/>
          </a:xfrm>
          <a:prstGeom prst="rect">
            <a:avLst/>
          </a:prstGeom>
        </p:spPr>
        <p:txBody>
          <a:bodyPr vert="horz" lIns="91440" tIns="45720" rIns="91440" bIns="45720" rtlCol="0" anchor="b">
            <a:normAutofit fontScale="92500" lnSpcReduction="10000"/>
          </a:bodyPr>
          <a:lstStyle/>
          <a:p>
            <a:pPr>
              <a:lnSpc>
                <a:spcPct val="90000"/>
              </a:lnSpc>
              <a:spcBef>
                <a:spcPct val="0"/>
              </a:spcBef>
              <a:spcAft>
                <a:spcPts val="600"/>
              </a:spcAft>
            </a:pPr>
            <a:r>
              <a:rPr lang="en-US" sz="3400" b="1" i="0" kern="1200" dirty="0">
                <a:solidFill>
                  <a:schemeClr val="tx1"/>
                </a:solidFill>
                <a:effectLst/>
                <a:highlight>
                  <a:srgbClr val="FFFFFF"/>
                </a:highlight>
                <a:latin typeface="+mj-lt"/>
                <a:ea typeface="+mj-ea"/>
                <a:cs typeface="+mj-cs"/>
              </a:rPr>
              <a:t>Time Complexity of All Data Structures</a:t>
            </a:r>
          </a:p>
          <a:p>
            <a:pPr>
              <a:lnSpc>
                <a:spcPct val="90000"/>
              </a:lnSpc>
              <a:spcBef>
                <a:spcPct val="0"/>
              </a:spcBef>
              <a:spcAft>
                <a:spcPts val="600"/>
              </a:spcAft>
            </a:pPr>
            <a:r>
              <a:rPr lang="en-US" sz="3400" b="1" i="0" kern="1200" dirty="0">
                <a:solidFill>
                  <a:schemeClr val="tx1"/>
                </a:solidFill>
                <a:effectLst/>
                <a:highlight>
                  <a:srgbClr val="FFFFFF"/>
                </a:highlight>
                <a:latin typeface="+mj-lt"/>
                <a:ea typeface="+mj-ea"/>
                <a:cs typeface="+mj-cs"/>
              </a:rPr>
              <a:t>Best Case Complexity</a:t>
            </a:r>
          </a:p>
          <a:p>
            <a:pPr>
              <a:lnSpc>
                <a:spcPct val="90000"/>
              </a:lnSpc>
              <a:spcBef>
                <a:spcPct val="0"/>
              </a:spcBef>
              <a:spcAft>
                <a:spcPts val="600"/>
              </a:spcAft>
            </a:pPr>
            <a:br>
              <a:rPr lang="en-US" sz="3400" b="0" i="0" kern="1200" dirty="0">
                <a:solidFill>
                  <a:schemeClr val="tx1"/>
                </a:solidFill>
                <a:effectLst/>
                <a:highlight>
                  <a:srgbClr val="FFFFFF"/>
                </a:highlight>
                <a:latin typeface="+mj-lt"/>
                <a:ea typeface="+mj-ea"/>
                <a:cs typeface="+mj-cs"/>
              </a:rPr>
            </a:br>
            <a:endParaRPr lang="en-US" sz="3400" b="0" i="0" kern="1200" dirty="0">
              <a:solidFill>
                <a:schemeClr val="tx1"/>
              </a:solidFill>
              <a:effectLst/>
              <a:highlight>
                <a:srgbClr val="FFFFFF"/>
              </a:highlight>
              <a:latin typeface="+mj-lt"/>
              <a:ea typeface="+mj-ea"/>
              <a:cs typeface="+mj-cs"/>
            </a:endParaRPr>
          </a:p>
        </p:txBody>
      </p:sp>
    </p:spTree>
    <p:extLst>
      <p:ext uri="{BB962C8B-B14F-4D97-AF65-F5344CB8AC3E}">
        <p14:creationId xmlns:p14="http://schemas.microsoft.com/office/powerpoint/2010/main" val="37884316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D97F3-AA68-D5A6-6D93-8544614A5B61}"/>
              </a:ext>
            </a:extLst>
          </p:cNvPr>
          <p:cNvSpPr txBox="1"/>
          <p:nvPr/>
        </p:nvSpPr>
        <p:spPr>
          <a:xfrm>
            <a:off x="277090" y="460123"/>
            <a:ext cx="11568545" cy="5262979"/>
          </a:xfrm>
          <a:prstGeom prst="rect">
            <a:avLst/>
          </a:prstGeom>
          <a:noFill/>
        </p:spPr>
        <p:txBody>
          <a:bodyPr wrap="square">
            <a:spAutoFit/>
          </a:bodyPr>
          <a:lstStyle/>
          <a:p>
            <a:pPr algn="l" rtl="0"/>
            <a:r>
              <a:rPr lang="en-US" sz="2400" b="1" i="0" dirty="0">
                <a:solidFill>
                  <a:srgbClr val="4B5563"/>
                </a:solidFill>
                <a:effectLst/>
                <a:highlight>
                  <a:srgbClr val="FFFFFF"/>
                </a:highlight>
                <a:latin typeface="Inter" panose="02000503000000020004" pitchFamily="2" charset="0"/>
              </a:rPr>
              <a:t>2. Worst Case Complexity</a:t>
            </a:r>
          </a:p>
          <a:p>
            <a:pPr algn="l" rtl="0"/>
            <a:endParaRPr lang="en-US" sz="2400" b="1" i="0" dirty="0">
              <a:solidFill>
                <a:srgbClr val="4B5563"/>
              </a:solidFill>
              <a:effectLst/>
              <a:highlight>
                <a:srgbClr val="FFFFFF"/>
              </a:highlight>
              <a:latin typeface="Inter" panose="02000503000000020004" pitchFamily="2" charset="0"/>
            </a:endParaRPr>
          </a:p>
          <a:p>
            <a:pPr algn="l" rtl="0"/>
            <a:r>
              <a:rPr lang="en-US" sz="2400" b="0" i="0" dirty="0">
                <a:solidFill>
                  <a:srgbClr val="666666"/>
                </a:solidFill>
                <a:effectLst/>
                <a:highlight>
                  <a:srgbClr val="FFFFFF"/>
                </a:highlight>
                <a:latin typeface="Inter" panose="02000503000000020004" pitchFamily="2" charset="0"/>
              </a:rPr>
              <a:t>The Worst Case Complexity means the scenario where the algorithm performs the maximum number of steps on an input. This is a critical measure as it provides an upper bound on the runtime and guarantees that the algorithm will not exceed this time under any circumstances.</a:t>
            </a:r>
          </a:p>
          <a:p>
            <a:pPr algn="l" rtl="0"/>
            <a:endParaRPr lang="en-US" sz="2400" b="0" i="0" dirty="0">
              <a:solidFill>
                <a:srgbClr val="666666"/>
              </a:solidFill>
              <a:effectLst/>
              <a:highlight>
                <a:srgbClr val="FFFFFF"/>
              </a:highlight>
              <a:latin typeface="Inter" panose="02000503000000020004" pitchFamily="2" charset="0"/>
            </a:endParaRPr>
          </a:p>
          <a:p>
            <a:pPr algn="l" rtl="0"/>
            <a:r>
              <a:rPr lang="en-US" sz="2400" b="1" i="0" dirty="0">
                <a:solidFill>
                  <a:srgbClr val="666666"/>
                </a:solidFill>
                <a:effectLst/>
                <a:highlight>
                  <a:srgbClr val="FFFFFF"/>
                </a:highlight>
                <a:latin typeface="Inter" panose="02000503000000020004" pitchFamily="2" charset="0"/>
              </a:rPr>
              <a:t>Example:</a:t>
            </a:r>
            <a:r>
              <a:rPr lang="en-US" sz="2400" b="0" i="0" dirty="0">
                <a:solidFill>
                  <a:srgbClr val="374151"/>
                </a:solidFill>
                <a:effectLst/>
                <a:highlight>
                  <a:srgbClr val="FFFFFF"/>
                </a:highlight>
                <a:latin typeface="Inter" panose="02000503000000020004" pitchFamily="2" charset="0"/>
              </a:rPr>
              <a:t> </a:t>
            </a:r>
            <a:r>
              <a:rPr lang="en-US" sz="2400" b="0" i="0" dirty="0">
                <a:solidFill>
                  <a:srgbClr val="666666"/>
                </a:solidFill>
                <a:effectLst/>
                <a:highlight>
                  <a:srgbClr val="FFFFFF"/>
                </a:highlight>
                <a:latin typeface="Inter" panose="02000503000000020004" pitchFamily="2" charset="0"/>
              </a:rPr>
              <a:t>Continuing with the Bubble Sort example, the worst case occurs when the array is sorted in reverse order. In this situation, every possible swap will be made, which means the algorithm will make n-1 comparisons and swaps for each of the n elements in the array, leading to a time complexity of O(n²).</a:t>
            </a:r>
          </a:p>
          <a:p>
            <a:pPr algn="l" rtl="0"/>
            <a:endParaRPr lang="en-US" sz="2400" b="0" i="0" dirty="0">
              <a:solidFill>
                <a:srgbClr val="666666"/>
              </a:solidFill>
              <a:effectLst/>
              <a:highlight>
                <a:srgbClr val="FFFFFF"/>
              </a:highlight>
              <a:latin typeface="Inter" panose="02000503000000020004" pitchFamily="2" charset="0"/>
            </a:endParaRPr>
          </a:p>
          <a:p>
            <a:pPr algn="l" rtl="0"/>
            <a:r>
              <a:rPr lang="en-US" sz="2400" b="0" i="0" dirty="0">
                <a:solidFill>
                  <a:srgbClr val="666666"/>
                </a:solidFill>
                <a:effectLst/>
                <a:highlight>
                  <a:srgbClr val="FFFFFF"/>
                </a:highlight>
                <a:latin typeface="Inter" panose="02000503000000020004" pitchFamily="2" charset="0"/>
              </a:rPr>
              <a:t>The table below represents the worst-case time complexity of different data structures for various operations:</a:t>
            </a:r>
          </a:p>
        </p:txBody>
      </p:sp>
    </p:spTree>
    <p:extLst>
      <p:ext uri="{BB962C8B-B14F-4D97-AF65-F5344CB8AC3E}">
        <p14:creationId xmlns:p14="http://schemas.microsoft.com/office/powerpoint/2010/main" val="14121638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4360CC-406F-D8C0-1628-7A5439BB64C3}"/>
              </a:ext>
            </a:extLst>
          </p:cNvPr>
          <p:cNvPicPr>
            <a:picLocks noChangeAspect="1"/>
          </p:cNvPicPr>
          <p:nvPr/>
        </p:nvPicPr>
        <p:blipFill>
          <a:blip r:embed="rId2"/>
          <a:stretch>
            <a:fillRect/>
          </a:stretch>
        </p:blipFill>
        <p:spPr>
          <a:xfrm>
            <a:off x="1114352" y="484632"/>
            <a:ext cx="6086551" cy="5888737"/>
          </a:xfrm>
          <a:prstGeom prst="rect">
            <a:avLst/>
          </a:prstGeom>
        </p:spPr>
      </p:pic>
      <p:pic>
        <p:nvPicPr>
          <p:cNvPr id="4" name="Picture 3" descr="A white and blue rectangular object with black text&#10;&#10;Description automatically generated">
            <a:extLst>
              <a:ext uri="{FF2B5EF4-FFF2-40B4-BE49-F238E27FC236}">
                <a16:creationId xmlns:a16="http://schemas.microsoft.com/office/drawing/2014/main" id="{C8B90D97-D9D1-EAF7-F24E-277CE6C9BDEC}"/>
              </a:ext>
            </a:extLst>
          </p:cNvPr>
          <p:cNvPicPr>
            <a:picLocks noChangeAspect="1"/>
          </p:cNvPicPr>
          <p:nvPr/>
        </p:nvPicPr>
        <p:blipFill>
          <a:blip r:embed="rId3"/>
          <a:stretch>
            <a:fillRect/>
          </a:stretch>
        </p:blipFill>
        <p:spPr>
          <a:xfrm>
            <a:off x="7534655" y="561157"/>
            <a:ext cx="4172712" cy="5735687"/>
          </a:xfrm>
          <a:prstGeom prst="rect">
            <a:avLst/>
          </a:prstGeom>
        </p:spPr>
      </p:pic>
    </p:spTree>
    <p:extLst>
      <p:ext uri="{BB962C8B-B14F-4D97-AF65-F5344CB8AC3E}">
        <p14:creationId xmlns:p14="http://schemas.microsoft.com/office/powerpoint/2010/main" val="1827729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0E3B0C-6404-8412-9915-3A67ED50C3BC}"/>
              </a:ext>
            </a:extLst>
          </p:cNvPr>
          <p:cNvSpPr txBox="1"/>
          <p:nvPr/>
        </p:nvSpPr>
        <p:spPr>
          <a:xfrm>
            <a:off x="346364" y="626470"/>
            <a:ext cx="11236036" cy="5262979"/>
          </a:xfrm>
          <a:prstGeom prst="rect">
            <a:avLst/>
          </a:prstGeom>
          <a:noFill/>
        </p:spPr>
        <p:txBody>
          <a:bodyPr wrap="square">
            <a:spAutoFit/>
          </a:bodyPr>
          <a:lstStyle/>
          <a:p>
            <a:pPr algn="l" rtl="0"/>
            <a:r>
              <a:rPr lang="en-US" sz="2400" b="1" i="0" dirty="0">
                <a:solidFill>
                  <a:srgbClr val="4B5563"/>
                </a:solidFill>
                <a:effectLst/>
                <a:highlight>
                  <a:srgbClr val="FFFFFF"/>
                </a:highlight>
                <a:latin typeface="Inter" panose="02000503000000020004" pitchFamily="2" charset="0"/>
              </a:rPr>
              <a:t>3. Average Case Complexity</a:t>
            </a:r>
          </a:p>
          <a:p>
            <a:pPr algn="l" rtl="0"/>
            <a:r>
              <a:rPr lang="en-US" sz="2400" b="0" i="0" dirty="0">
                <a:solidFill>
                  <a:srgbClr val="666666"/>
                </a:solidFill>
                <a:effectLst/>
                <a:highlight>
                  <a:srgbClr val="FFFFFF"/>
                </a:highlight>
                <a:latin typeface="Inter" panose="02000503000000020004" pitchFamily="2" charset="0"/>
              </a:rPr>
              <a:t>The Average Case Complexity considers the algorithm's performance over all possible inputs of a given size. This complexity gives a more realistic measure of the algorithm's performance as it accounts for all scenarios that might occur, assuming all inputs are equally likely to happen.</a:t>
            </a:r>
          </a:p>
          <a:p>
            <a:pPr algn="l" rtl="0"/>
            <a:endParaRPr lang="en-US" sz="2400" b="0" i="0" dirty="0">
              <a:solidFill>
                <a:srgbClr val="666666"/>
              </a:solidFill>
              <a:effectLst/>
              <a:highlight>
                <a:srgbClr val="FFFFFF"/>
              </a:highlight>
              <a:latin typeface="Inter" panose="02000503000000020004" pitchFamily="2" charset="0"/>
            </a:endParaRPr>
          </a:p>
          <a:p>
            <a:pPr algn="l" rtl="0"/>
            <a:r>
              <a:rPr lang="en-US" sz="2400" b="1" i="0" dirty="0">
                <a:solidFill>
                  <a:srgbClr val="666666"/>
                </a:solidFill>
                <a:effectLst/>
                <a:highlight>
                  <a:srgbClr val="FFFFFF"/>
                </a:highlight>
                <a:latin typeface="Inter" panose="02000503000000020004" pitchFamily="2" charset="0"/>
              </a:rPr>
              <a:t>Example:</a:t>
            </a:r>
            <a:r>
              <a:rPr lang="en-US" sz="2400" b="0" i="0" dirty="0">
                <a:solidFill>
                  <a:srgbClr val="374151"/>
                </a:solidFill>
                <a:effectLst/>
                <a:highlight>
                  <a:srgbClr val="FFFFFF"/>
                </a:highlight>
                <a:latin typeface="Inter" panose="02000503000000020004" pitchFamily="2" charset="0"/>
              </a:rPr>
              <a:t> </a:t>
            </a:r>
            <a:r>
              <a:rPr lang="en-US" sz="2400" b="0" i="0" dirty="0">
                <a:solidFill>
                  <a:srgbClr val="666666"/>
                </a:solidFill>
                <a:effectLst/>
                <a:highlight>
                  <a:srgbClr val="FFFFFF"/>
                </a:highlight>
                <a:latin typeface="Inter" panose="02000503000000020004" pitchFamily="2" charset="0"/>
              </a:rPr>
              <a:t>For Bubble Sort, calculating the average case complexity involves considering the average number of comparisons and swaps needed when the inputs are randomly ordered. </a:t>
            </a:r>
          </a:p>
          <a:p>
            <a:pPr algn="l" rtl="0"/>
            <a:endParaRPr lang="en-US" sz="2400" b="0" i="0" dirty="0">
              <a:solidFill>
                <a:srgbClr val="666666"/>
              </a:solidFill>
              <a:effectLst/>
              <a:highlight>
                <a:srgbClr val="FFFFFF"/>
              </a:highlight>
              <a:latin typeface="Inter" panose="02000503000000020004" pitchFamily="2" charset="0"/>
            </a:endParaRPr>
          </a:p>
          <a:p>
            <a:pPr algn="l" rtl="0"/>
            <a:r>
              <a:rPr lang="en-US" sz="2400" b="0" i="0" dirty="0">
                <a:solidFill>
                  <a:srgbClr val="666666"/>
                </a:solidFill>
                <a:effectLst/>
                <a:highlight>
                  <a:srgbClr val="FFFFFF"/>
                </a:highlight>
                <a:latin typeface="Inter" panose="02000503000000020004" pitchFamily="2" charset="0"/>
              </a:rPr>
              <a:t>This results in a time complexity close to O(n²), similar to the worst case but often with slightly lower constants or lower-order terms.</a:t>
            </a:r>
          </a:p>
          <a:p>
            <a:pPr algn="l" rtl="0"/>
            <a:r>
              <a:rPr lang="en-US" sz="2400" b="0" i="0" dirty="0">
                <a:solidFill>
                  <a:srgbClr val="666666"/>
                </a:solidFill>
                <a:effectLst/>
                <a:highlight>
                  <a:srgbClr val="FFFFFF"/>
                </a:highlight>
                <a:latin typeface="Inter" panose="02000503000000020004" pitchFamily="2" charset="0"/>
              </a:rPr>
              <a:t>The table below presents the average time complexity of various operations across different data structures:</a:t>
            </a:r>
          </a:p>
        </p:txBody>
      </p:sp>
    </p:spTree>
    <p:extLst>
      <p:ext uri="{BB962C8B-B14F-4D97-AF65-F5344CB8AC3E}">
        <p14:creationId xmlns:p14="http://schemas.microsoft.com/office/powerpoint/2010/main" val="9923582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table of data structure&#10;&#10;Description automatically generated">
            <a:extLst>
              <a:ext uri="{FF2B5EF4-FFF2-40B4-BE49-F238E27FC236}">
                <a16:creationId xmlns:a16="http://schemas.microsoft.com/office/drawing/2014/main" id="{33A0F577-B055-86E0-E7AE-75E4D4812F98}"/>
              </a:ext>
            </a:extLst>
          </p:cNvPr>
          <p:cNvPicPr>
            <a:picLocks noChangeAspect="1"/>
          </p:cNvPicPr>
          <p:nvPr/>
        </p:nvPicPr>
        <p:blipFill>
          <a:blip r:embed="rId2"/>
          <a:stretch>
            <a:fillRect/>
          </a:stretch>
        </p:blipFill>
        <p:spPr>
          <a:xfrm>
            <a:off x="1130040" y="484632"/>
            <a:ext cx="6070863" cy="5888737"/>
          </a:xfrm>
          <a:prstGeom prst="rect">
            <a:avLst/>
          </a:prstGeom>
        </p:spPr>
      </p:pic>
      <p:pic>
        <p:nvPicPr>
          <p:cNvPr id="7" name="Picture 6" descr="A screen shot of a blue and white background&#10;&#10;Description automatically generated">
            <a:extLst>
              <a:ext uri="{FF2B5EF4-FFF2-40B4-BE49-F238E27FC236}">
                <a16:creationId xmlns:a16="http://schemas.microsoft.com/office/drawing/2014/main" id="{97EE59EC-9448-D27C-4D57-D098D906AC7C}"/>
              </a:ext>
            </a:extLst>
          </p:cNvPr>
          <p:cNvPicPr>
            <a:picLocks noChangeAspect="1"/>
          </p:cNvPicPr>
          <p:nvPr/>
        </p:nvPicPr>
        <p:blipFill>
          <a:blip r:embed="rId3"/>
          <a:stretch>
            <a:fillRect/>
          </a:stretch>
        </p:blipFill>
        <p:spPr>
          <a:xfrm>
            <a:off x="7534655" y="570978"/>
            <a:ext cx="4172712" cy="5716045"/>
          </a:xfrm>
          <a:prstGeom prst="rect">
            <a:avLst/>
          </a:prstGeom>
        </p:spPr>
      </p:pic>
    </p:spTree>
    <p:extLst>
      <p:ext uri="{BB962C8B-B14F-4D97-AF65-F5344CB8AC3E}">
        <p14:creationId xmlns:p14="http://schemas.microsoft.com/office/powerpoint/2010/main" val="23651692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table with text on it&#10;&#10;Description automatically generated">
            <a:extLst>
              <a:ext uri="{FF2B5EF4-FFF2-40B4-BE49-F238E27FC236}">
                <a16:creationId xmlns:a16="http://schemas.microsoft.com/office/drawing/2014/main" id="{047A2918-29DD-35DD-F6B8-51E48C60B576}"/>
              </a:ext>
            </a:extLst>
          </p:cNvPr>
          <p:cNvPicPr>
            <a:picLocks noChangeAspect="1"/>
          </p:cNvPicPr>
          <p:nvPr/>
        </p:nvPicPr>
        <p:blipFill>
          <a:blip r:embed="rId2"/>
          <a:stretch>
            <a:fillRect/>
          </a:stretch>
        </p:blipFill>
        <p:spPr>
          <a:xfrm>
            <a:off x="323440" y="107252"/>
            <a:ext cx="6589537" cy="5024522"/>
          </a:xfrm>
          <a:prstGeom prst="rect">
            <a:avLst/>
          </a:prstGeom>
        </p:spPr>
      </p:pic>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0A57BF6-CBA4-D67A-97FA-D76120C26924}"/>
              </a:ext>
            </a:extLst>
          </p:cNvPr>
          <p:cNvSpPr txBox="1"/>
          <p:nvPr/>
        </p:nvSpPr>
        <p:spPr>
          <a:xfrm>
            <a:off x="7633855" y="1056640"/>
            <a:ext cx="3616302" cy="312574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900" b="1" i="0" kern="1200" dirty="0">
                <a:solidFill>
                  <a:schemeClr val="tx1"/>
                </a:solidFill>
                <a:effectLst/>
                <a:highlight>
                  <a:srgbClr val="FFFFFF"/>
                </a:highlight>
                <a:latin typeface="+mj-lt"/>
                <a:ea typeface="+mj-ea"/>
                <a:cs typeface="+mj-cs"/>
              </a:rPr>
              <a:t>Time Complexity of Algorithms</a:t>
            </a:r>
          </a:p>
          <a:p>
            <a:pPr>
              <a:lnSpc>
                <a:spcPct val="90000"/>
              </a:lnSpc>
              <a:spcBef>
                <a:spcPct val="0"/>
              </a:spcBef>
              <a:spcAft>
                <a:spcPts val="600"/>
              </a:spcAft>
            </a:pPr>
            <a:r>
              <a:rPr lang="en-US" sz="2900" b="0" i="0" kern="1200" dirty="0">
                <a:solidFill>
                  <a:schemeClr val="tx1"/>
                </a:solidFill>
                <a:effectLst/>
                <a:highlight>
                  <a:srgbClr val="FFFFFF"/>
                </a:highlight>
                <a:latin typeface="+mj-lt"/>
                <a:ea typeface="+mj-ea"/>
                <a:cs typeface="+mj-cs"/>
              </a:rPr>
              <a:t>Now, let’s discuss the time complexity of different </a:t>
            </a:r>
            <a:r>
              <a:rPr lang="en-US" sz="2900" b="1" i="0" u="none" strike="noStrike" kern="1200" dirty="0">
                <a:solidFill>
                  <a:schemeClr val="tx1"/>
                </a:solidFill>
                <a:effectLst/>
                <a:highlight>
                  <a:srgbClr val="FFFFFF"/>
                </a:highlight>
                <a:latin typeface="+mj-lt"/>
                <a:ea typeface="+mj-ea"/>
                <a:cs typeface="+mj-cs"/>
                <a:hlinkClick r:id="rId3"/>
              </a:rPr>
              <a:t>algorithms</a:t>
            </a:r>
            <a:endParaRPr lang="en-US" sz="2900" b="1" i="0" u="none" strike="noStrike" kern="1200" dirty="0">
              <a:solidFill>
                <a:schemeClr val="tx1"/>
              </a:solidFill>
              <a:effectLst/>
              <a:highlight>
                <a:srgbClr val="FFFFFF"/>
              </a:highlight>
              <a:latin typeface="+mj-lt"/>
              <a:ea typeface="+mj-ea"/>
              <a:cs typeface="+mj-cs"/>
            </a:endParaRPr>
          </a:p>
          <a:p>
            <a:pPr>
              <a:lnSpc>
                <a:spcPct val="90000"/>
              </a:lnSpc>
              <a:spcBef>
                <a:spcPct val="0"/>
              </a:spcBef>
              <a:spcAft>
                <a:spcPts val="600"/>
              </a:spcAft>
            </a:pPr>
            <a:r>
              <a:rPr lang="en-US" sz="2900" b="0" i="0" kern="1200" dirty="0">
                <a:solidFill>
                  <a:schemeClr val="tx1"/>
                </a:solidFill>
                <a:effectLst/>
                <a:highlight>
                  <a:srgbClr val="FFFFFF"/>
                </a:highlight>
                <a:latin typeface="+mj-lt"/>
                <a:ea typeface="+mj-ea"/>
                <a:cs typeface="+mj-cs"/>
              </a:rPr>
              <a:t> used in DSA:</a:t>
            </a:r>
          </a:p>
        </p:txBody>
      </p:sp>
      <p:pic>
        <p:nvPicPr>
          <p:cNvPr id="8" name="Picture 7" descr="A grid of white squares with black letters&#10;&#10;Description automatically generated">
            <a:extLst>
              <a:ext uri="{FF2B5EF4-FFF2-40B4-BE49-F238E27FC236}">
                <a16:creationId xmlns:a16="http://schemas.microsoft.com/office/drawing/2014/main" id="{8DE23FF9-F9D1-EFA3-39CC-ABAC0A471512}"/>
              </a:ext>
            </a:extLst>
          </p:cNvPr>
          <p:cNvPicPr>
            <a:picLocks noChangeAspect="1"/>
          </p:cNvPicPr>
          <p:nvPr/>
        </p:nvPicPr>
        <p:blipFill>
          <a:blip r:embed="rId4"/>
          <a:stretch>
            <a:fillRect/>
          </a:stretch>
        </p:blipFill>
        <p:spPr>
          <a:xfrm>
            <a:off x="332888" y="5089125"/>
            <a:ext cx="6589537" cy="1754659"/>
          </a:xfrm>
          <a:prstGeom prst="rect">
            <a:avLst/>
          </a:prstGeom>
        </p:spPr>
      </p:pic>
    </p:spTree>
    <p:extLst>
      <p:ext uri="{BB962C8B-B14F-4D97-AF65-F5344CB8AC3E}">
        <p14:creationId xmlns:p14="http://schemas.microsoft.com/office/powerpoint/2010/main" val="14047745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0113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975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562</TotalTime>
  <Words>2424</Words>
  <Application>Microsoft Macintosh PowerPoint</Application>
  <PresentationFormat>Widescreen</PresentationFormat>
  <Paragraphs>193</Paragraphs>
  <Slides>70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SFMono-Regular</vt:lpstr>
      <vt:lpstr>Aptos</vt:lpstr>
      <vt:lpstr>Aptos Display</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2</cp:revision>
  <dcterms:created xsi:type="dcterms:W3CDTF">2025-09-18T15:05:25Z</dcterms:created>
  <dcterms:modified xsi:type="dcterms:W3CDTF">2025-09-19T00:28:12Z</dcterms:modified>
</cp:coreProperties>
</file>